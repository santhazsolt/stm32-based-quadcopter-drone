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2.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60" r:id="rId5"/>
    <p:sldId id="259" r:id="rId6"/>
    <p:sldId id="276" r:id="rId7"/>
    <p:sldId id="273" r:id="rId8"/>
    <p:sldId id="262" r:id="rId9"/>
    <p:sldId id="277" r:id="rId10"/>
    <p:sldId id="263" r:id="rId11"/>
    <p:sldId id="264" r:id="rId12"/>
    <p:sldId id="265" r:id="rId13"/>
    <p:sldId id="279" r:id="rId14"/>
    <p:sldId id="280" r:id="rId15"/>
    <p:sldId id="268" r:id="rId16"/>
    <p:sldId id="269" r:id="rId17"/>
    <p:sldId id="281" r:id="rId18"/>
    <p:sldId id="270" r:id="rId19"/>
    <p:sldId id="271" r:id="rId20"/>
    <p:sldId id="261" r:id="rId21"/>
    <p:sldId id="278" r:id="rId22"/>
    <p:sldId id="272" r:id="rId23"/>
    <p:sldId id="274" r:id="rId24"/>
    <p:sldId id="275"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3" autoAdjust="0"/>
    <p:restoredTop sz="83996" autoAdjust="0"/>
  </p:normalViewPr>
  <p:slideViewPr>
    <p:cSldViewPr snapToGrid="0" snapToObjects="1">
      <p:cViewPr>
        <p:scale>
          <a:sx n="100" d="100"/>
          <a:sy n="100" d="100"/>
        </p:scale>
        <p:origin x="-6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5165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is the design and implementation of a quadcopter whose flight-control firmware I built entirely from low-level embedded principles, rather than using a ready-made controller. I'll cover the motivation, the system, how I built and tested the control, and where it goes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we must grow much more food while climate stress makes yields less predictable. Precision agriculture tackles this with data, and drones are one of the most versatile tools — mobility, sensing and automation in one platform. That is the application that motivated the build.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firmware. The goal was to build the aircraft from components and write the whole control stack myself. On the left is what the thesis delivers; on the right is what I deliberately left for future work, so the scope is clear from the outset.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components. Four 2212 motors on 30-amp ESCs give about 3.2 kg of thrust against a 1.0–1.3 kg aircraft — enough margin for stable flight. The two parts that matter most for the firmware are the ICM-20948 IMU and the STM32F411 controller.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glance: the STM32 reads the IMU over SPI with DMA and the radio receiver over IBUS, runs the estimation and control loops, and drives the four motors through the ESCs with PWM. The LiPo powers the stack. Everything after this slide zooms into one of these blocks.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IMU is read over SPI. Rather than have the CPU shift every byte, I used DMA, which copies the sensor data into memory on its own. That keeps timing deterministic at 100 Hz and leaves the processor free for the estimation and control maths. The magnetometer sits behind an internal I2C-master interface, which I configure through the same chip.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needs orientation — the rotation between the Earth frame and the aircraft frame. No single sensor gives it cleanly: the gyroscope is smooth but drifts, the accelerometer gives absolute tilt but is noisy, and the magnetometer supplies heading but picks up interference. The accelerometer can't recover yaw at all, which is why the magnetometer is there.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sensor fusion with a complementary filter: trust the gyroscope for fast motion, and use the accelerometer and magnetometer to correct its slow drift — one weighting parameter, alpha, blends them. Orientation is stored as a quaternion rather than Euler angles, because Euler angles suffer gimbal lock at ninety degrees of pitch; quaternions avoid that entirely and are numerically stable.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Stabilisation is a closed PID loop: it compares the desired attitude with the estimated attitude and corrects continuously. P sets response speed, I removes steady-state error, D damps oscillation. Pilot commands come in over IBUS — all channels on one wire, each packet checksummed so corrupted frames are dropped.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validation I wrote a Python tool that receives the Euler angles over serial at 100 Hz and draws the aircraft's orientation live. On the left you can see the actual test — as I tilt the board by hand, the on-screen model tracks it in real time. This was my main diagnostic: it let me confirm the axes were mapped correctly, the filter was stable, and the data link was intact.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53227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candid earns credibility. This is the raw static-test data straight off the sensor. The accelerometer shows a small offset I calibrate out; the gyroscope sits near zero, as it should at rest; and the magnetometer shows a clear hard-iron offset from nearby metal, which biases yaw until it's calibrated. Note the accelerometer trace is in raw ADC counts, not g. The system limitations — no altitude hold or GPS yet, and the filter's sensitivity to sustained acceleration — map directly onto my future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66887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moved the circuit off the breadboard onto a soldered board. That makes it mechanically robust under vibration, compact, and flight-ready on the F450, while keeping the USB-C port accessible for reprogramming. [Drop your board photo into the slot.]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thesis delivers a working quadcopter with a fully custom control stack. The near-term road adds a barometer and GPS with return-to-home, taking it from manual to semi-autonomous. The longer-term vision adds a Raspberry Pi and camera for field mapping and crop-health analysis — turning the flight experiment into a genuine precision-agriculture tool.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Jegyzetek helye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02596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three boards. The F411 won because of the hardware floating-point unit and the rich timer and SPI peripherals — the quaternion maths and the control loop need floating point at 100 Hz, and software floating point on the others would have been tight.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7.png"/><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52C"/>
        </a:solidFill>
        <a:effectLst/>
      </p:bgPr>
    </p:bg>
    <p:spTree>
      <p:nvGrpSpPr>
        <p:cNvPr id="1" name=""/>
        <p:cNvGrpSpPr/>
        <p:nvPr/>
      </p:nvGrpSpPr>
      <p:grpSpPr>
        <a:xfrm>
          <a:off x="0" y="0"/>
          <a:ext cx="0" cy="0"/>
          <a:chOff x="0" y="0"/>
          <a:chExt cx="0" cy="0"/>
        </a:xfrm>
      </p:grpSpPr>
      <p:sp>
        <p:nvSpPr>
          <p:cNvPr id="3" name="Shape 1"/>
          <p:cNvSpPr/>
          <p:nvPr/>
        </p:nvSpPr>
        <p:spPr>
          <a:xfrm rot="16200000">
            <a:off x="8993124" y="2691765"/>
            <a:ext cx="2194560" cy="2194560"/>
          </a:xfrm>
          <a:prstGeom prst="line">
            <a:avLst/>
          </a:prstGeom>
          <a:noFill/>
          <a:ln w="76200">
            <a:solidFill>
              <a:srgbClr val="6E8F7E"/>
            </a:solidFill>
            <a:prstDash val="solid"/>
          </a:ln>
        </p:spPr>
      </p:sp>
      <p:sp>
        <p:nvSpPr>
          <p:cNvPr id="4" name="Shape 2"/>
          <p:cNvSpPr/>
          <p:nvPr/>
        </p:nvSpPr>
        <p:spPr>
          <a:xfrm rot="16200000" flipV="1">
            <a:off x="8993124" y="2691764"/>
            <a:ext cx="2194560" cy="2194561"/>
          </a:xfrm>
          <a:prstGeom prst="line">
            <a:avLst/>
          </a:prstGeom>
          <a:noFill/>
          <a:ln w="76200">
            <a:solidFill>
              <a:srgbClr val="6E8F7E"/>
            </a:solidFill>
            <a:prstDash val="solid"/>
          </a:ln>
        </p:spPr>
      </p:sp>
      <p:sp>
        <p:nvSpPr>
          <p:cNvPr id="5" name="Shape 3"/>
          <p:cNvSpPr/>
          <p:nvPr/>
        </p:nvSpPr>
        <p:spPr>
          <a:xfrm rot="16200000">
            <a:off x="10671048" y="4401402"/>
            <a:ext cx="1097280" cy="1097280"/>
          </a:xfrm>
          <a:prstGeom prst="ellipse">
            <a:avLst/>
          </a:prstGeom>
          <a:solidFill>
            <a:srgbClr val="FFFFFF">
              <a:alpha val="10000"/>
            </a:srgbClr>
          </a:solidFill>
          <a:ln w="38100">
            <a:solidFill>
              <a:srgbClr val="7FA98C"/>
            </a:solidFill>
            <a:prstDash val="solid"/>
          </a:ln>
        </p:spPr>
      </p:sp>
      <p:sp>
        <p:nvSpPr>
          <p:cNvPr id="6" name="Shape 4"/>
          <p:cNvSpPr/>
          <p:nvPr/>
        </p:nvSpPr>
        <p:spPr>
          <a:xfrm rot="16200000">
            <a:off x="8961120" y="2651760"/>
            <a:ext cx="91440" cy="91440"/>
          </a:xfrm>
          <a:prstGeom prst="ellipse">
            <a:avLst/>
          </a:prstGeom>
          <a:solidFill>
            <a:srgbClr val="6E8F7E"/>
          </a:solidFill>
          <a:ln/>
        </p:spPr>
      </p:sp>
      <p:sp>
        <p:nvSpPr>
          <p:cNvPr id="7" name="Shape 5"/>
          <p:cNvSpPr/>
          <p:nvPr/>
        </p:nvSpPr>
        <p:spPr>
          <a:xfrm rot="16200000">
            <a:off x="8458200" y="2148840"/>
            <a:ext cx="1097280" cy="1097280"/>
          </a:xfrm>
          <a:prstGeom prst="ellipse">
            <a:avLst/>
          </a:prstGeom>
          <a:solidFill>
            <a:srgbClr val="FFFFFF">
              <a:alpha val="10000"/>
            </a:srgbClr>
          </a:solidFill>
          <a:ln w="38100">
            <a:solidFill>
              <a:srgbClr val="E8B23A"/>
            </a:solidFill>
            <a:prstDash val="solid"/>
          </a:ln>
        </p:spPr>
      </p:sp>
      <p:sp>
        <p:nvSpPr>
          <p:cNvPr id="8" name="Shape 6"/>
          <p:cNvSpPr/>
          <p:nvPr/>
        </p:nvSpPr>
        <p:spPr>
          <a:xfrm rot="16200000">
            <a:off x="11155680" y="2651760"/>
            <a:ext cx="91440" cy="91440"/>
          </a:xfrm>
          <a:prstGeom prst="ellipse">
            <a:avLst/>
          </a:prstGeom>
          <a:solidFill>
            <a:srgbClr val="6E8F7E"/>
          </a:solidFill>
          <a:ln/>
        </p:spPr>
      </p:sp>
      <p:sp>
        <p:nvSpPr>
          <p:cNvPr id="9" name="Shape 7"/>
          <p:cNvSpPr/>
          <p:nvPr/>
        </p:nvSpPr>
        <p:spPr>
          <a:xfrm rot="16200000">
            <a:off x="8458200" y="4343400"/>
            <a:ext cx="1097280" cy="1097280"/>
          </a:xfrm>
          <a:prstGeom prst="ellipse">
            <a:avLst/>
          </a:prstGeom>
          <a:solidFill>
            <a:srgbClr val="FFFFFF">
              <a:alpha val="10000"/>
            </a:srgbClr>
          </a:solidFill>
          <a:ln w="38100">
            <a:solidFill>
              <a:srgbClr val="7FA98C"/>
            </a:solidFill>
            <a:prstDash val="solid"/>
          </a:ln>
        </p:spPr>
      </p:sp>
      <p:sp>
        <p:nvSpPr>
          <p:cNvPr id="10" name="Shape 8"/>
          <p:cNvSpPr/>
          <p:nvPr/>
        </p:nvSpPr>
        <p:spPr>
          <a:xfrm rot="16200000">
            <a:off x="8961120" y="4846320"/>
            <a:ext cx="91440" cy="91440"/>
          </a:xfrm>
          <a:prstGeom prst="ellipse">
            <a:avLst/>
          </a:prstGeom>
          <a:solidFill>
            <a:srgbClr val="6E8F7E"/>
          </a:solidFill>
          <a:ln/>
        </p:spPr>
      </p:sp>
      <p:sp>
        <p:nvSpPr>
          <p:cNvPr id="11" name="Shape 9"/>
          <p:cNvSpPr/>
          <p:nvPr/>
        </p:nvSpPr>
        <p:spPr>
          <a:xfrm rot="16200000">
            <a:off x="10639045" y="2143125"/>
            <a:ext cx="1097280" cy="1097280"/>
          </a:xfrm>
          <a:prstGeom prst="ellipse">
            <a:avLst/>
          </a:prstGeom>
          <a:solidFill>
            <a:srgbClr val="FFFFFF">
              <a:alpha val="10000"/>
            </a:srgbClr>
          </a:solidFill>
          <a:ln w="38100">
            <a:solidFill>
              <a:srgbClr val="E8B23A"/>
            </a:solidFill>
            <a:prstDash val="solid"/>
          </a:ln>
        </p:spPr>
      </p:sp>
      <p:sp>
        <p:nvSpPr>
          <p:cNvPr id="12" name="Shape 10"/>
          <p:cNvSpPr/>
          <p:nvPr/>
        </p:nvSpPr>
        <p:spPr>
          <a:xfrm rot="16200000">
            <a:off x="11155680" y="4846320"/>
            <a:ext cx="91440" cy="91440"/>
          </a:xfrm>
          <a:prstGeom prst="ellipse">
            <a:avLst/>
          </a:prstGeom>
          <a:solidFill>
            <a:srgbClr val="6E8F7E"/>
          </a:solidFill>
          <a:ln/>
        </p:spPr>
      </p:sp>
      <p:sp>
        <p:nvSpPr>
          <p:cNvPr id="13" name="Shape 11"/>
          <p:cNvSpPr/>
          <p:nvPr/>
        </p:nvSpPr>
        <p:spPr>
          <a:xfrm rot="16200000">
            <a:off x="9738360" y="3538728"/>
            <a:ext cx="731520" cy="512064"/>
          </a:xfrm>
          <a:prstGeom prst="roundRect">
            <a:avLst>
              <a:gd name="adj" fmla="val 10714"/>
            </a:avLst>
          </a:prstGeom>
          <a:solidFill>
            <a:srgbClr val="E8B23A"/>
          </a:solidFill>
          <a:ln/>
        </p:spPr>
      </p:sp>
      <p:sp>
        <p:nvSpPr>
          <p:cNvPr id="15" name="Text 13"/>
          <p:cNvSpPr/>
          <p:nvPr/>
        </p:nvSpPr>
        <p:spPr>
          <a:xfrm>
            <a:off x="335128" y="1325880"/>
            <a:ext cx="7680960" cy="1920240"/>
          </a:xfrm>
          <a:prstGeom prst="rect">
            <a:avLst/>
          </a:prstGeom>
          <a:noFill/>
          <a:ln/>
        </p:spPr>
        <p:txBody>
          <a:bodyPr wrap="square" rtlCol="0" anchor="ctr"/>
          <a:lstStyle/>
          <a:p>
            <a:pPr marL="0" indent="0">
              <a:lnSpc>
                <a:spcPts val="3900"/>
              </a:lnSpc>
              <a:buNone/>
            </a:pPr>
            <a:r>
              <a:rPr lang="en-US" sz="3300" b="1" dirty="0" smtClean="0">
                <a:solidFill>
                  <a:srgbClr val="FFFFFF"/>
                </a:solidFill>
                <a:latin typeface="Cambria" pitchFamily="34" charset="0"/>
                <a:ea typeface="Cambria" pitchFamily="34" charset="-122"/>
                <a:cs typeface="Cambria" pitchFamily="34" charset="-120"/>
              </a:rPr>
              <a:t>Drone-based precision agriculture system</a:t>
            </a:r>
            <a:endParaRPr lang="en-US" sz="3300" dirty="0"/>
          </a:p>
        </p:txBody>
      </p:sp>
      <p:sp>
        <p:nvSpPr>
          <p:cNvPr id="16" name="Text 14"/>
          <p:cNvSpPr/>
          <p:nvPr/>
        </p:nvSpPr>
        <p:spPr>
          <a:xfrm>
            <a:off x="566928" y="3563493"/>
            <a:ext cx="7040880" cy="822960"/>
          </a:xfrm>
          <a:prstGeom prst="rect">
            <a:avLst/>
          </a:prstGeom>
          <a:noFill/>
          <a:ln/>
        </p:spPr>
        <p:txBody>
          <a:bodyPr wrap="square" rtlCol="0" anchor="ctr"/>
          <a:lstStyle/>
          <a:p>
            <a:pPr marL="0" indent="0">
              <a:lnSpc>
                <a:spcPts val="2100"/>
              </a:lnSpc>
              <a:buNone/>
            </a:pPr>
            <a:r>
              <a:rPr lang="en-US" sz="1450" dirty="0">
                <a:solidFill>
                  <a:srgbClr val="7FA98C"/>
                </a:solidFill>
                <a:latin typeface="Cambria" panose="02040503050406030204" pitchFamily="18" charset="0"/>
                <a:ea typeface="Cambria" panose="02040503050406030204" pitchFamily="18" charset="0"/>
                <a:cs typeface="Calibri" pitchFamily="34" charset="-120"/>
              </a:rPr>
              <a:t>An embedded flight controller built from low-level principles, with real-time attitude estimation — developed for precision-agriculture applications.</a:t>
            </a:r>
            <a:endParaRPr lang="en-US" sz="1450" dirty="0">
              <a:latin typeface="Cambria" panose="02040503050406030204" pitchFamily="18" charset="0"/>
              <a:ea typeface="Cambria" panose="02040503050406030204" pitchFamily="18" charset="0"/>
            </a:endParaRPr>
          </a:p>
        </p:txBody>
      </p:sp>
      <p:sp>
        <p:nvSpPr>
          <p:cNvPr id="17" name="Shape 15"/>
          <p:cNvSpPr/>
          <p:nvPr/>
        </p:nvSpPr>
        <p:spPr>
          <a:xfrm>
            <a:off x="643128" y="4505324"/>
            <a:ext cx="2926080" cy="0"/>
          </a:xfrm>
          <a:prstGeom prst="line">
            <a:avLst/>
          </a:prstGeom>
          <a:noFill/>
          <a:ln w="25400">
            <a:solidFill>
              <a:srgbClr val="2E6B4F"/>
            </a:solidFill>
            <a:prstDash val="solid"/>
          </a:ln>
        </p:spPr>
      </p:sp>
      <p:sp>
        <p:nvSpPr>
          <p:cNvPr id="18" name="Text 16"/>
          <p:cNvSpPr/>
          <p:nvPr/>
        </p:nvSpPr>
        <p:spPr>
          <a:xfrm>
            <a:off x="566928" y="4524374"/>
            <a:ext cx="7315200" cy="1556385"/>
          </a:xfrm>
          <a:prstGeom prst="rect">
            <a:avLst/>
          </a:prstGeom>
          <a:noFill/>
          <a:ln/>
        </p:spPr>
        <p:txBody>
          <a:bodyPr wrap="square" rtlCol="0" anchor="ctr"/>
          <a:lstStyle/>
          <a:p>
            <a:pPr marL="0" indent="0">
              <a:lnSpc>
                <a:spcPts val="1800"/>
              </a:lnSpc>
              <a:buNone/>
            </a:pPr>
            <a:r>
              <a:rPr lang="ro-RO" sz="1600" b="1" dirty="0" smtClean="0">
                <a:solidFill>
                  <a:srgbClr val="FFFFFF"/>
                </a:solidFill>
                <a:latin typeface="Cambria" panose="02040503050406030204" pitchFamily="18" charset="0"/>
                <a:ea typeface="Cambria" panose="02040503050406030204" pitchFamily="18" charset="0"/>
                <a:cs typeface="Times New Roman" panose="02020603050405020304" pitchFamily="18" charset="0"/>
              </a:rPr>
              <a:t>Thesis supervisor:</a:t>
            </a:r>
          </a:p>
          <a:p>
            <a:pPr>
              <a:lnSpc>
                <a:spcPts val="1800"/>
              </a:lnSpc>
            </a:pPr>
            <a:r>
              <a:rPr lang="en-US" sz="1600" dirty="0" err="1" smtClean="0">
                <a:solidFill>
                  <a:schemeClr val="bg1"/>
                </a:solidFill>
                <a:latin typeface="Cambria" panose="02040503050406030204" pitchFamily="18" charset="0"/>
                <a:ea typeface="Cambria" panose="02040503050406030204" pitchFamily="18" charset="0"/>
                <a:cs typeface="Times New Roman" panose="02020603050405020304" pitchFamily="18" charset="0"/>
              </a:rPr>
              <a:t>S.l.dr.ing</a:t>
            </a:r>
            <a:r>
              <a:rPr lang="en-US" sz="1600"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rPr>
              <a:t>. C</a:t>
            </a:r>
            <a:r>
              <a:rPr lang="ro-RO" sz="1600"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rPr>
              <a:t>ă</a:t>
            </a:r>
            <a:r>
              <a:rPr lang="en-US" sz="1600" dirty="0" err="1" smtClean="0">
                <a:solidFill>
                  <a:schemeClr val="bg1"/>
                </a:solidFill>
                <a:latin typeface="Cambria" panose="02040503050406030204" pitchFamily="18" charset="0"/>
                <a:ea typeface="Cambria" panose="02040503050406030204" pitchFamily="18" charset="0"/>
                <a:cs typeface="Times New Roman" panose="02020603050405020304" pitchFamily="18" charset="0"/>
              </a:rPr>
              <a:t>lin</a:t>
            </a:r>
            <a:r>
              <a:rPr lang="en-US" sz="1600"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rPr>
              <a:t> F</a:t>
            </a:r>
            <a:r>
              <a:rPr lang="ro-RO" sz="1600"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rPr>
              <a:t>Ă</a:t>
            </a:r>
            <a:r>
              <a:rPr lang="en-US" sz="1600"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rPr>
              <a:t>RCA</a:t>
            </a:r>
            <a:r>
              <a:rPr lang="ro-RO" sz="1600"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rPr>
              <a:t>Ș</a:t>
            </a:r>
          </a:p>
          <a:p>
            <a:pPr>
              <a:lnSpc>
                <a:spcPts val="1800"/>
              </a:lnSpc>
            </a:pPr>
            <a:r>
              <a:rPr lang="ro-RO" sz="1600" b="1"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rPr>
              <a:t>Student</a:t>
            </a:r>
            <a:r>
              <a:rPr lang="en-US" sz="1600" b="1"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rPr>
              <a:t>:</a:t>
            </a:r>
            <a:endParaRPr lang="ro-RO" sz="1600" b="1" dirty="0" smtClean="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pPr>
              <a:lnSpc>
                <a:spcPts val="1800"/>
              </a:lnSpc>
            </a:pPr>
            <a:r>
              <a:rPr lang="en-US" sz="16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Zsolt </a:t>
            </a:r>
            <a:r>
              <a:rPr lang="en-US" sz="1600" b="1" dirty="0" err="1">
                <a:solidFill>
                  <a:srgbClr val="FFFFFF"/>
                </a:solidFill>
                <a:latin typeface="Cambria" panose="02040503050406030204" pitchFamily="18" charset="0"/>
                <a:ea typeface="Cambria" panose="02040503050406030204" pitchFamily="18" charset="0"/>
                <a:cs typeface="Times New Roman" panose="02020603050405020304" pitchFamily="18" charset="0"/>
              </a:rPr>
              <a:t>Sántha</a:t>
            </a:r>
            <a:r>
              <a:rPr lang="en-US" sz="16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 </a:t>
            </a:r>
            <a:r>
              <a:rPr lang="en-US" sz="1600" b="1" dirty="0" smtClean="0">
                <a:solidFill>
                  <a:srgbClr val="FFFFFF"/>
                </a:solidFill>
                <a:latin typeface="Cambria" panose="02040503050406030204" pitchFamily="18" charset="0"/>
                <a:ea typeface="Cambria" panose="02040503050406030204" pitchFamily="18" charset="0"/>
                <a:cs typeface="Times New Roman" panose="02020603050405020304" pitchFamily="18" charset="0"/>
              </a:rPr>
              <a:t>
</a:t>
            </a:r>
            <a:r>
              <a:rPr lang="en-US" sz="1250" dirty="0" smtClean="0">
                <a:solidFill>
                  <a:srgbClr val="7FA98C"/>
                </a:solidFill>
                <a:latin typeface="Cambria" panose="02040503050406030204" pitchFamily="18" charset="0"/>
                <a:ea typeface="Cambria" panose="02040503050406030204" pitchFamily="18" charset="0"/>
                <a:cs typeface="Times New Roman" panose="02020603050405020304" pitchFamily="18" charset="0"/>
              </a:rPr>
              <a:t>Faculty of Electronics, Telecommunications and Information Technology
Technical University of Cluj-Napoca</a:t>
            </a:r>
            <a:endParaRPr lang="en-US" sz="1600" dirty="0">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mbria" panose="02040503050406030204" pitchFamily="18" charset="0"/>
                <a:ea typeface="Cambria" panose="02040503050406030204" pitchFamily="18" charset="0"/>
                <a:cs typeface="Calibri" pitchFamily="34" charset="-120"/>
              </a:rPr>
              <a:t>WHY THIS MATTERS</a:t>
            </a:r>
            <a:endParaRPr lang="en-US" sz="1300" dirty="0">
              <a:latin typeface="Cambria" panose="02040503050406030204" pitchFamily="18" charset="0"/>
              <a:ea typeface="Cambria" panose="02040503050406030204" pitchFamily="18" charset="0"/>
            </a:endParaRPr>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anose="02040503050406030204" pitchFamily="18" charset="0"/>
                <a:ea typeface="Cambria" panose="02040503050406030204" pitchFamily="18" charset="0"/>
                <a:cs typeface="Cambria" pitchFamily="34" charset="-120"/>
              </a:rPr>
              <a:t>Feeding more people, under more pressure</a:t>
            </a:r>
            <a:endParaRPr lang="en-US" sz="3400" dirty="0">
              <a:latin typeface="Cambria" panose="02040503050406030204" pitchFamily="18" charset="0"/>
              <a:ea typeface="Cambria" panose="02040503050406030204" pitchFamily="18" charset="0"/>
            </a:endParaRPr>
          </a:p>
        </p:txBody>
      </p:sp>
      <p:sp>
        <p:nvSpPr>
          <p:cNvPr id="4" name="Shape 2"/>
          <p:cNvSpPr/>
          <p:nvPr/>
        </p:nvSpPr>
        <p:spPr>
          <a:xfrm>
            <a:off x="566928" y="1874520"/>
            <a:ext cx="3383280" cy="1691640"/>
          </a:xfrm>
          <a:prstGeom prst="roundRect">
            <a:avLst>
              <a:gd name="adj" fmla="val 4324"/>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5" name="Text 3"/>
          <p:cNvSpPr/>
          <p:nvPr/>
        </p:nvSpPr>
        <p:spPr>
          <a:xfrm>
            <a:off x="566928" y="2011680"/>
            <a:ext cx="3383280" cy="822960"/>
          </a:xfrm>
          <a:prstGeom prst="rect">
            <a:avLst/>
          </a:prstGeom>
          <a:noFill/>
          <a:ln/>
        </p:spPr>
        <p:txBody>
          <a:bodyPr wrap="square" rtlCol="0" anchor="ctr"/>
          <a:lstStyle/>
          <a:p>
            <a:pPr marL="0" indent="0" algn="ctr">
              <a:buNone/>
            </a:pPr>
            <a:r>
              <a:rPr lang="en-US" sz="4400" b="1" dirty="0">
                <a:solidFill>
                  <a:srgbClr val="2E6B4F"/>
                </a:solidFill>
                <a:latin typeface="Cambria" panose="02040503050406030204" pitchFamily="18" charset="0"/>
                <a:ea typeface="Cambria" panose="02040503050406030204" pitchFamily="18" charset="0"/>
                <a:cs typeface="Cambria" pitchFamily="34" charset="-120"/>
              </a:rPr>
              <a:t>~10 bn</a:t>
            </a:r>
            <a:endParaRPr lang="en-US" sz="4400" dirty="0">
              <a:latin typeface="Cambria" panose="02040503050406030204" pitchFamily="18" charset="0"/>
              <a:ea typeface="Cambria" panose="02040503050406030204" pitchFamily="18" charset="0"/>
            </a:endParaRPr>
          </a:p>
        </p:txBody>
      </p:sp>
      <p:sp>
        <p:nvSpPr>
          <p:cNvPr id="6" name="Text 4"/>
          <p:cNvSpPr/>
          <p:nvPr/>
        </p:nvSpPr>
        <p:spPr>
          <a:xfrm>
            <a:off x="795528" y="2880360"/>
            <a:ext cx="2926080" cy="548640"/>
          </a:xfrm>
          <a:prstGeom prst="rect">
            <a:avLst/>
          </a:prstGeom>
          <a:noFill/>
          <a:ln/>
        </p:spPr>
        <p:txBody>
          <a:bodyPr wrap="square" rtlCol="0" anchor="ctr"/>
          <a:lstStyle/>
          <a:p>
            <a:pPr marL="0" indent="0" algn="ctr">
              <a:buNone/>
            </a:pPr>
            <a:r>
              <a:rPr lang="en-US" sz="1350" dirty="0">
                <a:solidFill>
                  <a:srgbClr val="17251E"/>
                </a:solidFill>
                <a:latin typeface="Cambria" panose="02040503050406030204" pitchFamily="18" charset="0"/>
                <a:ea typeface="Cambria" panose="02040503050406030204" pitchFamily="18" charset="0"/>
                <a:cs typeface="Calibri" pitchFamily="34" charset="-120"/>
              </a:rPr>
              <a:t>world population by 2050</a:t>
            </a:r>
            <a:endParaRPr lang="en-US" sz="1350" dirty="0">
              <a:latin typeface="Cambria" panose="02040503050406030204" pitchFamily="18" charset="0"/>
              <a:ea typeface="Cambria" panose="02040503050406030204" pitchFamily="18" charset="0"/>
            </a:endParaRPr>
          </a:p>
        </p:txBody>
      </p:sp>
      <p:sp>
        <p:nvSpPr>
          <p:cNvPr id="7" name="Shape 5"/>
          <p:cNvSpPr/>
          <p:nvPr/>
        </p:nvSpPr>
        <p:spPr>
          <a:xfrm>
            <a:off x="4270248" y="1874520"/>
            <a:ext cx="3383280" cy="1691640"/>
          </a:xfrm>
          <a:prstGeom prst="roundRect">
            <a:avLst>
              <a:gd name="adj" fmla="val 4324"/>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8" name="Text 6"/>
          <p:cNvSpPr/>
          <p:nvPr/>
        </p:nvSpPr>
        <p:spPr>
          <a:xfrm>
            <a:off x="4270248" y="2011680"/>
            <a:ext cx="3383280" cy="822960"/>
          </a:xfrm>
          <a:prstGeom prst="rect">
            <a:avLst/>
          </a:prstGeom>
          <a:noFill/>
          <a:ln/>
        </p:spPr>
        <p:txBody>
          <a:bodyPr wrap="square" rtlCol="0" anchor="ctr"/>
          <a:lstStyle/>
          <a:p>
            <a:pPr marL="0" indent="0" algn="ctr">
              <a:buNone/>
            </a:pPr>
            <a:r>
              <a:rPr lang="en-US" sz="4400" b="1" dirty="0">
                <a:solidFill>
                  <a:srgbClr val="E8B23A"/>
                </a:solidFill>
                <a:latin typeface="Cambria" panose="02040503050406030204" pitchFamily="18" charset="0"/>
                <a:ea typeface="Cambria" panose="02040503050406030204" pitchFamily="18" charset="0"/>
                <a:cs typeface="Cambria" pitchFamily="34" charset="-120"/>
              </a:rPr>
              <a:t>+70%</a:t>
            </a:r>
            <a:endParaRPr lang="en-US" sz="4400" dirty="0">
              <a:latin typeface="Cambria" panose="02040503050406030204" pitchFamily="18" charset="0"/>
              <a:ea typeface="Cambria" panose="02040503050406030204" pitchFamily="18" charset="0"/>
            </a:endParaRPr>
          </a:p>
        </p:txBody>
      </p:sp>
      <p:sp>
        <p:nvSpPr>
          <p:cNvPr id="9" name="Text 7"/>
          <p:cNvSpPr/>
          <p:nvPr/>
        </p:nvSpPr>
        <p:spPr>
          <a:xfrm>
            <a:off x="4498848" y="2880360"/>
            <a:ext cx="2926080" cy="548640"/>
          </a:xfrm>
          <a:prstGeom prst="rect">
            <a:avLst/>
          </a:prstGeom>
          <a:noFill/>
          <a:ln/>
        </p:spPr>
        <p:txBody>
          <a:bodyPr wrap="square" rtlCol="0" anchor="ctr"/>
          <a:lstStyle/>
          <a:p>
            <a:pPr marL="0" indent="0" algn="ctr">
              <a:buNone/>
            </a:pPr>
            <a:r>
              <a:rPr lang="en-US" sz="1350" dirty="0">
                <a:solidFill>
                  <a:srgbClr val="17251E"/>
                </a:solidFill>
                <a:latin typeface="Cambria" panose="02040503050406030204" pitchFamily="18" charset="0"/>
                <a:ea typeface="Cambria" panose="02040503050406030204" pitchFamily="18" charset="0"/>
                <a:cs typeface="Calibri" pitchFamily="34" charset="-120"/>
              </a:rPr>
              <a:t>more food to be produced</a:t>
            </a:r>
            <a:endParaRPr lang="en-US" sz="1350" dirty="0">
              <a:latin typeface="Cambria" panose="02040503050406030204" pitchFamily="18" charset="0"/>
              <a:ea typeface="Cambria" panose="02040503050406030204" pitchFamily="18" charset="0"/>
            </a:endParaRPr>
          </a:p>
        </p:txBody>
      </p:sp>
      <p:sp>
        <p:nvSpPr>
          <p:cNvPr id="10" name="Shape 8"/>
          <p:cNvSpPr/>
          <p:nvPr/>
        </p:nvSpPr>
        <p:spPr>
          <a:xfrm>
            <a:off x="7973568" y="1874520"/>
            <a:ext cx="3383280" cy="1691640"/>
          </a:xfrm>
          <a:prstGeom prst="roundRect">
            <a:avLst>
              <a:gd name="adj" fmla="val 4324"/>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11" name="Text 9"/>
          <p:cNvSpPr/>
          <p:nvPr/>
        </p:nvSpPr>
        <p:spPr>
          <a:xfrm>
            <a:off x="7973568" y="2011680"/>
            <a:ext cx="3383280" cy="822960"/>
          </a:xfrm>
          <a:prstGeom prst="rect">
            <a:avLst/>
          </a:prstGeom>
          <a:noFill/>
          <a:ln/>
        </p:spPr>
        <p:txBody>
          <a:bodyPr wrap="square" rtlCol="0" anchor="ctr"/>
          <a:lstStyle/>
          <a:p>
            <a:pPr marL="0" indent="0" algn="ctr">
              <a:buNone/>
            </a:pPr>
            <a:r>
              <a:rPr lang="en-US" sz="4400" b="1" dirty="0">
                <a:solidFill>
                  <a:srgbClr val="7FA98C"/>
                </a:solidFill>
                <a:latin typeface="Cambria" panose="02040503050406030204" pitchFamily="18" charset="0"/>
                <a:ea typeface="Cambria" panose="02040503050406030204" pitchFamily="18" charset="0"/>
                <a:cs typeface="Cambria" pitchFamily="34" charset="-120"/>
              </a:rPr>
              <a:t>4+</a:t>
            </a:r>
            <a:endParaRPr lang="en-US" sz="4400" dirty="0">
              <a:latin typeface="Cambria" panose="02040503050406030204" pitchFamily="18" charset="0"/>
              <a:ea typeface="Cambria" panose="02040503050406030204" pitchFamily="18" charset="0"/>
            </a:endParaRPr>
          </a:p>
        </p:txBody>
      </p:sp>
      <p:sp>
        <p:nvSpPr>
          <p:cNvPr id="12" name="Text 10"/>
          <p:cNvSpPr/>
          <p:nvPr/>
        </p:nvSpPr>
        <p:spPr>
          <a:xfrm>
            <a:off x="8202168" y="2880360"/>
            <a:ext cx="2926080" cy="548640"/>
          </a:xfrm>
          <a:prstGeom prst="rect">
            <a:avLst/>
          </a:prstGeom>
          <a:noFill/>
          <a:ln/>
        </p:spPr>
        <p:txBody>
          <a:bodyPr wrap="square" rtlCol="0" anchor="ctr"/>
          <a:lstStyle/>
          <a:p>
            <a:pPr marL="0" indent="0" algn="ctr">
              <a:buNone/>
            </a:pPr>
            <a:r>
              <a:rPr lang="en-US" sz="1350" dirty="0">
                <a:solidFill>
                  <a:srgbClr val="17251E"/>
                </a:solidFill>
                <a:latin typeface="Cambria" panose="02040503050406030204" pitchFamily="18" charset="0"/>
                <a:ea typeface="Cambria" panose="02040503050406030204" pitchFamily="18" charset="0"/>
                <a:cs typeface="Calibri" pitchFamily="34" charset="-120"/>
              </a:rPr>
              <a:t>climate stressors on yield*</a:t>
            </a:r>
            <a:endParaRPr lang="en-US" sz="1350" dirty="0">
              <a:latin typeface="Cambria" panose="02040503050406030204" pitchFamily="18" charset="0"/>
              <a:ea typeface="Cambria" panose="02040503050406030204" pitchFamily="18" charset="0"/>
            </a:endParaRPr>
          </a:p>
        </p:txBody>
      </p:sp>
      <p:sp>
        <p:nvSpPr>
          <p:cNvPr id="13" name="Text 11"/>
          <p:cNvSpPr/>
          <p:nvPr/>
        </p:nvSpPr>
        <p:spPr>
          <a:xfrm>
            <a:off x="566928" y="3657600"/>
            <a:ext cx="7315200" cy="274320"/>
          </a:xfrm>
          <a:prstGeom prst="rect">
            <a:avLst/>
          </a:prstGeom>
          <a:noFill/>
          <a:ln/>
        </p:spPr>
        <p:txBody>
          <a:bodyPr wrap="square" rtlCol="0" anchor="ctr"/>
          <a:lstStyle/>
          <a:p>
            <a:pPr marL="0" indent="0">
              <a:buNone/>
            </a:pPr>
            <a:r>
              <a:rPr lang="en-US" sz="1050" i="1" dirty="0">
                <a:solidFill>
                  <a:srgbClr val="6E8079"/>
                </a:solidFill>
                <a:latin typeface="Cambria" panose="02040503050406030204" pitchFamily="18" charset="0"/>
                <a:ea typeface="Cambria" panose="02040503050406030204" pitchFamily="18" charset="0"/>
                <a:cs typeface="Calibri" pitchFamily="34" charset="-120"/>
              </a:rPr>
              <a:t>*drought · hail · strong winds · waterlogging</a:t>
            </a:r>
            <a:endParaRPr lang="en-US" sz="1050" dirty="0">
              <a:latin typeface="Cambria" panose="02040503050406030204" pitchFamily="18" charset="0"/>
              <a:ea typeface="Cambria" panose="02040503050406030204" pitchFamily="18" charset="0"/>
            </a:endParaRPr>
          </a:p>
        </p:txBody>
      </p:sp>
      <p:sp>
        <p:nvSpPr>
          <p:cNvPr id="14" name="Shape 12"/>
          <p:cNvSpPr/>
          <p:nvPr/>
        </p:nvSpPr>
        <p:spPr>
          <a:xfrm>
            <a:off x="566928" y="4160520"/>
            <a:ext cx="11057839" cy="1600200"/>
          </a:xfrm>
          <a:prstGeom prst="roundRect">
            <a:avLst>
              <a:gd name="adj" fmla="val 4571"/>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15" name="Text 13"/>
          <p:cNvSpPr/>
          <p:nvPr/>
        </p:nvSpPr>
        <p:spPr>
          <a:xfrm>
            <a:off x="932688" y="4343400"/>
            <a:ext cx="10424160" cy="457200"/>
          </a:xfrm>
          <a:prstGeom prst="rect">
            <a:avLst/>
          </a:prstGeom>
          <a:noFill/>
          <a:ln/>
        </p:spPr>
        <p:txBody>
          <a:bodyPr wrap="square" rtlCol="0" anchor="ctr"/>
          <a:lstStyle/>
          <a:p>
            <a:pPr marL="0" indent="0">
              <a:buNone/>
            </a:pPr>
            <a:r>
              <a:rPr lang="en-US" sz="2000" b="1" dirty="0">
                <a:solidFill>
                  <a:srgbClr val="FFFFFF"/>
                </a:solidFill>
                <a:latin typeface="Cambria" panose="02040503050406030204" pitchFamily="18" charset="0"/>
                <a:ea typeface="Cambria" panose="02040503050406030204" pitchFamily="18" charset="0"/>
                <a:cs typeface="Cambria" pitchFamily="34" charset="-120"/>
              </a:rPr>
              <a:t>Precision agriculture answers this with data.</a:t>
            </a:r>
            <a:endParaRPr lang="en-US" sz="2000" dirty="0">
              <a:latin typeface="Cambria" panose="02040503050406030204" pitchFamily="18" charset="0"/>
              <a:ea typeface="Cambria" panose="02040503050406030204" pitchFamily="18" charset="0"/>
            </a:endParaRPr>
          </a:p>
        </p:txBody>
      </p:sp>
      <p:sp>
        <p:nvSpPr>
          <p:cNvPr id="16" name="Text 14"/>
          <p:cNvSpPr/>
          <p:nvPr/>
        </p:nvSpPr>
        <p:spPr>
          <a:xfrm>
            <a:off x="932688" y="4846320"/>
            <a:ext cx="10424160" cy="822960"/>
          </a:xfrm>
          <a:prstGeom prst="rect">
            <a:avLst/>
          </a:prstGeom>
          <a:noFill/>
          <a:ln/>
        </p:spPr>
        <p:txBody>
          <a:bodyPr wrap="square" rtlCol="0" anchor="ctr"/>
          <a:lstStyle/>
          <a:p>
            <a:pPr marL="0" indent="0">
              <a:lnSpc>
                <a:spcPts val="2000"/>
              </a:lnSpc>
              <a:buNone/>
            </a:pPr>
            <a:r>
              <a:rPr lang="en-US" sz="1400" dirty="0">
                <a:solidFill>
                  <a:srgbClr val="7FA98C"/>
                </a:solidFill>
                <a:latin typeface="Cambria" panose="02040503050406030204" pitchFamily="18" charset="0"/>
                <a:ea typeface="Cambria" panose="02040503050406030204" pitchFamily="18" charset="0"/>
                <a:cs typeface="Calibri" pitchFamily="34" charset="-120"/>
              </a:rPr>
              <a:t>Drones are a key instrument — they combine mobility, remote sensing and automation on a single platform, monitoring crop health, mapping fields and targeting inputs where they are needed.</a:t>
            </a:r>
            <a:endParaRPr lang="en-US" sz="1400" dirty="0">
              <a:latin typeface="Cambria" panose="02040503050406030204" pitchFamily="18" charset="0"/>
              <a:ea typeface="Cambria" panose="02040503050406030204" pitchFamily="18" charset="0"/>
            </a:endParaRPr>
          </a:p>
        </p:txBody>
      </p:sp>
      <p:sp>
        <p:nvSpPr>
          <p:cNvPr id="17" name="Text 15"/>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Sántha Zsolt  ·  Quadcopter flight-control system</a:t>
            </a:r>
            <a:endParaRPr lang="en-US" sz="900" dirty="0">
              <a:latin typeface="Cambria" panose="02040503050406030204" pitchFamily="18" charset="0"/>
              <a:ea typeface="Cambria" panose="02040503050406030204" pitchFamily="18" charset="0"/>
            </a:endParaRPr>
          </a:p>
        </p:txBody>
      </p:sp>
      <p:sp>
        <p:nvSpPr>
          <p:cNvPr id="18" name="Text 16"/>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2</a:t>
            </a:r>
            <a:endParaRPr lang="en-US" sz="9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352C"/>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mbria" panose="02040503050406030204" pitchFamily="18" charset="0"/>
                <a:ea typeface="Cambria" panose="02040503050406030204" pitchFamily="18" charset="0"/>
                <a:cs typeface="Calibri" pitchFamily="34" charset="-120"/>
              </a:rPr>
              <a:t>OBJECTIVE &amp; CONTRIBUTION</a:t>
            </a:r>
            <a:endParaRPr lang="en-US" sz="1300" dirty="0">
              <a:latin typeface="Cambria" panose="02040503050406030204" pitchFamily="18" charset="0"/>
              <a:ea typeface="Cambria" panose="02040503050406030204" pitchFamily="18" charset="0"/>
            </a:endParaRPr>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3200" b="1" dirty="0">
                <a:solidFill>
                  <a:srgbClr val="FFFFFF"/>
                </a:solidFill>
                <a:latin typeface="Cambria" panose="02040503050406030204" pitchFamily="18" charset="0"/>
                <a:ea typeface="Cambria" panose="02040503050406030204" pitchFamily="18" charset="0"/>
                <a:cs typeface="Cambria" pitchFamily="34" charset="-120"/>
              </a:rPr>
              <a:t>Build the flight controller — not just fly a drone</a:t>
            </a:r>
            <a:endParaRPr lang="en-US" sz="3200" dirty="0">
              <a:latin typeface="Cambria" panose="02040503050406030204" pitchFamily="18" charset="0"/>
              <a:ea typeface="Cambria" panose="02040503050406030204" pitchFamily="18" charset="0"/>
            </a:endParaRPr>
          </a:p>
        </p:txBody>
      </p:sp>
      <p:sp>
        <p:nvSpPr>
          <p:cNvPr id="4" name="Shape 2"/>
          <p:cNvSpPr/>
          <p:nvPr/>
        </p:nvSpPr>
        <p:spPr>
          <a:xfrm>
            <a:off x="566928" y="1874520"/>
            <a:ext cx="11057839" cy="1371600"/>
          </a:xfrm>
          <a:prstGeom prst="roundRect">
            <a:avLst>
              <a:gd name="adj" fmla="val 5333"/>
            </a:avLst>
          </a:prstGeom>
          <a:solidFill>
            <a:srgbClr val="163E33"/>
          </a:solidFill>
          <a:ln w="12700">
            <a:solidFill>
              <a:srgbClr val="D6DED8"/>
            </a:solidFill>
            <a:prstDash val="solid"/>
          </a:ln>
          <a:effectLst>
            <a:outerShdw blurRad="76200" dist="25400" dir="5400000" algn="bl" rotWithShape="0">
              <a:srgbClr val="9AA79E">
                <a:alpha val="28000"/>
              </a:srgbClr>
            </a:outerShdw>
          </a:effectLst>
        </p:spPr>
      </p:sp>
      <p:sp>
        <p:nvSpPr>
          <p:cNvPr id="5" name="Text 3"/>
          <p:cNvSpPr/>
          <p:nvPr/>
        </p:nvSpPr>
        <p:spPr>
          <a:xfrm>
            <a:off x="932688" y="2011680"/>
            <a:ext cx="10326319" cy="1097280"/>
          </a:xfrm>
          <a:prstGeom prst="rect">
            <a:avLst/>
          </a:prstGeom>
          <a:noFill/>
          <a:ln/>
        </p:spPr>
        <p:txBody>
          <a:bodyPr wrap="square" rtlCol="0" anchor="ctr"/>
          <a:lstStyle/>
          <a:p>
            <a:pPr marL="0" indent="0">
              <a:lnSpc>
                <a:spcPts val="2400"/>
              </a:lnSpc>
              <a:buNone/>
            </a:pPr>
            <a:r>
              <a:rPr lang="en-US" sz="1650" b="1" dirty="0">
                <a:solidFill>
                  <a:srgbClr val="E8B23A"/>
                </a:solidFill>
                <a:latin typeface="Cambria" panose="02040503050406030204" pitchFamily="18" charset="0"/>
                <a:ea typeface="Cambria" panose="02040503050406030204" pitchFamily="18" charset="0"/>
                <a:cs typeface="Calibri" pitchFamily="34" charset="-120"/>
              </a:rPr>
              <a:t>Goal:  </a:t>
            </a:r>
            <a:r>
              <a:rPr lang="en-US" sz="1650" dirty="0">
                <a:solidFill>
                  <a:srgbClr val="FFFFFF"/>
                </a:solidFill>
                <a:latin typeface="Cambria" panose="02040503050406030204" pitchFamily="18" charset="0"/>
                <a:ea typeface="Cambria" panose="02040503050406030204" pitchFamily="18" charset="0"/>
                <a:cs typeface="Calibri" pitchFamily="34" charset="-120"/>
              </a:rPr>
              <a:t>design and construct a quadcopter from its fundamental components, with a flight-control system developed in full from low-level embedded-systems principles rather than a pre-configured commercial controller.</a:t>
            </a:r>
            <a:endParaRPr lang="en-US" sz="1650" dirty="0">
              <a:latin typeface="Cambria" panose="02040503050406030204" pitchFamily="18" charset="0"/>
              <a:ea typeface="Cambria" panose="02040503050406030204" pitchFamily="18" charset="0"/>
            </a:endParaRPr>
          </a:p>
        </p:txBody>
      </p:sp>
      <p:sp>
        <p:nvSpPr>
          <p:cNvPr id="6" name="Shape 4"/>
          <p:cNvSpPr/>
          <p:nvPr/>
        </p:nvSpPr>
        <p:spPr>
          <a:xfrm>
            <a:off x="566928" y="3474720"/>
            <a:ext cx="5346040" cy="2514600"/>
          </a:xfrm>
          <a:prstGeom prst="roundRect">
            <a:avLst>
              <a:gd name="adj" fmla="val 2909"/>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7" name="Text 5"/>
          <p:cNvSpPr/>
          <p:nvPr/>
        </p:nvSpPr>
        <p:spPr>
          <a:xfrm>
            <a:off x="886968" y="3611880"/>
            <a:ext cx="4705960" cy="365760"/>
          </a:xfrm>
          <a:prstGeom prst="rect">
            <a:avLst/>
          </a:prstGeom>
          <a:noFill/>
          <a:ln/>
        </p:spPr>
        <p:txBody>
          <a:bodyPr wrap="square" rtlCol="0" anchor="ctr"/>
          <a:lstStyle/>
          <a:p>
            <a:pPr marL="0" indent="0">
              <a:buNone/>
            </a:pPr>
            <a:r>
              <a:rPr lang="en-US" sz="1700" b="1" dirty="0">
                <a:solidFill>
                  <a:srgbClr val="9BC53D"/>
                </a:solidFill>
                <a:latin typeface="Cambria" panose="02040503050406030204" pitchFamily="18" charset="0"/>
                <a:ea typeface="Cambria" panose="02040503050406030204" pitchFamily="18" charset="0"/>
                <a:cs typeface="Cambria" pitchFamily="34" charset="-120"/>
              </a:rPr>
              <a:t>In scope</a:t>
            </a:r>
            <a:endParaRPr lang="en-US" sz="1700" dirty="0">
              <a:latin typeface="Cambria" panose="02040503050406030204" pitchFamily="18" charset="0"/>
              <a:ea typeface="Cambria" panose="02040503050406030204" pitchFamily="18" charset="0"/>
            </a:endParaRPr>
          </a:p>
        </p:txBody>
      </p:sp>
      <p:sp>
        <p:nvSpPr>
          <p:cNvPr id="8" name="Text 6"/>
          <p:cNvSpPr/>
          <p:nvPr/>
        </p:nvSpPr>
        <p:spPr>
          <a:xfrm>
            <a:off x="1115568" y="4069080"/>
            <a:ext cx="4523080" cy="365760"/>
          </a:xfrm>
          <a:prstGeom prst="rect">
            <a:avLst/>
          </a:prstGeom>
          <a:noFill/>
          <a:ln/>
        </p:spPr>
        <p:txBody>
          <a:bodyPr wrap="square" rtlCol="0" anchor="ctr"/>
          <a:lstStyle/>
          <a:p>
            <a:pPr marL="177800" indent="-177800">
              <a:buSzPct val="100000"/>
              <a:buChar char="•"/>
            </a:pPr>
            <a:r>
              <a:rPr lang="en-US" sz="1350" dirty="0">
                <a:solidFill>
                  <a:srgbClr val="FFFFFF"/>
                </a:solidFill>
                <a:latin typeface="Cambria" panose="02040503050406030204" pitchFamily="18" charset="0"/>
                <a:ea typeface="Cambria" panose="02040503050406030204" pitchFamily="18" charset="0"/>
                <a:cs typeface="Calibri" pitchFamily="34" charset="-120"/>
              </a:rPr>
              <a:t>Airframe &amp; propulsion assembly</a:t>
            </a:r>
            <a:endParaRPr lang="en-US" sz="1350" dirty="0">
              <a:latin typeface="Cambria" panose="02040503050406030204" pitchFamily="18" charset="0"/>
              <a:ea typeface="Cambria" panose="02040503050406030204" pitchFamily="18" charset="0"/>
            </a:endParaRPr>
          </a:p>
        </p:txBody>
      </p:sp>
      <p:sp>
        <p:nvSpPr>
          <p:cNvPr id="9" name="Text 7"/>
          <p:cNvSpPr/>
          <p:nvPr/>
        </p:nvSpPr>
        <p:spPr>
          <a:xfrm>
            <a:off x="1115568" y="4453128"/>
            <a:ext cx="4523080" cy="365760"/>
          </a:xfrm>
          <a:prstGeom prst="rect">
            <a:avLst/>
          </a:prstGeom>
          <a:noFill/>
          <a:ln/>
        </p:spPr>
        <p:txBody>
          <a:bodyPr wrap="square" rtlCol="0" anchor="ctr"/>
          <a:lstStyle/>
          <a:p>
            <a:pPr marL="177800" indent="-177800">
              <a:buSzPct val="100000"/>
              <a:buChar char="•"/>
            </a:pPr>
            <a:r>
              <a:rPr lang="en-US" sz="1350" dirty="0">
                <a:solidFill>
                  <a:srgbClr val="FFFFFF"/>
                </a:solidFill>
                <a:latin typeface="Cambria" panose="02040503050406030204" pitchFamily="18" charset="0"/>
                <a:ea typeface="Cambria" panose="02040503050406030204" pitchFamily="18" charset="0"/>
                <a:cs typeface="Calibri" pitchFamily="34" charset="-120"/>
              </a:rPr>
              <a:t>Sensor integration (SPI + DMA)</a:t>
            </a:r>
            <a:endParaRPr lang="en-US" sz="1350" dirty="0">
              <a:latin typeface="Cambria" panose="02040503050406030204" pitchFamily="18" charset="0"/>
              <a:ea typeface="Cambria" panose="02040503050406030204" pitchFamily="18" charset="0"/>
            </a:endParaRPr>
          </a:p>
        </p:txBody>
      </p:sp>
      <p:sp>
        <p:nvSpPr>
          <p:cNvPr id="10" name="Text 8"/>
          <p:cNvSpPr/>
          <p:nvPr/>
        </p:nvSpPr>
        <p:spPr>
          <a:xfrm>
            <a:off x="1115568" y="4837176"/>
            <a:ext cx="4523080" cy="365760"/>
          </a:xfrm>
          <a:prstGeom prst="rect">
            <a:avLst/>
          </a:prstGeom>
          <a:noFill/>
          <a:ln/>
        </p:spPr>
        <p:txBody>
          <a:bodyPr wrap="square" rtlCol="0" anchor="ctr"/>
          <a:lstStyle/>
          <a:p>
            <a:pPr marL="177800" indent="-177800">
              <a:buSzPct val="100000"/>
              <a:buChar char="•"/>
            </a:pPr>
            <a:r>
              <a:rPr lang="en-US" sz="1350" dirty="0">
                <a:solidFill>
                  <a:srgbClr val="FFFFFF"/>
                </a:solidFill>
                <a:latin typeface="Cambria" panose="02040503050406030204" pitchFamily="18" charset="0"/>
                <a:ea typeface="Cambria" panose="02040503050406030204" pitchFamily="18" charset="0"/>
                <a:cs typeface="Calibri" pitchFamily="34" charset="-120"/>
              </a:rPr>
              <a:t>Real-time attitude estimation</a:t>
            </a:r>
            <a:endParaRPr lang="en-US" sz="1350" dirty="0">
              <a:latin typeface="Cambria" panose="02040503050406030204" pitchFamily="18" charset="0"/>
              <a:ea typeface="Cambria" panose="02040503050406030204" pitchFamily="18" charset="0"/>
            </a:endParaRPr>
          </a:p>
        </p:txBody>
      </p:sp>
      <p:sp>
        <p:nvSpPr>
          <p:cNvPr id="11" name="Text 9"/>
          <p:cNvSpPr/>
          <p:nvPr/>
        </p:nvSpPr>
        <p:spPr>
          <a:xfrm>
            <a:off x="1115568" y="5221224"/>
            <a:ext cx="4523080" cy="365760"/>
          </a:xfrm>
          <a:prstGeom prst="rect">
            <a:avLst/>
          </a:prstGeom>
          <a:noFill/>
          <a:ln/>
        </p:spPr>
        <p:txBody>
          <a:bodyPr wrap="square" rtlCol="0" anchor="ctr"/>
          <a:lstStyle/>
          <a:p>
            <a:pPr marL="177800" indent="-177800">
              <a:buSzPct val="100000"/>
              <a:buChar char="•"/>
            </a:pPr>
            <a:r>
              <a:rPr lang="en-US" sz="1350" dirty="0">
                <a:solidFill>
                  <a:srgbClr val="FFFFFF"/>
                </a:solidFill>
                <a:latin typeface="Cambria" panose="02040503050406030204" pitchFamily="18" charset="0"/>
                <a:ea typeface="Cambria" panose="02040503050406030204" pitchFamily="18" charset="0"/>
                <a:cs typeface="Calibri" pitchFamily="34" charset="-120"/>
              </a:rPr>
              <a:t>Closed-loop PID stabilisation</a:t>
            </a:r>
            <a:endParaRPr lang="en-US" sz="1350" dirty="0">
              <a:latin typeface="Cambria" panose="02040503050406030204" pitchFamily="18" charset="0"/>
              <a:ea typeface="Cambria" panose="02040503050406030204" pitchFamily="18" charset="0"/>
            </a:endParaRPr>
          </a:p>
        </p:txBody>
      </p:sp>
      <p:sp>
        <p:nvSpPr>
          <p:cNvPr id="12" name="Text 10"/>
          <p:cNvSpPr/>
          <p:nvPr/>
        </p:nvSpPr>
        <p:spPr>
          <a:xfrm>
            <a:off x="1115568" y="5605272"/>
            <a:ext cx="4523080" cy="365760"/>
          </a:xfrm>
          <a:prstGeom prst="rect">
            <a:avLst/>
          </a:prstGeom>
          <a:noFill/>
          <a:ln/>
        </p:spPr>
        <p:txBody>
          <a:bodyPr wrap="square" rtlCol="0" anchor="ctr"/>
          <a:lstStyle/>
          <a:p>
            <a:pPr marL="177800" indent="-177800">
              <a:buSzPct val="100000"/>
              <a:buChar char="•"/>
            </a:pPr>
            <a:r>
              <a:rPr lang="en-US" sz="1350" dirty="0">
                <a:solidFill>
                  <a:srgbClr val="FFFFFF"/>
                </a:solidFill>
                <a:latin typeface="Cambria" panose="02040503050406030204" pitchFamily="18" charset="0"/>
                <a:ea typeface="Cambria" panose="02040503050406030204" pitchFamily="18" charset="0"/>
                <a:cs typeface="Calibri" pitchFamily="34" charset="-120"/>
              </a:rPr>
              <a:t>Decoding the RC radio link</a:t>
            </a:r>
            <a:endParaRPr lang="en-US" sz="1350" dirty="0">
              <a:latin typeface="Cambria" panose="02040503050406030204" pitchFamily="18" charset="0"/>
              <a:ea typeface="Cambria" panose="02040503050406030204" pitchFamily="18" charset="0"/>
            </a:endParaRPr>
          </a:p>
        </p:txBody>
      </p:sp>
      <p:sp>
        <p:nvSpPr>
          <p:cNvPr id="13" name="Shape 11"/>
          <p:cNvSpPr/>
          <p:nvPr/>
        </p:nvSpPr>
        <p:spPr>
          <a:xfrm>
            <a:off x="6278728" y="3474720"/>
            <a:ext cx="5346040" cy="2514600"/>
          </a:xfrm>
          <a:prstGeom prst="roundRect">
            <a:avLst>
              <a:gd name="adj" fmla="val 2909"/>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14" name="Text 12"/>
          <p:cNvSpPr/>
          <p:nvPr/>
        </p:nvSpPr>
        <p:spPr>
          <a:xfrm>
            <a:off x="6598768" y="3611880"/>
            <a:ext cx="4705960" cy="365760"/>
          </a:xfrm>
          <a:prstGeom prst="rect">
            <a:avLst/>
          </a:prstGeom>
          <a:noFill/>
          <a:ln/>
        </p:spPr>
        <p:txBody>
          <a:bodyPr wrap="square" rtlCol="0" anchor="ctr"/>
          <a:lstStyle/>
          <a:p>
            <a:pPr marL="0" indent="0">
              <a:buNone/>
            </a:pPr>
            <a:r>
              <a:rPr lang="en-US" sz="1700" b="1" dirty="0">
                <a:solidFill>
                  <a:srgbClr val="E8B23A"/>
                </a:solidFill>
                <a:latin typeface="Cambria" panose="02040503050406030204" pitchFamily="18" charset="0"/>
                <a:ea typeface="Cambria" panose="02040503050406030204" pitchFamily="18" charset="0"/>
                <a:cs typeface="Cambria" pitchFamily="34" charset="-120"/>
              </a:rPr>
              <a:t>Beyond this work (future)</a:t>
            </a:r>
            <a:endParaRPr lang="en-US" sz="1700" dirty="0">
              <a:latin typeface="Cambria" panose="02040503050406030204" pitchFamily="18" charset="0"/>
              <a:ea typeface="Cambria" panose="02040503050406030204" pitchFamily="18" charset="0"/>
            </a:endParaRPr>
          </a:p>
        </p:txBody>
      </p:sp>
      <p:sp>
        <p:nvSpPr>
          <p:cNvPr id="15" name="Text 13"/>
          <p:cNvSpPr/>
          <p:nvPr/>
        </p:nvSpPr>
        <p:spPr>
          <a:xfrm>
            <a:off x="6827368" y="4069080"/>
            <a:ext cx="4523080" cy="365760"/>
          </a:xfrm>
          <a:prstGeom prst="rect">
            <a:avLst/>
          </a:prstGeom>
          <a:noFill/>
          <a:ln/>
        </p:spPr>
        <p:txBody>
          <a:bodyPr wrap="square" rtlCol="0" anchor="ctr"/>
          <a:lstStyle/>
          <a:p>
            <a:pPr marL="177800" indent="-177800">
              <a:buSzPct val="100000"/>
              <a:buChar char="–"/>
            </a:pPr>
            <a:r>
              <a:rPr lang="en-US" sz="1350" dirty="0">
                <a:solidFill>
                  <a:srgbClr val="7FA98C"/>
                </a:solidFill>
                <a:latin typeface="Cambria" panose="02040503050406030204" pitchFamily="18" charset="0"/>
                <a:ea typeface="Cambria" panose="02040503050406030204" pitchFamily="18" charset="0"/>
                <a:cs typeface="Calibri" pitchFamily="34" charset="-120"/>
              </a:rPr>
              <a:t>Autonomous GPS navigation</a:t>
            </a:r>
            <a:endParaRPr lang="en-US" sz="1350" dirty="0">
              <a:latin typeface="Cambria" panose="02040503050406030204" pitchFamily="18" charset="0"/>
              <a:ea typeface="Cambria" panose="02040503050406030204" pitchFamily="18" charset="0"/>
            </a:endParaRPr>
          </a:p>
        </p:txBody>
      </p:sp>
      <p:sp>
        <p:nvSpPr>
          <p:cNvPr id="16" name="Text 14"/>
          <p:cNvSpPr/>
          <p:nvPr/>
        </p:nvSpPr>
        <p:spPr>
          <a:xfrm>
            <a:off x="6827368" y="4453128"/>
            <a:ext cx="4523080" cy="365760"/>
          </a:xfrm>
          <a:prstGeom prst="rect">
            <a:avLst/>
          </a:prstGeom>
          <a:noFill/>
          <a:ln/>
        </p:spPr>
        <p:txBody>
          <a:bodyPr wrap="square" rtlCol="0" anchor="ctr"/>
          <a:lstStyle/>
          <a:p>
            <a:pPr marL="177800" indent="-177800">
              <a:buSzPct val="100000"/>
              <a:buChar char="–"/>
            </a:pPr>
            <a:r>
              <a:rPr lang="en-US" sz="1350" dirty="0">
                <a:solidFill>
                  <a:srgbClr val="7FA98C"/>
                </a:solidFill>
                <a:latin typeface="Cambria" panose="02040503050406030204" pitchFamily="18" charset="0"/>
                <a:ea typeface="Cambria" panose="02040503050406030204" pitchFamily="18" charset="0"/>
                <a:cs typeface="Calibri" pitchFamily="34" charset="-120"/>
              </a:rPr>
              <a:t>Barometric altitude hold</a:t>
            </a:r>
            <a:endParaRPr lang="en-US" sz="1350" dirty="0">
              <a:latin typeface="Cambria" panose="02040503050406030204" pitchFamily="18" charset="0"/>
              <a:ea typeface="Cambria" panose="02040503050406030204" pitchFamily="18" charset="0"/>
            </a:endParaRPr>
          </a:p>
        </p:txBody>
      </p:sp>
      <p:sp>
        <p:nvSpPr>
          <p:cNvPr id="17" name="Text 15"/>
          <p:cNvSpPr/>
          <p:nvPr/>
        </p:nvSpPr>
        <p:spPr>
          <a:xfrm>
            <a:off x="6827368" y="4837176"/>
            <a:ext cx="4523080" cy="365760"/>
          </a:xfrm>
          <a:prstGeom prst="rect">
            <a:avLst/>
          </a:prstGeom>
          <a:noFill/>
          <a:ln/>
        </p:spPr>
        <p:txBody>
          <a:bodyPr wrap="square" rtlCol="0" anchor="ctr"/>
          <a:lstStyle/>
          <a:p>
            <a:pPr marL="177800" indent="-177800">
              <a:buSzPct val="100000"/>
              <a:buChar char="–"/>
            </a:pPr>
            <a:r>
              <a:rPr lang="en-US" sz="1350" dirty="0">
                <a:solidFill>
                  <a:srgbClr val="7FA98C"/>
                </a:solidFill>
                <a:latin typeface="Cambria" panose="02040503050406030204" pitchFamily="18" charset="0"/>
                <a:ea typeface="Cambria" panose="02040503050406030204" pitchFamily="18" charset="0"/>
                <a:cs typeface="Calibri" pitchFamily="34" charset="-120"/>
              </a:rPr>
              <a:t>Obstacle avoidance</a:t>
            </a:r>
            <a:endParaRPr lang="en-US" sz="1350" dirty="0">
              <a:latin typeface="Cambria" panose="02040503050406030204" pitchFamily="18" charset="0"/>
              <a:ea typeface="Cambria" panose="02040503050406030204" pitchFamily="18" charset="0"/>
            </a:endParaRPr>
          </a:p>
        </p:txBody>
      </p:sp>
      <p:sp>
        <p:nvSpPr>
          <p:cNvPr id="18" name="Text 16"/>
          <p:cNvSpPr/>
          <p:nvPr/>
        </p:nvSpPr>
        <p:spPr>
          <a:xfrm>
            <a:off x="6827368" y="5221224"/>
            <a:ext cx="4523080" cy="365760"/>
          </a:xfrm>
          <a:prstGeom prst="rect">
            <a:avLst/>
          </a:prstGeom>
          <a:noFill/>
          <a:ln/>
        </p:spPr>
        <p:txBody>
          <a:bodyPr wrap="square" rtlCol="0" anchor="ctr"/>
          <a:lstStyle/>
          <a:p>
            <a:pPr marL="177800" indent="-177800">
              <a:buSzPct val="100000"/>
              <a:buChar char="–"/>
            </a:pPr>
            <a:r>
              <a:rPr lang="en-US" sz="1350" dirty="0">
                <a:solidFill>
                  <a:srgbClr val="7FA98C"/>
                </a:solidFill>
                <a:latin typeface="Cambria" panose="02040503050406030204" pitchFamily="18" charset="0"/>
                <a:ea typeface="Cambria" panose="02040503050406030204" pitchFamily="18" charset="0"/>
                <a:cs typeface="Calibri" pitchFamily="34" charset="-120"/>
              </a:rPr>
              <a:t>On-board mission payloads</a:t>
            </a:r>
            <a:endParaRPr lang="en-US" sz="1350" dirty="0">
              <a:latin typeface="Cambria" panose="02040503050406030204" pitchFamily="18" charset="0"/>
              <a:ea typeface="Cambria" panose="02040503050406030204" pitchFamily="18" charset="0"/>
            </a:endParaRPr>
          </a:p>
        </p:txBody>
      </p:sp>
      <p:sp>
        <p:nvSpPr>
          <p:cNvPr id="19" name="Text 17"/>
          <p:cNvSpPr/>
          <p:nvPr/>
        </p:nvSpPr>
        <p:spPr>
          <a:xfrm>
            <a:off x="6827368" y="5605272"/>
            <a:ext cx="4523080" cy="365760"/>
          </a:xfrm>
          <a:prstGeom prst="rect">
            <a:avLst/>
          </a:prstGeom>
          <a:noFill/>
          <a:ln/>
        </p:spPr>
        <p:txBody>
          <a:bodyPr wrap="square" rtlCol="0" anchor="ctr"/>
          <a:lstStyle/>
          <a:p>
            <a:pPr marL="177800" indent="-177800">
              <a:buSzPct val="100000"/>
              <a:buChar char="–"/>
            </a:pPr>
            <a:r>
              <a:rPr lang="en-US" sz="1350" dirty="0">
                <a:solidFill>
                  <a:srgbClr val="7FA98C"/>
                </a:solidFill>
                <a:latin typeface="Cambria" panose="02040503050406030204" pitchFamily="18" charset="0"/>
                <a:ea typeface="Cambria" panose="02040503050406030204" pitchFamily="18" charset="0"/>
                <a:cs typeface="Calibri" pitchFamily="34" charset="-120"/>
              </a:rPr>
              <a:t>Field mapping &amp; crop analytics</a:t>
            </a:r>
            <a:endParaRPr lang="en-US" sz="1350" dirty="0">
              <a:latin typeface="Cambria" panose="02040503050406030204" pitchFamily="18" charset="0"/>
              <a:ea typeface="Cambria" panose="02040503050406030204" pitchFamily="18" charset="0"/>
            </a:endParaRPr>
          </a:p>
        </p:txBody>
      </p:sp>
      <p:sp>
        <p:nvSpPr>
          <p:cNvPr id="20" name="Text 18"/>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7C9A8C"/>
                </a:solidFill>
                <a:latin typeface="Cambria" panose="02040503050406030204" pitchFamily="18" charset="0"/>
                <a:ea typeface="Cambria" panose="02040503050406030204" pitchFamily="18" charset="0"/>
                <a:cs typeface="Calibri" pitchFamily="34" charset="-120"/>
              </a:rPr>
              <a:t>Sántha Zsolt  ·  Quadcopter flight-control system</a:t>
            </a:r>
            <a:endParaRPr lang="en-US" sz="900" dirty="0">
              <a:latin typeface="Cambria" panose="02040503050406030204" pitchFamily="18" charset="0"/>
              <a:ea typeface="Cambria" panose="02040503050406030204" pitchFamily="18" charset="0"/>
            </a:endParaRPr>
          </a:p>
        </p:txBody>
      </p:sp>
      <p:sp>
        <p:nvSpPr>
          <p:cNvPr id="21" name="Text 19"/>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7C9A8C"/>
                </a:solidFill>
                <a:latin typeface="Cambria" panose="02040503050406030204" pitchFamily="18" charset="0"/>
                <a:ea typeface="Cambria" panose="02040503050406030204" pitchFamily="18" charset="0"/>
                <a:cs typeface="Calibri" pitchFamily="34" charset="-120"/>
              </a:rPr>
              <a:t>3</a:t>
            </a:r>
            <a:endParaRPr lang="en-US" sz="9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THE BUILD</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itchFamily="34" charset="0"/>
                <a:ea typeface="Cambria" pitchFamily="34" charset="-122"/>
                <a:cs typeface="Cambria" pitchFamily="34" charset="-120"/>
              </a:rPr>
              <a:t>Hardware at a glance</a:t>
            </a:r>
            <a:endParaRPr lang="en-US" sz="3400" dirty="0"/>
          </a:p>
        </p:txBody>
      </p:sp>
      <p:sp>
        <p:nvSpPr>
          <p:cNvPr id="4" name="Shape 2"/>
          <p:cNvSpPr/>
          <p:nvPr/>
        </p:nvSpPr>
        <p:spPr>
          <a:xfrm>
            <a:off x="566928" y="1874520"/>
            <a:ext cx="3429000" cy="1417320"/>
          </a:xfrm>
          <a:prstGeom prst="roundRect">
            <a:avLst>
              <a:gd name="adj" fmla="val 5161"/>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5" name="Shape 3"/>
          <p:cNvSpPr/>
          <p:nvPr/>
        </p:nvSpPr>
        <p:spPr>
          <a:xfrm>
            <a:off x="822960" y="2130552"/>
            <a:ext cx="822960" cy="384048"/>
          </a:xfrm>
          <a:prstGeom prst="roundRect">
            <a:avLst>
              <a:gd name="adj" fmla="val 50000"/>
            </a:avLst>
          </a:prstGeom>
          <a:solidFill>
            <a:srgbClr val="E9F0EA"/>
          </a:solidFill>
          <a:ln/>
        </p:spPr>
      </p:sp>
      <p:sp>
        <p:nvSpPr>
          <p:cNvPr id="6" name="Text 4"/>
          <p:cNvSpPr/>
          <p:nvPr/>
        </p:nvSpPr>
        <p:spPr>
          <a:xfrm>
            <a:off x="822960" y="2130552"/>
            <a:ext cx="822960" cy="384048"/>
          </a:xfrm>
          <a:prstGeom prst="rect">
            <a:avLst/>
          </a:prstGeom>
          <a:noFill/>
          <a:ln/>
        </p:spPr>
        <p:txBody>
          <a:bodyPr wrap="square" rtlCol="0" anchor="ctr"/>
          <a:lstStyle/>
          <a:p>
            <a:pPr marL="0" indent="0" algn="ctr">
              <a:buNone/>
            </a:pPr>
            <a:r>
              <a:rPr lang="en-US" sz="1050" b="1" dirty="0">
                <a:solidFill>
                  <a:srgbClr val="2E6B4F"/>
                </a:solidFill>
                <a:latin typeface="Calibri" pitchFamily="34" charset="0"/>
                <a:ea typeface="Calibri" pitchFamily="34" charset="-122"/>
                <a:cs typeface="Calibri" pitchFamily="34" charset="-120"/>
              </a:rPr>
              <a:t>Airframe</a:t>
            </a:r>
            <a:endParaRPr lang="en-US" sz="1050" dirty="0"/>
          </a:p>
        </p:txBody>
      </p:sp>
      <p:sp>
        <p:nvSpPr>
          <p:cNvPr id="7" name="Text 5"/>
          <p:cNvSpPr/>
          <p:nvPr/>
        </p:nvSpPr>
        <p:spPr>
          <a:xfrm>
            <a:off x="822960" y="2587752"/>
            <a:ext cx="2971800" cy="365760"/>
          </a:xfrm>
          <a:prstGeom prst="rect">
            <a:avLst/>
          </a:prstGeom>
          <a:noFill/>
          <a:ln/>
        </p:spPr>
        <p:txBody>
          <a:bodyPr wrap="square" rtlCol="0" anchor="ctr"/>
          <a:lstStyle/>
          <a:p>
            <a:pPr marL="0" indent="0">
              <a:buNone/>
            </a:pPr>
            <a:r>
              <a:rPr lang="en-US" sz="1700" b="1" dirty="0">
                <a:solidFill>
                  <a:srgbClr val="17251E"/>
                </a:solidFill>
                <a:latin typeface="Cambria" pitchFamily="34" charset="0"/>
                <a:ea typeface="Cambria" pitchFamily="34" charset="-122"/>
                <a:cs typeface="Cambria" pitchFamily="34" charset="-120"/>
              </a:rPr>
              <a:t>DJI F450</a:t>
            </a:r>
            <a:endParaRPr lang="en-US" sz="1700" dirty="0"/>
          </a:p>
        </p:txBody>
      </p:sp>
      <p:sp>
        <p:nvSpPr>
          <p:cNvPr id="8" name="Text 6"/>
          <p:cNvSpPr/>
          <p:nvPr/>
        </p:nvSpPr>
        <p:spPr>
          <a:xfrm>
            <a:off x="822960" y="2935224"/>
            <a:ext cx="2971800" cy="310896"/>
          </a:xfrm>
          <a:prstGeom prst="rect">
            <a:avLst/>
          </a:prstGeom>
          <a:noFill/>
          <a:ln/>
        </p:spPr>
        <p:txBody>
          <a:bodyPr wrap="square" rtlCol="0" anchor="ctr"/>
          <a:lstStyle/>
          <a:p>
            <a:pPr marL="0" indent="0">
              <a:buNone/>
            </a:pPr>
            <a:r>
              <a:rPr lang="en-US" sz="1150" dirty="0">
                <a:solidFill>
                  <a:srgbClr val="6E8079"/>
                </a:solidFill>
                <a:latin typeface="Calibri" pitchFamily="34" charset="0"/>
                <a:ea typeface="Calibri" pitchFamily="34" charset="-122"/>
                <a:cs typeface="Calibri" pitchFamily="34" charset="-120"/>
              </a:rPr>
              <a:t>450 mm · glass-fibre arms</a:t>
            </a:r>
            <a:endParaRPr lang="en-US" sz="1150" dirty="0"/>
          </a:p>
        </p:txBody>
      </p:sp>
      <p:sp>
        <p:nvSpPr>
          <p:cNvPr id="9" name="Shape 7"/>
          <p:cNvSpPr/>
          <p:nvPr/>
        </p:nvSpPr>
        <p:spPr>
          <a:xfrm>
            <a:off x="4288536" y="1874520"/>
            <a:ext cx="3429000" cy="1417320"/>
          </a:xfrm>
          <a:prstGeom prst="roundRect">
            <a:avLst>
              <a:gd name="adj" fmla="val 5161"/>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10" name="Shape 8"/>
          <p:cNvSpPr/>
          <p:nvPr/>
        </p:nvSpPr>
        <p:spPr>
          <a:xfrm>
            <a:off x="4544568" y="2130552"/>
            <a:ext cx="822960" cy="384048"/>
          </a:xfrm>
          <a:prstGeom prst="roundRect">
            <a:avLst>
              <a:gd name="adj" fmla="val 50000"/>
            </a:avLst>
          </a:prstGeom>
          <a:solidFill>
            <a:srgbClr val="E9F0EA"/>
          </a:solidFill>
          <a:ln/>
        </p:spPr>
      </p:sp>
      <p:sp>
        <p:nvSpPr>
          <p:cNvPr id="11" name="Text 9"/>
          <p:cNvSpPr/>
          <p:nvPr/>
        </p:nvSpPr>
        <p:spPr>
          <a:xfrm>
            <a:off x="4544568" y="2130552"/>
            <a:ext cx="822960" cy="384048"/>
          </a:xfrm>
          <a:prstGeom prst="rect">
            <a:avLst/>
          </a:prstGeom>
          <a:noFill/>
          <a:ln/>
        </p:spPr>
        <p:txBody>
          <a:bodyPr wrap="square" rtlCol="0" anchor="ctr"/>
          <a:lstStyle/>
          <a:p>
            <a:pPr marL="0" indent="0" algn="ctr">
              <a:buNone/>
            </a:pPr>
            <a:r>
              <a:rPr lang="en-US" sz="1050" b="1" dirty="0">
                <a:solidFill>
                  <a:srgbClr val="2E6B4F"/>
                </a:solidFill>
                <a:latin typeface="Calibri" pitchFamily="34" charset="0"/>
                <a:ea typeface="Calibri" pitchFamily="34" charset="-122"/>
                <a:cs typeface="Calibri" pitchFamily="34" charset="-120"/>
              </a:rPr>
              <a:t>Motors</a:t>
            </a:r>
            <a:endParaRPr lang="en-US" sz="1050" dirty="0"/>
          </a:p>
        </p:txBody>
      </p:sp>
      <p:sp>
        <p:nvSpPr>
          <p:cNvPr id="12" name="Text 10"/>
          <p:cNvSpPr/>
          <p:nvPr/>
        </p:nvSpPr>
        <p:spPr>
          <a:xfrm>
            <a:off x="4544568" y="2587752"/>
            <a:ext cx="2971800" cy="365760"/>
          </a:xfrm>
          <a:prstGeom prst="rect">
            <a:avLst/>
          </a:prstGeom>
          <a:noFill/>
          <a:ln/>
        </p:spPr>
        <p:txBody>
          <a:bodyPr wrap="square" rtlCol="0" anchor="ctr"/>
          <a:lstStyle/>
          <a:p>
            <a:pPr marL="0" indent="0">
              <a:buNone/>
            </a:pPr>
            <a:r>
              <a:rPr lang="en-US" sz="1700" b="1" dirty="0">
                <a:solidFill>
                  <a:srgbClr val="17251E"/>
                </a:solidFill>
                <a:latin typeface="Cambria" pitchFamily="34" charset="0"/>
                <a:ea typeface="Cambria" pitchFamily="34" charset="-122"/>
                <a:cs typeface="Cambria" pitchFamily="34" charset="-120"/>
              </a:rPr>
              <a:t>2212 · 920 KV</a:t>
            </a:r>
            <a:endParaRPr lang="en-US" sz="1700" dirty="0"/>
          </a:p>
        </p:txBody>
      </p:sp>
      <p:sp>
        <p:nvSpPr>
          <p:cNvPr id="13" name="Text 11"/>
          <p:cNvSpPr/>
          <p:nvPr/>
        </p:nvSpPr>
        <p:spPr>
          <a:xfrm>
            <a:off x="4544568" y="2935224"/>
            <a:ext cx="2971800" cy="310896"/>
          </a:xfrm>
          <a:prstGeom prst="rect">
            <a:avLst/>
          </a:prstGeom>
          <a:noFill/>
          <a:ln/>
        </p:spPr>
        <p:txBody>
          <a:bodyPr wrap="square" rtlCol="0" anchor="ctr"/>
          <a:lstStyle/>
          <a:p>
            <a:pPr marL="0" indent="0">
              <a:buNone/>
            </a:pPr>
            <a:r>
              <a:rPr lang="en-US" sz="1150" dirty="0">
                <a:solidFill>
                  <a:srgbClr val="6E8079"/>
                </a:solidFill>
                <a:latin typeface="Calibri" pitchFamily="34" charset="0"/>
                <a:ea typeface="Calibri" pitchFamily="34" charset="-122"/>
                <a:cs typeface="Calibri" pitchFamily="34" charset="-120"/>
              </a:rPr>
              <a:t>brushless DC, ×4</a:t>
            </a:r>
            <a:endParaRPr lang="en-US" sz="1150" dirty="0"/>
          </a:p>
        </p:txBody>
      </p:sp>
      <p:sp>
        <p:nvSpPr>
          <p:cNvPr id="14" name="Shape 12"/>
          <p:cNvSpPr/>
          <p:nvPr/>
        </p:nvSpPr>
        <p:spPr>
          <a:xfrm>
            <a:off x="8010144" y="1874520"/>
            <a:ext cx="3429000" cy="1417320"/>
          </a:xfrm>
          <a:prstGeom prst="roundRect">
            <a:avLst>
              <a:gd name="adj" fmla="val 5161"/>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15" name="Shape 13"/>
          <p:cNvSpPr/>
          <p:nvPr/>
        </p:nvSpPr>
        <p:spPr>
          <a:xfrm>
            <a:off x="8266176" y="2130552"/>
            <a:ext cx="822960" cy="384048"/>
          </a:xfrm>
          <a:prstGeom prst="roundRect">
            <a:avLst>
              <a:gd name="adj" fmla="val 50000"/>
            </a:avLst>
          </a:prstGeom>
          <a:solidFill>
            <a:srgbClr val="E9F0EA"/>
          </a:solidFill>
          <a:ln/>
        </p:spPr>
      </p:sp>
      <p:sp>
        <p:nvSpPr>
          <p:cNvPr id="16" name="Text 14"/>
          <p:cNvSpPr/>
          <p:nvPr/>
        </p:nvSpPr>
        <p:spPr>
          <a:xfrm>
            <a:off x="8266176" y="2130552"/>
            <a:ext cx="822960" cy="384048"/>
          </a:xfrm>
          <a:prstGeom prst="rect">
            <a:avLst/>
          </a:prstGeom>
          <a:noFill/>
          <a:ln/>
        </p:spPr>
        <p:txBody>
          <a:bodyPr wrap="square" rtlCol="0" anchor="ctr"/>
          <a:lstStyle/>
          <a:p>
            <a:pPr marL="0" indent="0" algn="ctr">
              <a:buNone/>
            </a:pPr>
            <a:r>
              <a:rPr lang="en-US" sz="1050" b="1" dirty="0">
                <a:solidFill>
                  <a:srgbClr val="2E6B4F"/>
                </a:solidFill>
                <a:latin typeface="Calibri" pitchFamily="34" charset="0"/>
                <a:ea typeface="Calibri" pitchFamily="34" charset="-122"/>
                <a:cs typeface="Calibri" pitchFamily="34" charset="-120"/>
              </a:rPr>
              <a:t>ESCs</a:t>
            </a:r>
            <a:endParaRPr lang="en-US" sz="1050" dirty="0"/>
          </a:p>
        </p:txBody>
      </p:sp>
      <p:sp>
        <p:nvSpPr>
          <p:cNvPr id="17" name="Text 15"/>
          <p:cNvSpPr/>
          <p:nvPr/>
        </p:nvSpPr>
        <p:spPr>
          <a:xfrm>
            <a:off x="8266176" y="2587752"/>
            <a:ext cx="2971800" cy="365760"/>
          </a:xfrm>
          <a:prstGeom prst="rect">
            <a:avLst/>
          </a:prstGeom>
          <a:noFill/>
          <a:ln/>
        </p:spPr>
        <p:txBody>
          <a:bodyPr wrap="square" rtlCol="0" anchor="ctr"/>
          <a:lstStyle/>
          <a:p>
            <a:pPr marL="0" indent="0">
              <a:buNone/>
            </a:pPr>
            <a:r>
              <a:rPr lang="en-US" sz="1700" b="1" dirty="0">
                <a:solidFill>
                  <a:srgbClr val="17251E"/>
                </a:solidFill>
                <a:latin typeface="Cambria" pitchFamily="34" charset="0"/>
                <a:ea typeface="Cambria" pitchFamily="34" charset="-122"/>
                <a:cs typeface="Cambria" pitchFamily="34" charset="-120"/>
              </a:rPr>
              <a:t>30 A · BEC 5 V</a:t>
            </a:r>
            <a:endParaRPr lang="en-US" sz="1700" dirty="0"/>
          </a:p>
        </p:txBody>
      </p:sp>
      <p:sp>
        <p:nvSpPr>
          <p:cNvPr id="18" name="Text 16"/>
          <p:cNvSpPr/>
          <p:nvPr/>
        </p:nvSpPr>
        <p:spPr>
          <a:xfrm>
            <a:off x="8266176" y="2935224"/>
            <a:ext cx="2971800" cy="310896"/>
          </a:xfrm>
          <a:prstGeom prst="rect">
            <a:avLst/>
          </a:prstGeom>
          <a:noFill/>
          <a:ln/>
        </p:spPr>
        <p:txBody>
          <a:bodyPr wrap="square" rtlCol="0" anchor="ctr"/>
          <a:lstStyle/>
          <a:p>
            <a:pPr marL="0" indent="0">
              <a:buNone/>
            </a:pPr>
            <a:r>
              <a:rPr lang="en-US" sz="1150" dirty="0">
                <a:solidFill>
                  <a:srgbClr val="6E8079"/>
                </a:solidFill>
                <a:latin typeface="Calibri" pitchFamily="34" charset="0"/>
                <a:ea typeface="Calibri" pitchFamily="34" charset="-122"/>
                <a:cs typeface="Calibri" pitchFamily="34" charset="-120"/>
              </a:rPr>
              <a:t>PWM speed control, ×4</a:t>
            </a:r>
            <a:endParaRPr lang="en-US" sz="1150" dirty="0"/>
          </a:p>
        </p:txBody>
      </p:sp>
      <p:sp>
        <p:nvSpPr>
          <p:cNvPr id="19" name="Shape 17"/>
          <p:cNvSpPr/>
          <p:nvPr/>
        </p:nvSpPr>
        <p:spPr>
          <a:xfrm>
            <a:off x="566928" y="3566160"/>
            <a:ext cx="3429000" cy="1417320"/>
          </a:xfrm>
          <a:prstGeom prst="roundRect">
            <a:avLst>
              <a:gd name="adj" fmla="val 5161"/>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20" name="Shape 18"/>
          <p:cNvSpPr/>
          <p:nvPr/>
        </p:nvSpPr>
        <p:spPr>
          <a:xfrm>
            <a:off x="822960" y="3822192"/>
            <a:ext cx="822960" cy="384048"/>
          </a:xfrm>
          <a:prstGeom prst="roundRect">
            <a:avLst>
              <a:gd name="adj" fmla="val 50000"/>
            </a:avLst>
          </a:prstGeom>
          <a:solidFill>
            <a:srgbClr val="E9F0EA"/>
          </a:solidFill>
          <a:ln/>
        </p:spPr>
      </p:sp>
      <p:sp>
        <p:nvSpPr>
          <p:cNvPr id="21" name="Text 19"/>
          <p:cNvSpPr/>
          <p:nvPr/>
        </p:nvSpPr>
        <p:spPr>
          <a:xfrm>
            <a:off x="822960" y="3822192"/>
            <a:ext cx="822960" cy="384048"/>
          </a:xfrm>
          <a:prstGeom prst="rect">
            <a:avLst/>
          </a:prstGeom>
          <a:noFill/>
          <a:ln/>
        </p:spPr>
        <p:txBody>
          <a:bodyPr wrap="square" rtlCol="0" anchor="ctr"/>
          <a:lstStyle/>
          <a:p>
            <a:pPr marL="0" indent="0" algn="ctr">
              <a:buNone/>
            </a:pPr>
            <a:r>
              <a:rPr lang="en-US" sz="1050" b="1" dirty="0">
                <a:solidFill>
                  <a:srgbClr val="2E6B4F"/>
                </a:solidFill>
                <a:latin typeface="Calibri" pitchFamily="34" charset="0"/>
                <a:ea typeface="Calibri" pitchFamily="34" charset="-122"/>
                <a:cs typeface="Calibri" pitchFamily="34" charset="-120"/>
              </a:rPr>
              <a:t>Battery</a:t>
            </a:r>
            <a:endParaRPr lang="en-US" sz="1050" dirty="0"/>
          </a:p>
        </p:txBody>
      </p:sp>
      <p:sp>
        <p:nvSpPr>
          <p:cNvPr id="22" name="Text 20"/>
          <p:cNvSpPr/>
          <p:nvPr/>
        </p:nvSpPr>
        <p:spPr>
          <a:xfrm>
            <a:off x="822960" y="4279392"/>
            <a:ext cx="2971800" cy="365760"/>
          </a:xfrm>
          <a:prstGeom prst="rect">
            <a:avLst/>
          </a:prstGeom>
          <a:noFill/>
          <a:ln/>
        </p:spPr>
        <p:txBody>
          <a:bodyPr wrap="square" rtlCol="0" anchor="ctr"/>
          <a:lstStyle/>
          <a:p>
            <a:pPr marL="0" indent="0">
              <a:buNone/>
            </a:pPr>
            <a:r>
              <a:rPr lang="en-US" sz="1700" b="1" dirty="0">
                <a:solidFill>
                  <a:srgbClr val="17251E"/>
                </a:solidFill>
                <a:latin typeface="Cambria" pitchFamily="34" charset="0"/>
                <a:ea typeface="Cambria" pitchFamily="34" charset="-122"/>
                <a:cs typeface="Cambria" pitchFamily="34" charset="-120"/>
              </a:rPr>
              <a:t>3S LiPo · 11.1 V</a:t>
            </a:r>
            <a:endParaRPr lang="en-US" sz="1700" dirty="0"/>
          </a:p>
        </p:txBody>
      </p:sp>
      <p:sp>
        <p:nvSpPr>
          <p:cNvPr id="23" name="Text 21"/>
          <p:cNvSpPr/>
          <p:nvPr/>
        </p:nvSpPr>
        <p:spPr>
          <a:xfrm>
            <a:off x="822960" y="4626864"/>
            <a:ext cx="2971800" cy="310896"/>
          </a:xfrm>
          <a:prstGeom prst="rect">
            <a:avLst/>
          </a:prstGeom>
          <a:noFill/>
          <a:ln/>
        </p:spPr>
        <p:txBody>
          <a:bodyPr wrap="square" rtlCol="0" anchor="ctr"/>
          <a:lstStyle/>
          <a:p>
            <a:pPr marL="0" indent="0">
              <a:buNone/>
            </a:pPr>
            <a:r>
              <a:rPr lang="en-US" sz="1150" dirty="0">
                <a:solidFill>
                  <a:srgbClr val="6E8079"/>
                </a:solidFill>
                <a:latin typeface="Calibri" pitchFamily="34" charset="0"/>
                <a:ea typeface="Calibri" pitchFamily="34" charset="-122"/>
                <a:cs typeface="Calibri" pitchFamily="34" charset="-120"/>
              </a:rPr>
              <a:t>≈ 66 A delivery</a:t>
            </a:r>
            <a:endParaRPr lang="en-US" sz="1150" dirty="0"/>
          </a:p>
        </p:txBody>
      </p:sp>
      <p:sp>
        <p:nvSpPr>
          <p:cNvPr id="24" name="Shape 22"/>
          <p:cNvSpPr/>
          <p:nvPr/>
        </p:nvSpPr>
        <p:spPr>
          <a:xfrm>
            <a:off x="4288536" y="3566160"/>
            <a:ext cx="3429000" cy="1417320"/>
          </a:xfrm>
          <a:prstGeom prst="roundRect">
            <a:avLst>
              <a:gd name="adj" fmla="val 5161"/>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25" name="Shape 23"/>
          <p:cNvSpPr/>
          <p:nvPr/>
        </p:nvSpPr>
        <p:spPr>
          <a:xfrm>
            <a:off x="4544568" y="3822192"/>
            <a:ext cx="822960" cy="384048"/>
          </a:xfrm>
          <a:prstGeom prst="roundRect">
            <a:avLst>
              <a:gd name="adj" fmla="val 50000"/>
            </a:avLst>
          </a:prstGeom>
          <a:solidFill>
            <a:srgbClr val="E9F0EA"/>
          </a:solidFill>
          <a:ln/>
        </p:spPr>
      </p:sp>
      <p:sp>
        <p:nvSpPr>
          <p:cNvPr id="26" name="Text 24"/>
          <p:cNvSpPr/>
          <p:nvPr/>
        </p:nvSpPr>
        <p:spPr>
          <a:xfrm>
            <a:off x="4544568" y="3822192"/>
            <a:ext cx="822960" cy="384048"/>
          </a:xfrm>
          <a:prstGeom prst="rect">
            <a:avLst/>
          </a:prstGeom>
          <a:noFill/>
          <a:ln/>
        </p:spPr>
        <p:txBody>
          <a:bodyPr wrap="square" rtlCol="0" anchor="ctr"/>
          <a:lstStyle/>
          <a:p>
            <a:pPr marL="0" indent="0" algn="ctr">
              <a:buNone/>
            </a:pPr>
            <a:r>
              <a:rPr lang="en-US" sz="1050" b="1" dirty="0">
                <a:solidFill>
                  <a:srgbClr val="2E6B4F"/>
                </a:solidFill>
                <a:latin typeface="Calibri" pitchFamily="34" charset="0"/>
                <a:ea typeface="Calibri" pitchFamily="34" charset="-122"/>
                <a:cs typeface="Calibri" pitchFamily="34" charset="-120"/>
              </a:rPr>
              <a:t>IMU</a:t>
            </a:r>
            <a:endParaRPr lang="en-US" sz="1050" dirty="0"/>
          </a:p>
        </p:txBody>
      </p:sp>
      <p:sp>
        <p:nvSpPr>
          <p:cNvPr id="27" name="Text 25"/>
          <p:cNvSpPr/>
          <p:nvPr/>
        </p:nvSpPr>
        <p:spPr>
          <a:xfrm>
            <a:off x="4544568" y="4279392"/>
            <a:ext cx="2971800" cy="365760"/>
          </a:xfrm>
          <a:prstGeom prst="rect">
            <a:avLst/>
          </a:prstGeom>
          <a:noFill/>
          <a:ln/>
        </p:spPr>
        <p:txBody>
          <a:bodyPr wrap="square" rtlCol="0" anchor="ctr"/>
          <a:lstStyle/>
          <a:p>
            <a:pPr marL="0" indent="0">
              <a:buNone/>
            </a:pPr>
            <a:r>
              <a:rPr lang="en-US" sz="1700" b="1" dirty="0">
                <a:solidFill>
                  <a:srgbClr val="17251E"/>
                </a:solidFill>
                <a:latin typeface="Cambria" pitchFamily="34" charset="0"/>
                <a:ea typeface="Cambria" pitchFamily="34" charset="-122"/>
                <a:cs typeface="Cambria" pitchFamily="34" charset="-120"/>
              </a:rPr>
              <a:t>ICM-20948</a:t>
            </a:r>
            <a:endParaRPr lang="en-US" sz="1700" dirty="0"/>
          </a:p>
        </p:txBody>
      </p:sp>
      <p:sp>
        <p:nvSpPr>
          <p:cNvPr id="28" name="Text 26"/>
          <p:cNvSpPr/>
          <p:nvPr/>
        </p:nvSpPr>
        <p:spPr>
          <a:xfrm>
            <a:off x="4544568" y="4626864"/>
            <a:ext cx="2971800" cy="310896"/>
          </a:xfrm>
          <a:prstGeom prst="rect">
            <a:avLst/>
          </a:prstGeom>
          <a:noFill/>
          <a:ln/>
        </p:spPr>
        <p:txBody>
          <a:bodyPr wrap="square" rtlCol="0" anchor="ctr"/>
          <a:lstStyle/>
          <a:p>
            <a:pPr marL="0" indent="0">
              <a:buNone/>
            </a:pPr>
            <a:r>
              <a:rPr lang="en-US" sz="1150" dirty="0">
                <a:solidFill>
                  <a:srgbClr val="6E8079"/>
                </a:solidFill>
                <a:latin typeface="Calibri" pitchFamily="34" charset="0"/>
                <a:ea typeface="Calibri" pitchFamily="34" charset="-122"/>
                <a:cs typeface="Calibri" pitchFamily="34" charset="-120"/>
              </a:rPr>
              <a:t>9-axis · SPI</a:t>
            </a:r>
            <a:endParaRPr lang="en-US" sz="1150" dirty="0"/>
          </a:p>
        </p:txBody>
      </p:sp>
      <p:sp>
        <p:nvSpPr>
          <p:cNvPr id="29" name="Shape 27"/>
          <p:cNvSpPr/>
          <p:nvPr/>
        </p:nvSpPr>
        <p:spPr>
          <a:xfrm>
            <a:off x="8010144" y="3566160"/>
            <a:ext cx="3429000" cy="1417320"/>
          </a:xfrm>
          <a:prstGeom prst="roundRect">
            <a:avLst>
              <a:gd name="adj" fmla="val 5161"/>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30" name="Shape 28"/>
          <p:cNvSpPr/>
          <p:nvPr/>
        </p:nvSpPr>
        <p:spPr>
          <a:xfrm>
            <a:off x="8266176" y="3822192"/>
            <a:ext cx="822960" cy="384048"/>
          </a:xfrm>
          <a:prstGeom prst="roundRect">
            <a:avLst>
              <a:gd name="adj" fmla="val 50000"/>
            </a:avLst>
          </a:prstGeom>
          <a:solidFill>
            <a:srgbClr val="E9F0EA"/>
          </a:solidFill>
          <a:ln/>
        </p:spPr>
      </p:sp>
      <p:sp>
        <p:nvSpPr>
          <p:cNvPr id="31" name="Text 29"/>
          <p:cNvSpPr/>
          <p:nvPr/>
        </p:nvSpPr>
        <p:spPr>
          <a:xfrm>
            <a:off x="8266176" y="3822192"/>
            <a:ext cx="822960" cy="384048"/>
          </a:xfrm>
          <a:prstGeom prst="rect">
            <a:avLst/>
          </a:prstGeom>
          <a:noFill/>
          <a:ln/>
        </p:spPr>
        <p:txBody>
          <a:bodyPr wrap="square" rtlCol="0" anchor="ctr"/>
          <a:lstStyle/>
          <a:p>
            <a:pPr marL="0" indent="0" algn="ctr">
              <a:buNone/>
            </a:pPr>
            <a:r>
              <a:rPr lang="en-US" sz="1050" b="1" dirty="0">
                <a:solidFill>
                  <a:srgbClr val="2E6B4F"/>
                </a:solidFill>
                <a:latin typeface="Calibri" pitchFamily="34" charset="0"/>
                <a:ea typeface="Calibri" pitchFamily="34" charset="-122"/>
                <a:cs typeface="Calibri" pitchFamily="34" charset="-120"/>
              </a:rPr>
              <a:t>Controller</a:t>
            </a:r>
            <a:endParaRPr lang="en-US" sz="1050" dirty="0"/>
          </a:p>
        </p:txBody>
      </p:sp>
      <p:sp>
        <p:nvSpPr>
          <p:cNvPr id="32" name="Text 30"/>
          <p:cNvSpPr/>
          <p:nvPr/>
        </p:nvSpPr>
        <p:spPr>
          <a:xfrm>
            <a:off x="8266176" y="4279392"/>
            <a:ext cx="2971800" cy="365760"/>
          </a:xfrm>
          <a:prstGeom prst="rect">
            <a:avLst/>
          </a:prstGeom>
          <a:noFill/>
          <a:ln/>
        </p:spPr>
        <p:txBody>
          <a:bodyPr wrap="square" rtlCol="0" anchor="ctr"/>
          <a:lstStyle/>
          <a:p>
            <a:pPr marL="0" indent="0">
              <a:buNone/>
            </a:pPr>
            <a:r>
              <a:rPr lang="en-US" sz="1700" b="1" dirty="0">
                <a:solidFill>
                  <a:srgbClr val="17251E"/>
                </a:solidFill>
                <a:latin typeface="Cambria" pitchFamily="34" charset="0"/>
                <a:ea typeface="Cambria" pitchFamily="34" charset="-122"/>
                <a:cs typeface="Cambria" pitchFamily="34" charset="-120"/>
              </a:rPr>
              <a:t>STM32F411 (Black Pill)</a:t>
            </a:r>
            <a:endParaRPr lang="en-US" sz="1700" dirty="0"/>
          </a:p>
        </p:txBody>
      </p:sp>
      <p:sp>
        <p:nvSpPr>
          <p:cNvPr id="33" name="Text 31"/>
          <p:cNvSpPr/>
          <p:nvPr/>
        </p:nvSpPr>
        <p:spPr>
          <a:xfrm>
            <a:off x="8266176" y="4626864"/>
            <a:ext cx="2971800" cy="310896"/>
          </a:xfrm>
          <a:prstGeom prst="rect">
            <a:avLst/>
          </a:prstGeom>
          <a:noFill/>
          <a:ln/>
        </p:spPr>
        <p:txBody>
          <a:bodyPr wrap="square" rtlCol="0" anchor="ctr"/>
          <a:lstStyle/>
          <a:p>
            <a:pPr marL="0" indent="0">
              <a:buNone/>
            </a:pPr>
            <a:r>
              <a:rPr lang="en-US" sz="1150" dirty="0">
                <a:solidFill>
                  <a:srgbClr val="6E8079"/>
                </a:solidFill>
                <a:latin typeface="Calibri" pitchFamily="34" charset="0"/>
                <a:ea typeface="Calibri" pitchFamily="34" charset="-122"/>
                <a:cs typeface="Calibri" pitchFamily="34" charset="-120"/>
              </a:rPr>
              <a:t>Cortex-M4 · 100 MHz · FPU</a:t>
            </a:r>
            <a:endParaRPr lang="en-US" sz="1150" dirty="0"/>
          </a:p>
        </p:txBody>
      </p:sp>
      <p:sp>
        <p:nvSpPr>
          <p:cNvPr id="34" name="Text 32"/>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libri" pitchFamily="34" charset="0"/>
                <a:ea typeface="Calibri" pitchFamily="34" charset="-122"/>
                <a:cs typeface="Calibri" pitchFamily="34" charset="-120"/>
              </a:rPr>
              <a:t>Sántha Zsolt  ·  Quadcopter flight-control system</a:t>
            </a:r>
            <a:endParaRPr lang="en-US" sz="900" dirty="0"/>
          </a:p>
        </p:txBody>
      </p:sp>
      <p:sp>
        <p:nvSpPr>
          <p:cNvPr id="35" name="Text 33"/>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mbria" panose="02040503050406030204" pitchFamily="18" charset="0"/>
                <a:ea typeface="Cambria" panose="02040503050406030204" pitchFamily="18" charset="0"/>
                <a:cs typeface="Calibri" pitchFamily="34" charset="-120"/>
              </a:rPr>
              <a:t>SYSTEM </a:t>
            </a:r>
            <a:r>
              <a:rPr lang="en-US" sz="1300" b="1" kern="0" spc="300" dirty="0" smtClean="0">
                <a:solidFill>
                  <a:srgbClr val="E8B23A"/>
                </a:solidFill>
                <a:latin typeface="Cambria" panose="02040503050406030204" pitchFamily="18" charset="0"/>
                <a:ea typeface="Cambria" panose="02040503050406030204" pitchFamily="18" charset="0"/>
                <a:cs typeface="Calibri" pitchFamily="34" charset="-120"/>
              </a:rPr>
              <a:t>OVERVIEW</a:t>
            </a:r>
            <a:endParaRPr lang="en-US" sz="1300" dirty="0">
              <a:latin typeface="Cambria" panose="02040503050406030204" pitchFamily="18" charset="0"/>
              <a:ea typeface="Cambria" panose="02040503050406030204" pitchFamily="18" charset="0"/>
            </a:endParaRPr>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anose="02040503050406030204" pitchFamily="18" charset="0"/>
                <a:ea typeface="Cambria" panose="02040503050406030204" pitchFamily="18" charset="0"/>
                <a:cs typeface="Cambria" pitchFamily="34" charset="-120"/>
              </a:rPr>
              <a:t>How the pieces fit together</a:t>
            </a:r>
            <a:endParaRPr lang="en-US" sz="3400" dirty="0">
              <a:latin typeface="Cambria" panose="02040503050406030204" pitchFamily="18" charset="0"/>
              <a:ea typeface="Cambria" panose="02040503050406030204" pitchFamily="18" charset="0"/>
            </a:endParaRPr>
          </a:p>
        </p:txBody>
      </p:sp>
      <p:sp>
        <p:nvSpPr>
          <p:cNvPr id="4" name="Shape 2"/>
          <p:cNvSpPr/>
          <p:nvPr/>
        </p:nvSpPr>
        <p:spPr>
          <a:xfrm>
            <a:off x="4846320" y="3246120"/>
            <a:ext cx="2468880" cy="1371600"/>
          </a:xfrm>
          <a:prstGeom prst="roundRect">
            <a:avLst>
              <a:gd name="adj" fmla="val 4000"/>
            </a:avLst>
          </a:prstGeom>
          <a:solidFill>
            <a:srgbClr val="2E6B4F"/>
          </a:solidFill>
          <a:ln w="12700">
            <a:solidFill>
              <a:srgbClr val="D6DED8"/>
            </a:solidFill>
            <a:prstDash val="solid"/>
          </a:ln>
        </p:spPr>
      </p:sp>
      <p:sp>
        <p:nvSpPr>
          <p:cNvPr id="5" name="Text 3"/>
          <p:cNvSpPr/>
          <p:nvPr/>
        </p:nvSpPr>
        <p:spPr>
          <a:xfrm>
            <a:off x="4846320" y="3300984"/>
            <a:ext cx="2468880" cy="822960"/>
          </a:xfrm>
          <a:prstGeom prst="rect">
            <a:avLst/>
          </a:prstGeom>
          <a:noFill/>
          <a:ln/>
        </p:spPr>
        <p:txBody>
          <a:bodyPr wrap="square" rtlCol="0" anchor="ctr"/>
          <a:lstStyle/>
          <a:p>
            <a:pPr marL="0" indent="0" algn="ctr">
              <a:buNone/>
            </a:pPr>
            <a:r>
              <a:rPr lang="en-US" sz="1350" b="1" dirty="0">
                <a:solidFill>
                  <a:srgbClr val="FFFFFF"/>
                </a:solidFill>
                <a:latin typeface="Cambria" panose="02040503050406030204" pitchFamily="18" charset="0"/>
                <a:ea typeface="Cambria" panose="02040503050406030204" pitchFamily="18" charset="0"/>
                <a:cs typeface="Calibri" pitchFamily="34" charset="-120"/>
              </a:rPr>
              <a:t>STM32F411</a:t>
            </a:r>
            <a:endParaRPr lang="en-US" sz="1350" dirty="0">
              <a:latin typeface="Cambria" panose="02040503050406030204" pitchFamily="18" charset="0"/>
              <a:ea typeface="Cambria" panose="02040503050406030204" pitchFamily="18" charset="0"/>
            </a:endParaRPr>
          </a:p>
        </p:txBody>
      </p:sp>
      <p:sp>
        <p:nvSpPr>
          <p:cNvPr id="6" name="Text 4"/>
          <p:cNvSpPr/>
          <p:nvPr/>
        </p:nvSpPr>
        <p:spPr>
          <a:xfrm>
            <a:off x="4846320" y="3959352"/>
            <a:ext cx="2468880" cy="576072"/>
          </a:xfrm>
          <a:prstGeom prst="rect">
            <a:avLst/>
          </a:prstGeom>
          <a:noFill/>
          <a:ln/>
        </p:spPr>
        <p:txBody>
          <a:bodyPr wrap="square" rtlCol="0" anchor="ctr"/>
          <a:lstStyle/>
          <a:p>
            <a:pPr marL="0" indent="0" algn="ctr">
              <a:buNone/>
            </a:pPr>
            <a:r>
              <a:rPr lang="en-US" sz="1050" dirty="0">
                <a:solidFill>
                  <a:srgbClr val="FFFFFF"/>
                </a:solidFill>
                <a:latin typeface="Cambria" panose="02040503050406030204" pitchFamily="18" charset="0"/>
                <a:ea typeface="Cambria" panose="02040503050406030204" pitchFamily="18" charset="0"/>
                <a:cs typeface="Calibri" pitchFamily="34" charset="-120"/>
              </a:rPr>
              <a:t>Flight controller</a:t>
            </a:r>
            <a:endParaRPr lang="en-US" sz="1050" dirty="0">
              <a:latin typeface="Cambria" panose="02040503050406030204" pitchFamily="18" charset="0"/>
              <a:ea typeface="Cambria" panose="02040503050406030204" pitchFamily="18" charset="0"/>
            </a:endParaRPr>
          </a:p>
        </p:txBody>
      </p:sp>
      <p:sp>
        <p:nvSpPr>
          <p:cNvPr id="7" name="Shape 5"/>
          <p:cNvSpPr/>
          <p:nvPr/>
        </p:nvSpPr>
        <p:spPr>
          <a:xfrm>
            <a:off x="822960" y="1874520"/>
            <a:ext cx="2468880" cy="914400"/>
          </a:xfrm>
          <a:prstGeom prst="roundRect">
            <a:avLst>
              <a:gd name="adj" fmla="val 6000"/>
            </a:avLst>
          </a:prstGeom>
          <a:solidFill>
            <a:srgbClr val="FFFFFF"/>
          </a:solidFill>
          <a:ln w="12700">
            <a:solidFill>
              <a:srgbClr val="D6DED8"/>
            </a:solidFill>
            <a:prstDash val="solid"/>
          </a:ln>
        </p:spPr>
      </p:sp>
      <p:sp>
        <p:nvSpPr>
          <p:cNvPr id="8" name="Text 6"/>
          <p:cNvSpPr/>
          <p:nvPr/>
        </p:nvSpPr>
        <p:spPr>
          <a:xfrm>
            <a:off x="822960" y="1929384"/>
            <a:ext cx="2468880" cy="548640"/>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ICM-20948 IMU</a:t>
            </a:r>
            <a:endParaRPr lang="en-US" sz="1350" dirty="0">
              <a:latin typeface="Cambria" panose="02040503050406030204" pitchFamily="18" charset="0"/>
              <a:ea typeface="Cambria" panose="02040503050406030204" pitchFamily="18" charset="0"/>
            </a:endParaRPr>
          </a:p>
        </p:txBody>
      </p:sp>
      <p:sp>
        <p:nvSpPr>
          <p:cNvPr id="9" name="Text 7"/>
          <p:cNvSpPr/>
          <p:nvPr/>
        </p:nvSpPr>
        <p:spPr>
          <a:xfrm>
            <a:off x="822960" y="2350008"/>
            <a:ext cx="2468880" cy="384048"/>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gyro · accel · mag</a:t>
            </a:r>
            <a:endParaRPr lang="en-US" sz="1050" dirty="0">
              <a:latin typeface="Cambria" panose="02040503050406030204" pitchFamily="18" charset="0"/>
              <a:ea typeface="Cambria" panose="02040503050406030204" pitchFamily="18" charset="0"/>
            </a:endParaRPr>
          </a:p>
        </p:txBody>
      </p:sp>
      <p:sp>
        <p:nvSpPr>
          <p:cNvPr id="10" name="Shape 8"/>
          <p:cNvSpPr/>
          <p:nvPr/>
        </p:nvSpPr>
        <p:spPr>
          <a:xfrm>
            <a:off x="822960" y="3246120"/>
            <a:ext cx="2468880" cy="914400"/>
          </a:xfrm>
          <a:prstGeom prst="roundRect">
            <a:avLst>
              <a:gd name="adj" fmla="val 6000"/>
            </a:avLst>
          </a:prstGeom>
          <a:solidFill>
            <a:srgbClr val="FFFFFF"/>
          </a:solidFill>
          <a:ln w="12700">
            <a:solidFill>
              <a:srgbClr val="D6DED8"/>
            </a:solidFill>
            <a:prstDash val="solid"/>
          </a:ln>
        </p:spPr>
      </p:sp>
      <p:sp>
        <p:nvSpPr>
          <p:cNvPr id="11" name="Text 9"/>
          <p:cNvSpPr/>
          <p:nvPr/>
        </p:nvSpPr>
        <p:spPr>
          <a:xfrm>
            <a:off x="822960" y="3300984"/>
            <a:ext cx="2468880" cy="548640"/>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FlySky receiver</a:t>
            </a:r>
            <a:endParaRPr lang="en-US" sz="1350" dirty="0">
              <a:latin typeface="Cambria" panose="02040503050406030204" pitchFamily="18" charset="0"/>
              <a:ea typeface="Cambria" panose="02040503050406030204" pitchFamily="18" charset="0"/>
            </a:endParaRPr>
          </a:p>
        </p:txBody>
      </p:sp>
      <p:sp>
        <p:nvSpPr>
          <p:cNvPr id="12" name="Text 10"/>
          <p:cNvSpPr/>
          <p:nvPr/>
        </p:nvSpPr>
        <p:spPr>
          <a:xfrm>
            <a:off x="822960" y="3721608"/>
            <a:ext cx="2468880" cy="384048"/>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6-ch radio · IBUS</a:t>
            </a:r>
            <a:endParaRPr lang="en-US" sz="1050" dirty="0">
              <a:latin typeface="Cambria" panose="02040503050406030204" pitchFamily="18" charset="0"/>
              <a:ea typeface="Cambria" panose="02040503050406030204" pitchFamily="18" charset="0"/>
            </a:endParaRPr>
          </a:p>
        </p:txBody>
      </p:sp>
      <p:sp>
        <p:nvSpPr>
          <p:cNvPr id="13" name="Shape 11"/>
          <p:cNvSpPr/>
          <p:nvPr/>
        </p:nvSpPr>
        <p:spPr>
          <a:xfrm>
            <a:off x="822960" y="4617720"/>
            <a:ext cx="2468880" cy="914400"/>
          </a:xfrm>
          <a:prstGeom prst="roundRect">
            <a:avLst>
              <a:gd name="adj" fmla="val 6000"/>
            </a:avLst>
          </a:prstGeom>
          <a:solidFill>
            <a:srgbClr val="FFFFFF"/>
          </a:solidFill>
          <a:ln w="12700">
            <a:solidFill>
              <a:srgbClr val="D6DED8"/>
            </a:solidFill>
            <a:prstDash val="solid"/>
          </a:ln>
        </p:spPr>
      </p:sp>
      <p:sp>
        <p:nvSpPr>
          <p:cNvPr id="14" name="Text 12"/>
          <p:cNvSpPr/>
          <p:nvPr/>
        </p:nvSpPr>
        <p:spPr>
          <a:xfrm>
            <a:off x="822960" y="4672584"/>
            <a:ext cx="2468880" cy="548640"/>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3S LiPo</a:t>
            </a:r>
            <a:endParaRPr lang="en-US" sz="1350" dirty="0">
              <a:latin typeface="Cambria" panose="02040503050406030204" pitchFamily="18" charset="0"/>
              <a:ea typeface="Cambria" panose="02040503050406030204" pitchFamily="18" charset="0"/>
            </a:endParaRPr>
          </a:p>
        </p:txBody>
      </p:sp>
      <p:sp>
        <p:nvSpPr>
          <p:cNvPr id="15" name="Text 13"/>
          <p:cNvSpPr/>
          <p:nvPr/>
        </p:nvSpPr>
        <p:spPr>
          <a:xfrm>
            <a:off x="822960" y="5093208"/>
            <a:ext cx="2468880" cy="384048"/>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11.1 V power</a:t>
            </a:r>
            <a:endParaRPr lang="en-US" sz="1050" dirty="0">
              <a:latin typeface="Cambria" panose="02040503050406030204" pitchFamily="18" charset="0"/>
              <a:ea typeface="Cambria" panose="02040503050406030204" pitchFamily="18" charset="0"/>
            </a:endParaRPr>
          </a:p>
        </p:txBody>
      </p:sp>
      <p:sp>
        <p:nvSpPr>
          <p:cNvPr id="16" name="Shape 14"/>
          <p:cNvSpPr/>
          <p:nvPr/>
        </p:nvSpPr>
        <p:spPr>
          <a:xfrm>
            <a:off x="3291840" y="2331720"/>
            <a:ext cx="1554480" cy="1280160"/>
          </a:xfrm>
          <a:prstGeom prst="line">
            <a:avLst/>
          </a:prstGeom>
          <a:noFill/>
          <a:ln w="28575">
            <a:solidFill>
              <a:srgbClr val="2E6B4F"/>
            </a:solidFill>
            <a:prstDash val="solid"/>
            <a:tailEnd type="triangle"/>
          </a:ln>
        </p:spPr>
      </p:sp>
      <p:sp>
        <p:nvSpPr>
          <p:cNvPr id="17" name="Shape 15"/>
          <p:cNvSpPr/>
          <p:nvPr/>
        </p:nvSpPr>
        <p:spPr>
          <a:xfrm>
            <a:off x="3291840" y="3703320"/>
            <a:ext cx="1554480" cy="228600"/>
          </a:xfrm>
          <a:prstGeom prst="line">
            <a:avLst/>
          </a:prstGeom>
          <a:noFill/>
          <a:ln w="28575">
            <a:solidFill>
              <a:srgbClr val="2E6B4F"/>
            </a:solidFill>
            <a:prstDash val="solid"/>
            <a:tailEnd type="triangle"/>
          </a:ln>
        </p:spPr>
      </p:sp>
      <p:sp>
        <p:nvSpPr>
          <p:cNvPr id="19" name="Shape 17"/>
          <p:cNvSpPr/>
          <p:nvPr/>
        </p:nvSpPr>
        <p:spPr>
          <a:xfrm>
            <a:off x="4206240" y="5074920"/>
            <a:ext cx="0" cy="0"/>
          </a:xfrm>
          <a:prstGeom prst="line">
            <a:avLst/>
          </a:prstGeom>
          <a:noFill/>
          <a:ln w="25400">
            <a:solidFill>
              <a:srgbClr val="7FA98C"/>
            </a:solidFill>
            <a:prstDash val="solid"/>
          </a:ln>
        </p:spPr>
      </p:sp>
      <p:sp>
        <p:nvSpPr>
          <p:cNvPr id="20" name="Shape 18"/>
          <p:cNvSpPr/>
          <p:nvPr/>
        </p:nvSpPr>
        <p:spPr>
          <a:xfrm flipV="1">
            <a:off x="4276724" y="4347210"/>
            <a:ext cx="569595" cy="288798"/>
          </a:xfrm>
          <a:prstGeom prst="line">
            <a:avLst/>
          </a:prstGeom>
          <a:noFill/>
          <a:ln w="28575">
            <a:solidFill>
              <a:srgbClr val="7FA98C"/>
            </a:solidFill>
            <a:prstDash val="solid"/>
            <a:tailEnd type="triangle"/>
          </a:ln>
        </p:spPr>
      </p:sp>
      <p:sp>
        <p:nvSpPr>
          <p:cNvPr id="21" name="Shape 19"/>
          <p:cNvSpPr/>
          <p:nvPr/>
        </p:nvSpPr>
        <p:spPr>
          <a:xfrm>
            <a:off x="8869680" y="2331720"/>
            <a:ext cx="2468880" cy="914400"/>
          </a:xfrm>
          <a:prstGeom prst="roundRect">
            <a:avLst>
              <a:gd name="adj" fmla="val 6000"/>
            </a:avLst>
          </a:prstGeom>
          <a:solidFill>
            <a:srgbClr val="FFFFFF"/>
          </a:solidFill>
          <a:ln w="12700">
            <a:solidFill>
              <a:srgbClr val="D6DED8"/>
            </a:solidFill>
            <a:prstDash val="solid"/>
          </a:ln>
        </p:spPr>
      </p:sp>
      <p:sp>
        <p:nvSpPr>
          <p:cNvPr id="22" name="Text 20"/>
          <p:cNvSpPr/>
          <p:nvPr/>
        </p:nvSpPr>
        <p:spPr>
          <a:xfrm>
            <a:off x="8869680" y="2386584"/>
            <a:ext cx="2468880" cy="548640"/>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4 × ESC</a:t>
            </a:r>
            <a:endParaRPr lang="en-US" sz="1350" dirty="0">
              <a:latin typeface="Cambria" panose="02040503050406030204" pitchFamily="18" charset="0"/>
              <a:ea typeface="Cambria" panose="02040503050406030204" pitchFamily="18" charset="0"/>
            </a:endParaRPr>
          </a:p>
        </p:txBody>
      </p:sp>
      <p:sp>
        <p:nvSpPr>
          <p:cNvPr id="23" name="Text 21"/>
          <p:cNvSpPr/>
          <p:nvPr/>
        </p:nvSpPr>
        <p:spPr>
          <a:xfrm>
            <a:off x="8869680" y="2807208"/>
            <a:ext cx="2468880" cy="384048"/>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30 A each</a:t>
            </a:r>
            <a:endParaRPr lang="en-US" sz="1050" dirty="0">
              <a:latin typeface="Cambria" panose="02040503050406030204" pitchFamily="18" charset="0"/>
              <a:ea typeface="Cambria" panose="02040503050406030204" pitchFamily="18" charset="0"/>
            </a:endParaRPr>
          </a:p>
        </p:txBody>
      </p:sp>
      <p:sp>
        <p:nvSpPr>
          <p:cNvPr id="24" name="Shape 22"/>
          <p:cNvSpPr/>
          <p:nvPr/>
        </p:nvSpPr>
        <p:spPr>
          <a:xfrm>
            <a:off x="8869680" y="4160520"/>
            <a:ext cx="2468880" cy="914400"/>
          </a:xfrm>
          <a:prstGeom prst="roundRect">
            <a:avLst>
              <a:gd name="adj" fmla="val 6000"/>
            </a:avLst>
          </a:prstGeom>
          <a:solidFill>
            <a:srgbClr val="FFFFFF"/>
          </a:solidFill>
          <a:ln w="12700">
            <a:solidFill>
              <a:srgbClr val="D6DED8"/>
            </a:solidFill>
            <a:prstDash val="solid"/>
          </a:ln>
        </p:spPr>
      </p:sp>
      <p:sp>
        <p:nvSpPr>
          <p:cNvPr id="25" name="Text 23"/>
          <p:cNvSpPr/>
          <p:nvPr/>
        </p:nvSpPr>
        <p:spPr>
          <a:xfrm>
            <a:off x="8869680" y="4215384"/>
            <a:ext cx="2468880" cy="548640"/>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4 × BLDC motor</a:t>
            </a:r>
            <a:endParaRPr lang="en-US" sz="1350" dirty="0">
              <a:latin typeface="Cambria" panose="02040503050406030204" pitchFamily="18" charset="0"/>
              <a:ea typeface="Cambria" panose="02040503050406030204" pitchFamily="18" charset="0"/>
            </a:endParaRPr>
          </a:p>
        </p:txBody>
      </p:sp>
      <p:sp>
        <p:nvSpPr>
          <p:cNvPr id="26" name="Text 24"/>
          <p:cNvSpPr/>
          <p:nvPr/>
        </p:nvSpPr>
        <p:spPr>
          <a:xfrm>
            <a:off x="8869680" y="4636008"/>
            <a:ext cx="2468880" cy="384048"/>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2212 · 920 KV</a:t>
            </a:r>
            <a:endParaRPr lang="en-US" sz="1050" dirty="0">
              <a:latin typeface="Cambria" panose="02040503050406030204" pitchFamily="18" charset="0"/>
              <a:ea typeface="Cambria" panose="02040503050406030204" pitchFamily="18" charset="0"/>
            </a:endParaRPr>
          </a:p>
        </p:txBody>
      </p:sp>
      <p:sp>
        <p:nvSpPr>
          <p:cNvPr id="27" name="Shape 25"/>
          <p:cNvSpPr/>
          <p:nvPr/>
        </p:nvSpPr>
        <p:spPr>
          <a:xfrm flipV="1">
            <a:off x="7225748" y="2734056"/>
            <a:ext cx="1643932" cy="923544"/>
          </a:xfrm>
          <a:prstGeom prst="line">
            <a:avLst/>
          </a:prstGeom>
          <a:noFill/>
          <a:ln w="28575">
            <a:solidFill>
              <a:srgbClr val="2E6B4F"/>
            </a:solidFill>
            <a:prstDash val="solid"/>
            <a:tailEnd type="triangle"/>
          </a:ln>
        </p:spPr>
      </p:sp>
      <p:sp>
        <p:nvSpPr>
          <p:cNvPr id="28" name="Shape 26"/>
          <p:cNvSpPr/>
          <p:nvPr/>
        </p:nvSpPr>
        <p:spPr>
          <a:xfrm>
            <a:off x="10093187" y="3246120"/>
            <a:ext cx="0" cy="958530"/>
          </a:xfrm>
          <a:prstGeom prst="line">
            <a:avLst/>
          </a:prstGeom>
          <a:noFill/>
          <a:ln w="28575">
            <a:solidFill>
              <a:srgbClr val="6E8079"/>
            </a:solidFill>
            <a:prstDash val="solid"/>
            <a:tailEnd type="triangle"/>
          </a:ln>
        </p:spPr>
      </p:sp>
      <p:sp>
        <p:nvSpPr>
          <p:cNvPr id="29" name="Text 27"/>
          <p:cNvSpPr/>
          <p:nvPr/>
        </p:nvSpPr>
        <p:spPr>
          <a:xfrm>
            <a:off x="7852907" y="2834640"/>
            <a:ext cx="2240280" cy="274320"/>
          </a:xfrm>
          <a:prstGeom prst="rect">
            <a:avLst/>
          </a:prstGeom>
          <a:noFill/>
          <a:ln/>
        </p:spPr>
        <p:txBody>
          <a:bodyPr wrap="square" rtlCol="0" anchor="ctr"/>
          <a:lstStyle/>
          <a:p>
            <a:pPr marL="0" indent="0">
              <a:buNone/>
            </a:pPr>
            <a:r>
              <a:rPr lang="en-US" sz="1000" i="1" dirty="0">
                <a:solidFill>
                  <a:srgbClr val="6E8079"/>
                </a:solidFill>
                <a:latin typeface="Cambria" panose="02040503050406030204" pitchFamily="18" charset="0"/>
                <a:ea typeface="Cambria" panose="02040503050406030204" pitchFamily="18" charset="0"/>
                <a:cs typeface="Calibri" pitchFamily="34" charset="-120"/>
              </a:rPr>
              <a:t>PWM</a:t>
            </a:r>
            <a:endParaRPr lang="en-US" sz="1000" dirty="0">
              <a:latin typeface="Cambria" panose="02040503050406030204" pitchFamily="18" charset="0"/>
              <a:ea typeface="Cambria" panose="02040503050406030204" pitchFamily="18" charset="0"/>
            </a:endParaRPr>
          </a:p>
        </p:txBody>
      </p:sp>
      <p:sp>
        <p:nvSpPr>
          <p:cNvPr id="30" name="Text 28"/>
          <p:cNvSpPr/>
          <p:nvPr/>
        </p:nvSpPr>
        <p:spPr>
          <a:xfrm>
            <a:off x="3613867" y="2125980"/>
            <a:ext cx="2063363" cy="978408"/>
          </a:xfrm>
          <a:prstGeom prst="rect">
            <a:avLst/>
          </a:prstGeom>
          <a:noFill/>
          <a:ln/>
        </p:spPr>
        <p:txBody>
          <a:bodyPr wrap="square" rtlCol="0" anchor="ctr"/>
          <a:lstStyle/>
          <a:p>
            <a:pPr marL="0" indent="0">
              <a:buNone/>
            </a:pPr>
            <a:r>
              <a:rPr lang="en-US" sz="1000" i="1" dirty="0">
                <a:solidFill>
                  <a:srgbClr val="6E8079"/>
                </a:solidFill>
                <a:latin typeface="Cambria" panose="02040503050406030204" pitchFamily="18" charset="0"/>
                <a:ea typeface="Cambria" panose="02040503050406030204" pitchFamily="18" charset="0"/>
                <a:cs typeface="Calibri" pitchFamily="34" charset="-120"/>
              </a:rPr>
              <a:t>SPI + DMA</a:t>
            </a:r>
            <a:endParaRPr lang="en-US" sz="1000" dirty="0">
              <a:latin typeface="Cambria" panose="02040503050406030204" pitchFamily="18" charset="0"/>
              <a:ea typeface="Cambria" panose="02040503050406030204" pitchFamily="18" charset="0"/>
            </a:endParaRPr>
          </a:p>
        </p:txBody>
      </p:sp>
      <p:sp>
        <p:nvSpPr>
          <p:cNvPr id="31" name="Text 29"/>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Sántha Zsolt  ·  Quadcopter flight-control system</a:t>
            </a:r>
            <a:endParaRPr lang="en-US" sz="900" dirty="0">
              <a:latin typeface="Cambria" panose="02040503050406030204" pitchFamily="18" charset="0"/>
              <a:ea typeface="Cambria" panose="02040503050406030204" pitchFamily="18" charset="0"/>
            </a:endParaRPr>
          </a:p>
        </p:txBody>
      </p:sp>
      <p:sp>
        <p:nvSpPr>
          <p:cNvPr id="32" name="Text 30"/>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4</a:t>
            </a:r>
            <a:endParaRPr lang="en-US" sz="900" dirty="0">
              <a:latin typeface="Cambria" panose="02040503050406030204" pitchFamily="18" charset="0"/>
              <a:ea typeface="Cambria" panose="02040503050406030204" pitchFamily="18" charset="0"/>
            </a:endParaRPr>
          </a:p>
        </p:txBody>
      </p:sp>
      <p:sp>
        <p:nvSpPr>
          <p:cNvPr id="33" name="Shape 16"/>
          <p:cNvSpPr/>
          <p:nvPr/>
        </p:nvSpPr>
        <p:spPr>
          <a:xfrm flipH="1">
            <a:off x="3291839" y="4587240"/>
            <a:ext cx="1099184" cy="515112"/>
          </a:xfrm>
          <a:prstGeom prst="line">
            <a:avLst/>
          </a:prstGeom>
          <a:noFill/>
          <a:ln w="25400">
            <a:solidFill>
              <a:srgbClr val="7FA98C"/>
            </a:solidFill>
            <a:prstDash val="solid"/>
          </a:ln>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Kép 1"/>
          <p:cNvPicPr>
            <a:picLocks noChangeAspect="1"/>
          </p:cNvPicPr>
          <p:nvPr/>
        </p:nvPicPr>
        <p:blipFill>
          <a:blip r:embed="rId2"/>
          <a:stretch>
            <a:fillRect/>
          </a:stretch>
        </p:blipFill>
        <p:spPr>
          <a:xfrm>
            <a:off x="2228850" y="5770"/>
            <a:ext cx="10077451" cy="7124310"/>
          </a:xfrm>
          <a:prstGeom prst="rect">
            <a:avLst/>
          </a:prstGeom>
        </p:spPr>
      </p:pic>
      <p:sp>
        <p:nvSpPr>
          <p:cNvPr id="4" name="Text 0"/>
          <p:cNvSpPr/>
          <p:nvPr/>
        </p:nvSpPr>
        <p:spPr>
          <a:xfrm>
            <a:off x="338328" y="261652"/>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SYSTEM </a:t>
            </a:r>
            <a:r>
              <a:rPr lang="en-US" sz="1300" b="1" kern="0" spc="300" dirty="0" smtClean="0">
                <a:solidFill>
                  <a:srgbClr val="E8B23A"/>
                </a:solidFill>
                <a:latin typeface="Calibri" pitchFamily="34" charset="0"/>
                <a:ea typeface="Calibri" pitchFamily="34" charset="-122"/>
                <a:cs typeface="Calibri" pitchFamily="34" charset="-120"/>
              </a:rPr>
              <a:t>OVERVIEW</a:t>
            </a:r>
            <a:endParaRPr lang="en-US" sz="1300" dirty="0"/>
          </a:p>
        </p:txBody>
      </p:sp>
      <p:sp>
        <p:nvSpPr>
          <p:cNvPr id="5" name="Text 1"/>
          <p:cNvSpPr/>
          <p:nvPr/>
        </p:nvSpPr>
        <p:spPr>
          <a:xfrm>
            <a:off x="338327" y="485680"/>
            <a:ext cx="11057839" cy="822960"/>
          </a:xfrm>
          <a:prstGeom prst="rect">
            <a:avLst/>
          </a:prstGeom>
          <a:noFill/>
          <a:ln/>
        </p:spPr>
        <p:txBody>
          <a:bodyPr wrap="square" rtlCol="0" anchor="ctr"/>
          <a:lstStyle/>
          <a:p>
            <a:pPr marL="0" indent="0">
              <a:lnSpc>
                <a:spcPts val="3600"/>
              </a:lnSpc>
              <a:buNone/>
            </a:pPr>
            <a:r>
              <a:rPr lang="en-US" sz="3400" b="1" dirty="0" smtClean="0">
                <a:solidFill>
                  <a:srgbClr val="17251E"/>
                </a:solidFill>
                <a:latin typeface="Cambria" pitchFamily="34" charset="0"/>
                <a:ea typeface="Cambria" pitchFamily="34" charset="-122"/>
                <a:cs typeface="Cambria" pitchFamily="34" charset="-120"/>
              </a:rPr>
              <a:t>Schematic</a:t>
            </a:r>
            <a:endParaRPr lang="en-US" sz="3400" dirty="0"/>
          </a:p>
        </p:txBody>
      </p:sp>
    </p:spTree>
    <p:extLst>
      <p:ext uri="{BB962C8B-B14F-4D97-AF65-F5344CB8AC3E}">
        <p14:creationId xmlns:p14="http://schemas.microsoft.com/office/powerpoint/2010/main" val="1880630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18">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BACKUP</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itchFamily="34" charset="0"/>
                <a:ea typeface="Cambria" pitchFamily="34" charset="-122"/>
                <a:cs typeface="Cambria" pitchFamily="34" charset="-120"/>
              </a:rPr>
              <a:t>Microcontroller </a:t>
            </a:r>
            <a:r>
              <a:rPr lang="en-US" sz="3400" b="1" dirty="0" smtClean="0">
                <a:solidFill>
                  <a:srgbClr val="17251E"/>
                </a:solidFill>
                <a:latin typeface="Cambria" pitchFamily="34" charset="0"/>
                <a:ea typeface="Cambria" pitchFamily="34" charset="-122"/>
                <a:cs typeface="Cambria" pitchFamily="34" charset="-120"/>
              </a:rPr>
              <a:t>comparison</a:t>
            </a:r>
            <a:endParaRPr lang="en-US" sz="3400" dirty="0"/>
          </a:p>
        </p:txBody>
      </p:sp>
      <p:sp>
        <p:nvSpPr>
          <p:cNvPr id="4" name="Shape 2"/>
          <p:cNvSpPr/>
          <p:nvPr/>
        </p:nvSpPr>
        <p:spPr>
          <a:xfrm>
            <a:off x="566928" y="1920240"/>
            <a:ext cx="2468880" cy="576072"/>
          </a:xfrm>
          <a:prstGeom prst="rect">
            <a:avLst/>
          </a:prstGeom>
          <a:solidFill>
            <a:srgbClr val="0E3128"/>
          </a:solidFill>
          <a:ln w="12700">
            <a:solidFill>
              <a:srgbClr val="D6DED8"/>
            </a:solidFill>
            <a:prstDash val="solid"/>
          </a:ln>
        </p:spPr>
      </p:sp>
      <p:sp>
        <p:nvSpPr>
          <p:cNvPr id="5" name="Text 3"/>
          <p:cNvSpPr/>
          <p:nvPr/>
        </p:nvSpPr>
        <p:spPr>
          <a:xfrm>
            <a:off x="694944" y="1920240"/>
            <a:ext cx="2212848" cy="576072"/>
          </a:xfrm>
          <a:prstGeom prst="rect">
            <a:avLst/>
          </a:prstGeom>
          <a:noFill/>
          <a:ln/>
        </p:spPr>
        <p:txBody>
          <a:bodyPr wrap="square" rtlCol="0" anchor="ctr"/>
          <a:lstStyle/>
          <a:p>
            <a:pPr marL="0" indent="0" algn="l">
              <a:buNone/>
            </a:pPr>
            <a:endParaRPr lang="en-US" sz="1200" dirty="0"/>
          </a:p>
        </p:txBody>
      </p:sp>
      <p:sp>
        <p:nvSpPr>
          <p:cNvPr id="6" name="Shape 4"/>
          <p:cNvSpPr/>
          <p:nvPr/>
        </p:nvSpPr>
        <p:spPr>
          <a:xfrm>
            <a:off x="3035808" y="1920240"/>
            <a:ext cx="2862986" cy="576072"/>
          </a:xfrm>
          <a:prstGeom prst="rect">
            <a:avLst/>
          </a:prstGeom>
          <a:solidFill>
            <a:srgbClr val="0E3128"/>
          </a:solidFill>
          <a:ln w="12700">
            <a:solidFill>
              <a:srgbClr val="D6DED8"/>
            </a:solidFill>
            <a:prstDash val="solid"/>
          </a:ln>
        </p:spPr>
      </p:sp>
      <p:sp>
        <p:nvSpPr>
          <p:cNvPr id="7" name="Text 5"/>
          <p:cNvSpPr/>
          <p:nvPr/>
        </p:nvSpPr>
        <p:spPr>
          <a:xfrm>
            <a:off x="3163824" y="1920240"/>
            <a:ext cx="2606954" cy="5760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Arduino Uno</a:t>
            </a:r>
            <a:endParaRPr lang="en-US" sz="1200" dirty="0"/>
          </a:p>
        </p:txBody>
      </p:sp>
      <p:sp>
        <p:nvSpPr>
          <p:cNvPr id="8" name="Shape 6"/>
          <p:cNvSpPr/>
          <p:nvPr/>
        </p:nvSpPr>
        <p:spPr>
          <a:xfrm>
            <a:off x="5898794" y="1920240"/>
            <a:ext cx="2862986" cy="576072"/>
          </a:xfrm>
          <a:prstGeom prst="rect">
            <a:avLst/>
          </a:prstGeom>
          <a:solidFill>
            <a:srgbClr val="0E3128"/>
          </a:solidFill>
          <a:ln w="12700">
            <a:solidFill>
              <a:srgbClr val="D6DED8"/>
            </a:solidFill>
            <a:prstDash val="solid"/>
          </a:ln>
        </p:spPr>
      </p:sp>
      <p:sp>
        <p:nvSpPr>
          <p:cNvPr id="9" name="Text 7"/>
          <p:cNvSpPr/>
          <p:nvPr/>
        </p:nvSpPr>
        <p:spPr>
          <a:xfrm>
            <a:off x="6026810" y="1920240"/>
            <a:ext cx="2606954" cy="5760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STM32F103C8</a:t>
            </a:r>
            <a:endParaRPr lang="en-US" sz="1200" dirty="0"/>
          </a:p>
        </p:txBody>
      </p:sp>
      <p:sp>
        <p:nvSpPr>
          <p:cNvPr id="10" name="Shape 8"/>
          <p:cNvSpPr/>
          <p:nvPr/>
        </p:nvSpPr>
        <p:spPr>
          <a:xfrm>
            <a:off x="8761781" y="1920240"/>
            <a:ext cx="2862986" cy="576072"/>
          </a:xfrm>
          <a:prstGeom prst="rect">
            <a:avLst/>
          </a:prstGeom>
          <a:solidFill>
            <a:srgbClr val="2E6B4F"/>
          </a:solidFill>
          <a:ln w="12700">
            <a:solidFill>
              <a:srgbClr val="D6DED8"/>
            </a:solidFill>
            <a:prstDash val="solid"/>
          </a:ln>
        </p:spPr>
      </p:sp>
      <p:sp>
        <p:nvSpPr>
          <p:cNvPr id="11" name="Text 9"/>
          <p:cNvSpPr/>
          <p:nvPr/>
        </p:nvSpPr>
        <p:spPr>
          <a:xfrm>
            <a:off x="8889797" y="1920240"/>
            <a:ext cx="2606954" cy="5760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STM32F411CE</a:t>
            </a:r>
            <a:endParaRPr lang="en-US" sz="1200" dirty="0"/>
          </a:p>
        </p:txBody>
      </p:sp>
      <p:sp>
        <p:nvSpPr>
          <p:cNvPr id="12" name="Shape 10"/>
          <p:cNvSpPr/>
          <p:nvPr/>
        </p:nvSpPr>
        <p:spPr>
          <a:xfrm>
            <a:off x="566928" y="2496312"/>
            <a:ext cx="2468880" cy="576072"/>
          </a:xfrm>
          <a:prstGeom prst="rect">
            <a:avLst/>
          </a:prstGeom>
          <a:solidFill>
            <a:srgbClr val="F0F3F0"/>
          </a:solidFill>
          <a:ln w="12700">
            <a:solidFill>
              <a:srgbClr val="D6DED8"/>
            </a:solidFill>
            <a:prstDash val="solid"/>
          </a:ln>
        </p:spPr>
      </p:sp>
      <p:sp>
        <p:nvSpPr>
          <p:cNvPr id="13" name="Text 11"/>
          <p:cNvSpPr/>
          <p:nvPr/>
        </p:nvSpPr>
        <p:spPr>
          <a:xfrm>
            <a:off x="694944" y="2496312"/>
            <a:ext cx="2212848" cy="576072"/>
          </a:xfrm>
          <a:prstGeom prst="rect">
            <a:avLst/>
          </a:prstGeom>
          <a:noFill/>
          <a:ln/>
        </p:spPr>
        <p:txBody>
          <a:bodyPr wrap="square" rtlCol="0" anchor="ctr"/>
          <a:lstStyle/>
          <a:p>
            <a:pPr marL="0" indent="0" algn="l">
              <a:buNone/>
            </a:pPr>
            <a:r>
              <a:rPr lang="en-US" sz="1200" b="1" dirty="0">
                <a:solidFill>
                  <a:srgbClr val="17251E"/>
                </a:solidFill>
                <a:latin typeface="Calibri" pitchFamily="34" charset="0"/>
                <a:ea typeface="Calibri" pitchFamily="34" charset="-122"/>
                <a:cs typeface="Calibri" pitchFamily="34" charset="-120"/>
              </a:rPr>
              <a:t>Architecture</a:t>
            </a:r>
            <a:endParaRPr lang="en-US" sz="1200" dirty="0"/>
          </a:p>
        </p:txBody>
      </p:sp>
      <p:sp>
        <p:nvSpPr>
          <p:cNvPr id="14" name="Shape 12"/>
          <p:cNvSpPr/>
          <p:nvPr/>
        </p:nvSpPr>
        <p:spPr>
          <a:xfrm>
            <a:off x="3035808" y="2496312"/>
            <a:ext cx="2862986" cy="576072"/>
          </a:xfrm>
          <a:prstGeom prst="rect">
            <a:avLst/>
          </a:prstGeom>
          <a:solidFill>
            <a:srgbClr val="F0F3F0"/>
          </a:solidFill>
          <a:ln w="12700">
            <a:solidFill>
              <a:srgbClr val="D6DED8"/>
            </a:solidFill>
            <a:prstDash val="solid"/>
          </a:ln>
        </p:spPr>
      </p:sp>
      <p:sp>
        <p:nvSpPr>
          <p:cNvPr id="15" name="Text 13"/>
          <p:cNvSpPr/>
          <p:nvPr/>
        </p:nvSpPr>
        <p:spPr>
          <a:xfrm>
            <a:off x="3163824" y="2496312"/>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AVR 8-bit</a:t>
            </a:r>
            <a:endParaRPr lang="en-US" sz="1200" dirty="0"/>
          </a:p>
        </p:txBody>
      </p:sp>
      <p:sp>
        <p:nvSpPr>
          <p:cNvPr id="16" name="Shape 14"/>
          <p:cNvSpPr/>
          <p:nvPr/>
        </p:nvSpPr>
        <p:spPr>
          <a:xfrm>
            <a:off x="5898794" y="2496312"/>
            <a:ext cx="2862986" cy="576072"/>
          </a:xfrm>
          <a:prstGeom prst="rect">
            <a:avLst/>
          </a:prstGeom>
          <a:solidFill>
            <a:srgbClr val="F0F3F0"/>
          </a:solidFill>
          <a:ln w="12700">
            <a:solidFill>
              <a:srgbClr val="D6DED8"/>
            </a:solidFill>
            <a:prstDash val="solid"/>
          </a:ln>
        </p:spPr>
      </p:sp>
      <p:sp>
        <p:nvSpPr>
          <p:cNvPr id="17" name="Text 15"/>
          <p:cNvSpPr/>
          <p:nvPr/>
        </p:nvSpPr>
        <p:spPr>
          <a:xfrm>
            <a:off x="6026810" y="2496312"/>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Cortex-M3</a:t>
            </a:r>
            <a:endParaRPr lang="en-US" sz="1200" dirty="0"/>
          </a:p>
        </p:txBody>
      </p:sp>
      <p:sp>
        <p:nvSpPr>
          <p:cNvPr id="18" name="Shape 16"/>
          <p:cNvSpPr/>
          <p:nvPr/>
        </p:nvSpPr>
        <p:spPr>
          <a:xfrm>
            <a:off x="8761781" y="2496312"/>
            <a:ext cx="2862986" cy="576072"/>
          </a:xfrm>
          <a:prstGeom prst="rect">
            <a:avLst/>
          </a:prstGeom>
          <a:solidFill>
            <a:srgbClr val="EFF6E9"/>
          </a:solidFill>
          <a:ln w="12700">
            <a:solidFill>
              <a:srgbClr val="D6DED8"/>
            </a:solidFill>
            <a:prstDash val="solid"/>
          </a:ln>
        </p:spPr>
      </p:sp>
      <p:sp>
        <p:nvSpPr>
          <p:cNvPr id="19" name="Text 17"/>
          <p:cNvSpPr/>
          <p:nvPr/>
        </p:nvSpPr>
        <p:spPr>
          <a:xfrm>
            <a:off x="8889797" y="2496312"/>
            <a:ext cx="2606954" cy="576072"/>
          </a:xfrm>
          <a:prstGeom prst="rect">
            <a:avLst/>
          </a:prstGeom>
          <a:noFill/>
          <a:ln/>
        </p:spPr>
        <p:txBody>
          <a:bodyPr wrap="square" rtlCol="0" anchor="ctr"/>
          <a:lstStyle/>
          <a:p>
            <a:pPr marL="0" indent="0" algn="ctr">
              <a:buNone/>
            </a:pPr>
            <a:r>
              <a:rPr lang="en-US" sz="1200" b="1" dirty="0">
                <a:solidFill>
                  <a:srgbClr val="2E6B4F"/>
                </a:solidFill>
                <a:latin typeface="Calibri" pitchFamily="34" charset="0"/>
                <a:ea typeface="Calibri" pitchFamily="34" charset="-122"/>
                <a:cs typeface="Calibri" pitchFamily="34" charset="-120"/>
              </a:rPr>
              <a:t>Cortex-M4</a:t>
            </a:r>
            <a:endParaRPr lang="en-US" sz="1200" dirty="0"/>
          </a:p>
        </p:txBody>
      </p:sp>
      <p:sp>
        <p:nvSpPr>
          <p:cNvPr id="20" name="Shape 18"/>
          <p:cNvSpPr/>
          <p:nvPr/>
        </p:nvSpPr>
        <p:spPr>
          <a:xfrm>
            <a:off x="566928" y="3072384"/>
            <a:ext cx="2468880" cy="576072"/>
          </a:xfrm>
          <a:prstGeom prst="rect">
            <a:avLst/>
          </a:prstGeom>
          <a:solidFill>
            <a:srgbClr val="FFFFFF"/>
          </a:solidFill>
          <a:ln w="12700">
            <a:solidFill>
              <a:srgbClr val="D6DED8"/>
            </a:solidFill>
            <a:prstDash val="solid"/>
          </a:ln>
        </p:spPr>
      </p:sp>
      <p:sp>
        <p:nvSpPr>
          <p:cNvPr id="21" name="Text 19"/>
          <p:cNvSpPr/>
          <p:nvPr/>
        </p:nvSpPr>
        <p:spPr>
          <a:xfrm>
            <a:off x="694944" y="3072384"/>
            <a:ext cx="2212848" cy="576072"/>
          </a:xfrm>
          <a:prstGeom prst="rect">
            <a:avLst/>
          </a:prstGeom>
          <a:noFill/>
          <a:ln/>
        </p:spPr>
        <p:txBody>
          <a:bodyPr wrap="square" rtlCol="0" anchor="ctr"/>
          <a:lstStyle/>
          <a:p>
            <a:pPr marL="0" indent="0" algn="l">
              <a:buNone/>
            </a:pPr>
            <a:r>
              <a:rPr lang="en-US" sz="1200" b="1" dirty="0">
                <a:solidFill>
                  <a:srgbClr val="17251E"/>
                </a:solidFill>
                <a:latin typeface="Calibri" pitchFamily="34" charset="0"/>
                <a:ea typeface="Calibri" pitchFamily="34" charset="-122"/>
                <a:cs typeface="Calibri" pitchFamily="34" charset="-120"/>
              </a:rPr>
              <a:t>Clock</a:t>
            </a:r>
            <a:endParaRPr lang="en-US" sz="1200" dirty="0"/>
          </a:p>
        </p:txBody>
      </p:sp>
      <p:sp>
        <p:nvSpPr>
          <p:cNvPr id="22" name="Shape 20"/>
          <p:cNvSpPr/>
          <p:nvPr/>
        </p:nvSpPr>
        <p:spPr>
          <a:xfrm>
            <a:off x="3035808" y="3072384"/>
            <a:ext cx="2862986" cy="576072"/>
          </a:xfrm>
          <a:prstGeom prst="rect">
            <a:avLst/>
          </a:prstGeom>
          <a:solidFill>
            <a:srgbClr val="FFFFFF"/>
          </a:solidFill>
          <a:ln w="12700">
            <a:solidFill>
              <a:srgbClr val="D6DED8"/>
            </a:solidFill>
            <a:prstDash val="solid"/>
          </a:ln>
        </p:spPr>
      </p:sp>
      <p:sp>
        <p:nvSpPr>
          <p:cNvPr id="23" name="Text 21"/>
          <p:cNvSpPr/>
          <p:nvPr/>
        </p:nvSpPr>
        <p:spPr>
          <a:xfrm>
            <a:off x="3163824" y="3072384"/>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16 MHz</a:t>
            </a:r>
            <a:endParaRPr lang="en-US" sz="1200" dirty="0"/>
          </a:p>
        </p:txBody>
      </p:sp>
      <p:sp>
        <p:nvSpPr>
          <p:cNvPr id="24" name="Shape 22"/>
          <p:cNvSpPr/>
          <p:nvPr/>
        </p:nvSpPr>
        <p:spPr>
          <a:xfrm>
            <a:off x="5898794" y="3072384"/>
            <a:ext cx="2862986" cy="576072"/>
          </a:xfrm>
          <a:prstGeom prst="rect">
            <a:avLst/>
          </a:prstGeom>
          <a:solidFill>
            <a:srgbClr val="FFFFFF"/>
          </a:solidFill>
          <a:ln w="12700">
            <a:solidFill>
              <a:srgbClr val="D6DED8"/>
            </a:solidFill>
            <a:prstDash val="solid"/>
          </a:ln>
        </p:spPr>
      </p:sp>
      <p:sp>
        <p:nvSpPr>
          <p:cNvPr id="25" name="Text 23"/>
          <p:cNvSpPr/>
          <p:nvPr/>
        </p:nvSpPr>
        <p:spPr>
          <a:xfrm>
            <a:off x="6026810" y="3072384"/>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72 MHz</a:t>
            </a:r>
            <a:endParaRPr lang="en-US" sz="1200" dirty="0"/>
          </a:p>
        </p:txBody>
      </p:sp>
      <p:sp>
        <p:nvSpPr>
          <p:cNvPr id="26" name="Shape 24"/>
          <p:cNvSpPr/>
          <p:nvPr/>
        </p:nvSpPr>
        <p:spPr>
          <a:xfrm>
            <a:off x="8761781" y="3072384"/>
            <a:ext cx="2862986" cy="576072"/>
          </a:xfrm>
          <a:prstGeom prst="rect">
            <a:avLst/>
          </a:prstGeom>
          <a:solidFill>
            <a:srgbClr val="EFF6E9"/>
          </a:solidFill>
          <a:ln w="12700">
            <a:solidFill>
              <a:srgbClr val="D6DED8"/>
            </a:solidFill>
            <a:prstDash val="solid"/>
          </a:ln>
        </p:spPr>
      </p:sp>
      <p:sp>
        <p:nvSpPr>
          <p:cNvPr id="27" name="Text 25"/>
          <p:cNvSpPr/>
          <p:nvPr/>
        </p:nvSpPr>
        <p:spPr>
          <a:xfrm>
            <a:off x="8889797" y="3072384"/>
            <a:ext cx="2606954" cy="576072"/>
          </a:xfrm>
          <a:prstGeom prst="rect">
            <a:avLst/>
          </a:prstGeom>
          <a:noFill/>
          <a:ln/>
        </p:spPr>
        <p:txBody>
          <a:bodyPr wrap="square" rtlCol="0" anchor="ctr"/>
          <a:lstStyle/>
          <a:p>
            <a:pPr marL="0" indent="0" algn="ctr">
              <a:buNone/>
            </a:pPr>
            <a:r>
              <a:rPr lang="en-US" sz="1200" b="1" dirty="0">
                <a:solidFill>
                  <a:srgbClr val="2E6B4F"/>
                </a:solidFill>
                <a:latin typeface="Calibri" pitchFamily="34" charset="0"/>
                <a:ea typeface="Calibri" pitchFamily="34" charset="-122"/>
                <a:cs typeface="Calibri" pitchFamily="34" charset="-120"/>
              </a:rPr>
              <a:t>100 MHz</a:t>
            </a:r>
            <a:endParaRPr lang="en-US" sz="1200" dirty="0"/>
          </a:p>
        </p:txBody>
      </p:sp>
      <p:sp>
        <p:nvSpPr>
          <p:cNvPr id="28" name="Shape 26"/>
          <p:cNvSpPr/>
          <p:nvPr/>
        </p:nvSpPr>
        <p:spPr>
          <a:xfrm>
            <a:off x="566928" y="3648456"/>
            <a:ext cx="2468880" cy="576072"/>
          </a:xfrm>
          <a:prstGeom prst="rect">
            <a:avLst/>
          </a:prstGeom>
          <a:solidFill>
            <a:srgbClr val="F0F3F0"/>
          </a:solidFill>
          <a:ln w="12700">
            <a:solidFill>
              <a:srgbClr val="D6DED8"/>
            </a:solidFill>
            <a:prstDash val="solid"/>
          </a:ln>
        </p:spPr>
      </p:sp>
      <p:sp>
        <p:nvSpPr>
          <p:cNvPr id="29" name="Text 27"/>
          <p:cNvSpPr/>
          <p:nvPr/>
        </p:nvSpPr>
        <p:spPr>
          <a:xfrm>
            <a:off x="694944" y="3648456"/>
            <a:ext cx="2212848" cy="576072"/>
          </a:xfrm>
          <a:prstGeom prst="rect">
            <a:avLst/>
          </a:prstGeom>
          <a:noFill/>
          <a:ln/>
        </p:spPr>
        <p:txBody>
          <a:bodyPr wrap="square" rtlCol="0" anchor="ctr"/>
          <a:lstStyle/>
          <a:p>
            <a:pPr marL="0" indent="0" algn="l">
              <a:buNone/>
            </a:pPr>
            <a:r>
              <a:rPr lang="en-US" sz="1200" b="1" dirty="0">
                <a:solidFill>
                  <a:srgbClr val="17251E"/>
                </a:solidFill>
                <a:latin typeface="Calibri" pitchFamily="34" charset="0"/>
                <a:ea typeface="Calibri" pitchFamily="34" charset="-122"/>
                <a:cs typeface="Calibri" pitchFamily="34" charset="-120"/>
              </a:rPr>
              <a:t>FPU</a:t>
            </a:r>
            <a:endParaRPr lang="en-US" sz="1200" dirty="0"/>
          </a:p>
        </p:txBody>
      </p:sp>
      <p:sp>
        <p:nvSpPr>
          <p:cNvPr id="30" name="Shape 28"/>
          <p:cNvSpPr/>
          <p:nvPr/>
        </p:nvSpPr>
        <p:spPr>
          <a:xfrm>
            <a:off x="3035808" y="3648456"/>
            <a:ext cx="2862986" cy="576072"/>
          </a:xfrm>
          <a:prstGeom prst="rect">
            <a:avLst/>
          </a:prstGeom>
          <a:solidFill>
            <a:srgbClr val="F0F3F0"/>
          </a:solidFill>
          <a:ln w="12700">
            <a:solidFill>
              <a:srgbClr val="D6DED8"/>
            </a:solidFill>
            <a:prstDash val="solid"/>
          </a:ln>
        </p:spPr>
      </p:sp>
      <p:sp>
        <p:nvSpPr>
          <p:cNvPr id="31" name="Text 29"/>
          <p:cNvSpPr/>
          <p:nvPr/>
        </p:nvSpPr>
        <p:spPr>
          <a:xfrm>
            <a:off x="3163824" y="3648456"/>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none</a:t>
            </a:r>
            <a:endParaRPr lang="en-US" sz="1200" dirty="0"/>
          </a:p>
        </p:txBody>
      </p:sp>
      <p:sp>
        <p:nvSpPr>
          <p:cNvPr id="32" name="Shape 30"/>
          <p:cNvSpPr/>
          <p:nvPr/>
        </p:nvSpPr>
        <p:spPr>
          <a:xfrm>
            <a:off x="5898794" y="3648456"/>
            <a:ext cx="2862986" cy="576072"/>
          </a:xfrm>
          <a:prstGeom prst="rect">
            <a:avLst/>
          </a:prstGeom>
          <a:solidFill>
            <a:srgbClr val="F0F3F0"/>
          </a:solidFill>
          <a:ln w="12700">
            <a:solidFill>
              <a:srgbClr val="D6DED8"/>
            </a:solidFill>
            <a:prstDash val="solid"/>
          </a:ln>
        </p:spPr>
      </p:sp>
      <p:sp>
        <p:nvSpPr>
          <p:cNvPr id="33" name="Text 31"/>
          <p:cNvSpPr/>
          <p:nvPr/>
        </p:nvSpPr>
        <p:spPr>
          <a:xfrm>
            <a:off x="6026810" y="3648456"/>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none</a:t>
            </a:r>
            <a:endParaRPr lang="en-US" sz="1200" dirty="0"/>
          </a:p>
        </p:txBody>
      </p:sp>
      <p:sp>
        <p:nvSpPr>
          <p:cNvPr id="34" name="Shape 32"/>
          <p:cNvSpPr/>
          <p:nvPr/>
        </p:nvSpPr>
        <p:spPr>
          <a:xfrm>
            <a:off x="8761781" y="3648456"/>
            <a:ext cx="2862986" cy="576072"/>
          </a:xfrm>
          <a:prstGeom prst="rect">
            <a:avLst/>
          </a:prstGeom>
          <a:solidFill>
            <a:srgbClr val="EFF6E9"/>
          </a:solidFill>
          <a:ln w="12700">
            <a:solidFill>
              <a:srgbClr val="D6DED8"/>
            </a:solidFill>
            <a:prstDash val="solid"/>
          </a:ln>
        </p:spPr>
      </p:sp>
      <p:sp>
        <p:nvSpPr>
          <p:cNvPr id="35" name="Text 33"/>
          <p:cNvSpPr/>
          <p:nvPr/>
        </p:nvSpPr>
        <p:spPr>
          <a:xfrm>
            <a:off x="8889797" y="3648456"/>
            <a:ext cx="2606954" cy="576072"/>
          </a:xfrm>
          <a:prstGeom prst="rect">
            <a:avLst/>
          </a:prstGeom>
          <a:noFill/>
          <a:ln/>
        </p:spPr>
        <p:txBody>
          <a:bodyPr wrap="square" rtlCol="0" anchor="ctr"/>
          <a:lstStyle/>
          <a:p>
            <a:pPr marL="0" indent="0" algn="ctr">
              <a:buNone/>
            </a:pPr>
            <a:r>
              <a:rPr lang="en-US" sz="1200" b="1" dirty="0">
                <a:solidFill>
                  <a:srgbClr val="2E6B4F"/>
                </a:solidFill>
                <a:latin typeface="Calibri" pitchFamily="34" charset="0"/>
                <a:ea typeface="Calibri" pitchFamily="34" charset="-122"/>
                <a:cs typeface="Calibri" pitchFamily="34" charset="-120"/>
              </a:rPr>
              <a:t>single-precision HW</a:t>
            </a:r>
            <a:endParaRPr lang="en-US" sz="1200" dirty="0"/>
          </a:p>
        </p:txBody>
      </p:sp>
      <p:sp>
        <p:nvSpPr>
          <p:cNvPr id="36" name="Shape 34"/>
          <p:cNvSpPr/>
          <p:nvPr/>
        </p:nvSpPr>
        <p:spPr>
          <a:xfrm>
            <a:off x="566928" y="4224528"/>
            <a:ext cx="2468880" cy="576072"/>
          </a:xfrm>
          <a:prstGeom prst="rect">
            <a:avLst/>
          </a:prstGeom>
          <a:solidFill>
            <a:srgbClr val="FFFFFF"/>
          </a:solidFill>
          <a:ln w="12700">
            <a:solidFill>
              <a:srgbClr val="D6DED8"/>
            </a:solidFill>
            <a:prstDash val="solid"/>
          </a:ln>
        </p:spPr>
      </p:sp>
      <p:sp>
        <p:nvSpPr>
          <p:cNvPr id="37" name="Text 35"/>
          <p:cNvSpPr/>
          <p:nvPr/>
        </p:nvSpPr>
        <p:spPr>
          <a:xfrm>
            <a:off x="694944" y="4224528"/>
            <a:ext cx="2212848" cy="576072"/>
          </a:xfrm>
          <a:prstGeom prst="rect">
            <a:avLst/>
          </a:prstGeom>
          <a:noFill/>
          <a:ln/>
        </p:spPr>
        <p:txBody>
          <a:bodyPr wrap="square" rtlCol="0" anchor="ctr"/>
          <a:lstStyle/>
          <a:p>
            <a:pPr marL="0" indent="0" algn="l">
              <a:buNone/>
            </a:pPr>
            <a:r>
              <a:rPr lang="en-US" sz="1200" b="1" dirty="0">
                <a:solidFill>
                  <a:srgbClr val="17251E"/>
                </a:solidFill>
                <a:latin typeface="Calibri" pitchFamily="34" charset="0"/>
                <a:ea typeface="Calibri" pitchFamily="34" charset="-122"/>
                <a:cs typeface="Calibri" pitchFamily="34" charset="-120"/>
              </a:rPr>
              <a:t>Flash / RAM</a:t>
            </a:r>
            <a:endParaRPr lang="en-US" sz="1200" dirty="0"/>
          </a:p>
        </p:txBody>
      </p:sp>
      <p:sp>
        <p:nvSpPr>
          <p:cNvPr id="38" name="Shape 36"/>
          <p:cNvSpPr/>
          <p:nvPr/>
        </p:nvSpPr>
        <p:spPr>
          <a:xfrm>
            <a:off x="3035808" y="4224528"/>
            <a:ext cx="2862986" cy="576072"/>
          </a:xfrm>
          <a:prstGeom prst="rect">
            <a:avLst/>
          </a:prstGeom>
          <a:solidFill>
            <a:srgbClr val="FFFFFF"/>
          </a:solidFill>
          <a:ln w="12700">
            <a:solidFill>
              <a:srgbClr val="D6DED8"/>
            </a:solidFill>
            <a:prstDash val="solid"/>
          </a:ln>
        </p:spPr>
      </p:sp>
      <p:sp>
        <p:nvSpPr>
          <p:cNvPr id="39" name="Text 37"/>
          <p:cNvSpPr/>
          <p:nvPr/>
        </p:nvSpPr>
        <p:spPr>
          <a:xfrm>
            <a:off x="3163824" y="4224528"/>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32 KB / 2 KB</a:t>
            </a:r>
            <a:endParaRPr lang="en-US" sz="1200" dirty="0"/>
          </a:p>
        </p:txBody>
      </p:sp>
      <p:sp>
        <p:nvSpPr>
          <p:cNvPr id="40" name="Shape 38"/>
          <p:cNvSpPr/>
          <p:nvPr/>
        </p:nvSpPr>
        <p:spPr>
          <a:xfrm>
            <a:off x="5898794" y="4224528"/>
            <a:ext cx="2862986" cy="576072"/>
          </a:xfrm>
          <a:prstGeom prst="rect">
            <a:avLst/>
          </a:prstGeom>
          <a:solidFill>
            <a:srgbClr val="FFFFFF"/>
          </a:solidFill>
          <a:ln w="12700">
            <a:solidFill>
              <a:srgbClr val="D6DED8"/>
            </a:solidFill>
            <a:prstDash val="solid"/>
          </a:ln>
        </p:spPr>
      </p:sp>
      <p:sp>
        <p:nvSpPr>
          <p:cNvPr id="41" name="Text 39"/>
          <p:cNvSpPr/>
          <p:nvPr/>
        </p:nvSpPr>
        <p:spPr>
          <a:xfrm>
            <a:off x="6026810" y="4224528"/>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64 KB / 20 KB</a:t>
            </a:r>
            <a:endParaRPr lang="en-US" sz="1200" dirty="0"/>
          </a:p>
        </p:txBody>
      </p:sp>
      <p:sp>
        <p:nvSpPr>
          <p:cNvPr id="42" name="Shape 40"/>
          <p:cNvSpPr/>
          <p:nvPr/>
        </p:nvSpPr>
        <p:spPr>
          <a:xfrm>
            <a:off x="8761781" y="4224528"/>
            <a:ext cx="2862986" cy="576072"/>
          </a:xfrm>
          <a:prstGeom prst="rect">
            <a:avLst/>
          </a:prstGeom>
          <a:solidFill>
            <a:srgbClr val="EFF6E9"/>
          </a:solidFill>
          <a:ln w="12700">
            <a:solidFill>
              <a:srgbClr val="D6DED8"/>
            </a:solidFill>
            <a:prstDash val="solid"/>
          </a:ln>
        </p:spPr>
      </p:sp>
      <p:sp>
        <p:nvSpPr>
          <p:cNvPr id="43" name="Text 41"/>
          <p:cNvSpPr/>
          <p:nvPr/>
        </p:nvSpPr>
        <p:spPr>
          <a:xfrm>
            <a:off x="8889797" y="4224528"/>
            <a:ext cx="2606954" cy="576072"/>
          </a:xfrm>
          <a:prstGeom prst="rect">
            <a:avLst/>
          </a:prstGeom>
          <a:noFill/>
          <a:ln/>
        </p:spPr>
        <p:txBody>
          <a:bodyPr wrap="square" rtlCol="0" anchor="ctr"/>
          <a:lstStyle/>
          <a:p>
            <a:pPr marL="0" indent="0" algn="ctr">
              <a:buNone/>
            </a:pPr>
            <a:r>
              <a:rPr lang="en-US" sz="1200" b="1" dirty="0">
                <a:solidFill>
                  <a:srgbClr val="2E6B4F"/>
                </a:solidFill>
                <a:latin typeface="Calibri" pitchFamily="34" charset="0"/>
                <a:ea typeface="Calibri" pitchFamily="34" charset="-122"/>
                <a:cs typeface="Calibri" pitchFamily="34" charset="-120"/>
              </a:rPr>
              <a:t>512 KB / 128 KB</a:t>
            </a:r>
            <a:endParaRPr lang="en-US" sz="1200" dirty="0"/>
          </a:p>
        </p:txBody>
      </p:sp>
      <p:sp>
        <p:nvSpPr>
          <p:cNvPr id="44" name="Shape 42"/>
          <p:cNvSpPr/>
          <p:nvPr/>
        </p:nvSpPr>
        <p:spPr>
          <a:xfrm>
            <a:off x="566928" y="4800600"/>
            <a:ext cx="2468880" cy="576072"/>
          </a:xfrm>
          <a:prstGeom prst="rect">
            <a:avLst/>
          </a:prstGeom>
          <a:solidFill>
            <a:srgbClr val="F0F3F0"/>
          </a:solidFill>
          <a:ln w="12700">
            <a:solidFill>
              <a:srgbClr val="D6DED8"/>
            </a:solidFill>
            <a:prstDash val="solid"/>
          </a:ln>
        </p:spPr>
      </p:sp>
      <p:sp>
        <p:nvSpPr>
          <p:cNvPr id="45" name="Text 43"/>
          <p:cNvSpPr/>
          <p:nvPr/>
        </p:nvSpPr>
        <p:spPr>
          <a:xfrm>
            <a:off x="694944" y="4800600"/>
            <a:ext cx="2212848" cy="576072"/>
          </a:xfrm>
          <a:prstGeom prst="rect">
            <a:avLst/>
          </a:prstGeom>
          <a:noFill/>
          <a:ln/>
        </p:spPr>
        <p:txBody>
          <a:bodyPr wrap="square" rtlCol="0" anchor="ctr"/>
          <a:lstStyle/>
          <a:p>
            <a:pPr marL="0" indent="0" algn="l">
              <a:buNone/>
            </a:pPr>
            <a:r>
              <a:rPr lang="en-US" sz="1200" b="1" dirty="0">
                <a:solidFill>
                  <a:srgbClr val="17251E"/>
                </a:solidFill>
                <a:latin typeface="Calibri" pitchFamily="34" charset="0"/>
                <a:ea typeface="Calibri" pitchFamily="34" charset="-122"/>
                <a:cs typeface="Calibri" pitchFamily="34" charset="-120"/>
              </a:rPr>
              <a:t>SPI / UART / timers</a:t>
            </a:r>
            <a:endParaRPr lang="en-US" sz="1200" dirty="0"/>
          </a:p>
        </p:txBody>
      </p:sp>
      <p:sp>
        <p:nvSpPr>
          <p:cNvPr id="46" name="Shape 44"/>
          <p:cNvSpPr/>
          <p:nvPr/>
        </p:nvSpPr>
        <p:spPr>
          <a:xfrm>
            <a:off x="3035808" y="4800600"/>
            <a:ext cx="2862986" cy="576072"/>
          </a:xfrm>
          <a:prstGeom prst="rect">
            <a:avLst/>
          </a:prstGeom>
          <a:solidFill>
            <a:srgbClr val="F0F3F0"/>
          </a:solidFill>
          <a:ln w="12700">
            <a:solidFill>
              <a:srgbClr val="D6DED8"/>
            </a:solidFill>
            <a:prstDash val="solid"/>
          </a:ln>
        </p:spPr>
      </p:sp>
      <p:sp>
        <p:nvSpPr>
          <p:cNvPr id="47" name="Text 45"/>
          <p:cNvSpPr/>
          <p:nvPr/>
        </p:nvSpPr>
        <p:spPr>
          <a:xfrm>
            <a:off x="3163824" y="4800600"/>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few</a:t>
            </a:r>
            <a:endParaRPr lang="en-US" sz="1200" dirty="0"/>
          </a:p>
        </p:txBody>
      </p:sp>
      <p:sp>
        <p:nvSpPr>
          <p:cNvPr id="48" name="Shape 46"/>
          <p:cNvSpPr/>
          <p:nvPr/>
        </p:nvSpPr>
        <p:spPr>
          <a:xfrm>
            <a:off x="5898794" y="4800600"/>
            <a:ext cx="2862986" cy="576072"/>
          </a:xfrm>
          <a:prstGeom prst="rect">
            <a:avLst/>
          </a:prstGeom>
          <a:solidFill>
            <a:srgbClr val="F0F3F0"/>
          </a:solidFill>
          <a:ln w="12700">
            <a:solidFill>
              <a:srgbClr val="D6DED8"/>
            </a:solidFill>
            <a:prstDash val="solid"/>
          </a:ln>
        </p:spPr>
      </p:sp>
      <p:sp>
        <p:nvSpPr>
          <p:cNvPr id="49" name="Text 47"/>
          <p:cNvSpPr/>
          <p:nvPr/>
        </p:nvSpPr>
        <p:spPr>
          <a:xfrm>
            <a:off x="6026810" y="4800600"/>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several</a:t>
            </a:r>
            <a:endParaRPr lang="en-US" sz="1200" dirty="0"/>
          </a:p>
        </p:txBody>
      </p:sp>
      <p:sp>
        <p:nvSpPr>
          <p:cNvPr id="50" name="Shape 48"/>
          <p:cNvSpPr/>
          <p:nvPr/>
        </p:nvSpPr>
        <p:spPr>
          <a:xfrm>
            <a:off x="8761781" y="4800600"/>
            <a:ext cx="2862986" cy="576072"/>
          </a:xfrm>
          <a:prstGeom prst="rect">
            <a:avLst/>
          </a:prstGeom>
          <a:solidFill>
            <a:srgbClr val="EFF6E9"/>
          </a:solidFill>
          <a:ln w="12700">
            <a:solidFill>
              <a:srgbClr val="D6DED8"/>
            </a:solidFill>
            <a:prstDash val="solid"/>
          </a:ln>
        </p:spPr>
      </p:sp>
      <p:sp>
        <p:nvSpPr>
          <p:cNvPr id="51" name="Text 49"/>
          <p:cNvSpPr/>
          <p:nvPr/>
        </p:nvSpPr>
        <p:spPr>
          <a:xfrm>
            <a:off x="8889797" y="4800600"/>
            <a:ext cx="2606954" cy="576072"/>
          </a:xfrm>
          <a:prstGeom prst="rect">
            <a:avLst/>
          </a:prstGeom>
          <a:noFill/>
          <a:ln/>
        </p:spPr>
        <p:txBody>
          <a:bodyPr wrap="square" rtlCol="0" anchor="ctr"/>
          <a:lstStyle/>
          <a:p>
            <a:pPr marL="0" indent="0" algn="ctr">
              <a:buNone/>
            </a:pPr>
            <a:r>
              <a:rPr lang="en-US" sz="1200" b="1" dirty="0">
                <a:solidFill>
                  <a:srgbClr val="2E6B4F"/>
                </a:solidFill>
                <a:latin typeface="Calibri" pitchFamily="34" charset="0"/>
                <a:ea typeface="Calibri" pitchFamily="34" charset="-122"/>
                <a:cs typeface="Calibri" pitchFamily="34" charset="-120"/>
              </a:rPr>
              <a:t>many</a:t>
            </a:r>
            <a:endParaRPr lang="en-US" sz="1200" dirty="0"/>
          </a:p>
        </p:txBody>
      </p:sp>
      <p:sp>
        <p:nvSpPr>
          <p:cNvPr id="52" name="Shape 50"/>
          <p:cNvSpPr/>
          <p:nvPr/>
        </p:nvSpPr>
        <p:spPr>
          <a:xfrm>
            <a:off x="566928" y="5376672"/>
            <a:ext cx="2468880" cy="576072"/>
          </a:xfrm>
          <a:prstGeom prst="rect">
            <a:avLst/>
          </a:prstGeom>
          <a:solidFill>
            <a:srgbClr val="FFFFFF"/>
          </a:solidFill>
          <a:ln w="12700">
            <a:solidFill>
              <a:srgbClr val="D6DED8"/>
            </a:solidFill>
            <a:prstDash val="solid"/>
          </a:ln>
        </p:spPr>
      </p:sp>
      <p:sp>
        <p:nvSpPr>
          <p:cNvPr id="53" name="Text 51"/>
          <p:cNvSpPr/>
          <p:nvPr/>
        </p:nvSpPr>
        <p:spPr>
          <a:xfrm>
            <a:off x="694944" y="5376672"/>
            <a:ext cx="2212848" cy="576072"/>
          </a:xfrm>
          <a:prstGeom prst="rect">
            <a:avLst/>
          </a:prstGeom>
          <a:noFill/>
          <a:ln/>
        </p:spPr>
        <p:txBody>
          <a:bodyPr wrap="square" rtlCol="0" anchor="ctr"/>
          <a:lstStyle/>
          <a:p>
            <a:pPr marL="0" indent="0" algn="l">
              <a:buNone/>
            </a:pPr>
            <a:r>
              <a:rPr lang="en-US" sz="1200" b="1" dirty="0">
                <a:solidFill>
                  <a:srgbClr val="17251E"/>
                </a:solidFill>
                <a:latin typeface="Calibri" pitchFamily="34" charset="0"/>
                <a:ea typeface="Calibri" pitchFamily="34" charset="-122"/>
                <a:cs typeface="Calibri" pitchFamily="34" charset="-120"/>
              </a:rPr>
              <a:t>Fit for flight control</a:t>
            </a:r>
            <a:endParaRPr lang="en-US" sz="1200" dirty="0"/>
          </a:p>
        </p:txBody>
      </p:sp>
      <p:sp>
        <p:nvSpPr>
          <p:cNvPr id="54" name="Shape 52"/>
          <p:cNvSpPr/>
          <p:nvPr/>
        </p:nvSpPr>
        <p:spPr>
          <a:xfrm>
            <a:off x="3035808" y="5376672"/>
            <a:ext cx="2862986" cy="576072"/>
          </a:xfrm>
          <a:prstGeom prst="rect">
            <a:avLst/>
          </a:prstGeom>
          <a:solidFill>
            <a:srgbClr val="FFFFFF"/>
          </a:solidFill>
          <a:ln w="12700">
            <a:solidFill>
              <a:srgbClr val="D6DED8"/>
            </a:solidFill>
            <a:prstDash val="solid"/>
          </a:ln>
        </p:spPr>
      </p:sp>
      <p:sp>
        <p:nvSpPr>
          <p:cNvPr id="55" name="Text 53"/>
          <p:cNvSpPr/>
          <p:nvPr/>
        </p:nvSpPr>
        <p:spPr>
          <a:xfrm>
            <a:off x="3163824" y="5376672"/>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poor</a:t>
            </a:r>
            <a:endParaRPr lang="en-US" sz="1200" dirty="0"/>
          </a:p>
        </p:txBody>
      </p:sp>
      <p:sp>
        <p:nvSpPr>
          <p:cNvPr id="56" name="Shape 54"/>
          <p:cNvSpPr/>
          <p:nvPr/>
        </p:nvSpPr>
        <p:spPr>
          <a:xfrm>
            <a:off x="5898794" y="5376672"/>
            <a:ext cx="2862986" cy="576072"/>
          </a:xfrm>
          <a:prstGeom prst="rect">
            <a:avLst/>
          </a:prstGeom>
          <a:solidFill>
            <a:srgbClr val="FFFFFF"/>
          </a:solidFill>
          <a:ln w="12700">
            <a:solidFill>
              <a:srgbClr val="D6DED8"/>
            </a:solidFill>
            <a:prstDash val="solid"/>
          </a:ln>
        </p:spPr>
      </p:sp>
      <p:sp>
        <p:nvSpPr>
          <p:cNvPr id="57" name="Text 55"/>
          <p:cNvSpPr/>
          <p:nvPr/>
        </p:nvSpPr>
        <p:spPr>
          <a:xfrm>
            <a:off x="6026810" y="5376672"/>
            <a:ext cx="2606954" cy="576072"/>
          </a:xfrm>
          <a:prstGeom prst="rect">
            <a:avLst/>
          </a:prstGeom>
          <a:noFill/>
          <a:ln/>
        </p:spPr>
        <p:txBody>
          <a:bodyPr wrap="square" rtlCol="0" anchor="ctr"/>
          <a:lstStyle/>
          <a:p>
            <a:pPr marL="0" indent="0" algn="ctr">
              <a:buNone/>
            </a:pPr>
            <a:r>
              <a:rPr lang="en-US" sz="1200" dirty="0">
                <a:solidFill>
                  <a:srgbClr val="17251E"/>
                </a:solidFill>
                <a:latin typeface="Calibri" pitchFamily="34" charset="0"/>
                <a:ea typeface="Calibri" pitchFamily="34" charset="-122"/>
                <a:cs typeface="Calibri" pitchFamily="34" charset="-120"/>
              </a:rPr>
              <a:t>adequate</a:t>
            </a:r>
            <a:endParaRPr lang="en-US" sz="1200" dirty="0"/>
          </a:p>
        </p:txBody>
      </p:sp>
      <p:sp>
        <p:nvSpPr>
          <p:cNvPr id="58" name="Shape 56"/>
          <p:cNvSpPr/>
          <p:nvPr/>
        </p:nvSpPr>
        <p:spPr>
          <a:xfrm>
            <a:off x="8761781" y="5376672"/>
            <a:ext cx="2862986" cy="576072"/>
          </a:xfrm>
          <a:prstGeom prst="rect">
            <a:avLst/>
          </a:prstGeom>
          <a:solidFill>
            <a:srgbClr val="EFF6E9"/>
          </a:solidFill>
          <a:ln w="12700">
            <a:solidFill>
              <a:srgbClr val="D6DED8"/>
            </a:solidFill>
            <a:prstDash val="solid"/>
          </a:ln>
        </p:spPr>
      </p:sp>
      <p:sp>
        <p:nvSpPr>
          <p:cNvPr id="59" name="Text 57"/>
          <p:cNvSpPr/>
          <p:nvPr/>
        </p:nvSpPr>
        <p:spPr>
          <a:xfrm>
            <a:off x="8889797" y="5376672"/>
            <a:ext cx="2606954" cy="576072"/>
          </a:xfrm>
          <a:prstGeom prst="rect">
            <a:avLst/>
          </a:prstGeom>
          <a:noFill/>
          <a:ln/>
        </p:spPr>
        <p:txBody>
          <a:bodyPr wrap="square" rtlCol="0" anchor="ctr"/>
          <a:lstStyle/>
          <a:p>
            <a:pPr marL="0" indent="0" algn="ctr">
              <a:buNone/>
            </a:pPr>
            <a:r>
              <a:rPr lang="en-US" sz="1200" b="1" dirty="0">
                <a:solidFill>
                  <a:srgbClr val="2E6B4F"/>
                </a:solidFill>
                <a:latin typeface="Calibri" pitchFamily="34" charset="0"/>
                <a:ea typeface="Calibri" pitchFamily="34" charset="-122"/>
                <a:cs typeface="Calibri" pitchFamily="34" charset="-120"/>
              </a:rPr>
              <a:t>strong</a:t>
            </a:r>
            <a:endParaRPr lang="en-US" sz="1200" dirty="0"/>
          </a:p>
        </p:txBody>
      </p:sp>
      <p:sp>
        <p:nvSpPr>
          <p:cNvPr id="60" name="Text 58"/>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libri" pitchFamily="34" charset="0"/>
                <a:ea typeface="Calibri" pitchFamily="34" charset="-122"/>
                <a:cs typeface="Calibri" pitchFamily="34" charset="-120"/>
              </a:rPr>
              <a:t>Sántha Zsolt  ·  Quadcopter flight-control system</a:t>
            </a:r>
            <a:endParaRPr lang="en-US" sz="900" dirty="0"/>
          </a:p>
        </p:txBody>
      </p:sp>
      <p:sp>
        <p:nvSpPr>
          <p:cNvPr id="61" name="Text 59"/>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libri" pitchFamily="34" charset="0"/>
                <a:ea typeface="Calibri" pitchFamily="34" charset="-122"/>
                <a:cs typeface="Calibri" pitchFamily="34" charset="-120"/>
              </a:rPr>
              <a:t>B2</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GETTING DATA IN</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itchFamily="34" charset="0"/>
                <a:ea typeface="Cambria" pitchFamily="34" charset="-122"/>
                <a:cs typeface="Cambria" pitchFamily="34" charset="-120"/>
              </a:rPr>
              <a:t>Reading the IMU: SPI with DMA</a:t>
            </a:r>
            <a:endParaRPr lang="en-US" sz="3400" dirty="0"/>
          </a:p>
        </p:txBody>
      </p:sp>
      <p:sp>
        <p:nvSpPr>
          <p:cNvPr id="4" name="Shape 2"/>
          <p:cNvSpPr/>
          <p:nvPr/>
        </p:nvSpPr>
        <p:spPr>
          <a:xfrm>
            <a:off x="822960" y="2286000"/>
            <a:ext cx="2377440" cy="1005840"/>
          </a:xfrm>
          <a:prstGeom prst="roundRect">
            <a:avLst>
              <a:gd name="adj" fmla="val 5455"/>
            </a:avLst>
          </a:prstGeom>
          <a:solidFill>
            <a:srgbClr val="FFFFFF"/>
          </a:solidFill>
          <a:ln w="12700">
            <a:solidFill>
              <a:srgbClr val="D6DED8"/>
            </a:solidFill>
            <a:prstDash val="solid"/>
          </a:ln>
        </p:spPr>
      </p:sp>
      <p:sp>
        <p:nvSpPr>
          <p:cNvPr id="5" name="Text 3"/>
          <p:cNvSpPr/>
          <p:nvPr/>
        </p:nvSpPr>
        <p:spPr>
          <a:xfrm>
            <a:off x="822960" y="2340864"/>
            <a:ext cx="2377440" cy="603504"/>
          </a:xfrm>
          <a:prstGeom prst="rect">
            <a:avLst/>
          </a:prstGeom>
          <a:noFill/>
          <a:ln/>
        </p:spPr>
        <p:txBody>
          <a:bodyPr wrap="square" rtlCol="0" anchor="ctr"/>
          <a:lstStyle/>
          <a:p>
            <a:pPr marL="0" indent="0" algn="ctr">
              <a:buNone/>
            </a:pPr>
            <a:r>
              <a:rPr lang="en-US" sz="1350" b="1" dirty="0">
                <a:solidFill>
                  <a:srgbClr val="17251E"/>
                </a:solidFill>
                <a:latin typeface="Calibri" pitchFamily="34" charset="0"/>
                <a:ea typeface="Calibri" pitchFamily="34" charset="-122"/>
                <a:cs typeface="Calibri" pitchFamily="34" charset="-120"/>
              </a:rPr>
              <a:t>ICM-20948</a:t>
            </a:r>
            <a:endParaRPr lang="en-US" sz="1350" dirty="0"/>
          </a:p>
        </p:txBody>
      </p:sp>
      <p:sp>
        <p:nvSpPr>
          <p:cNvPr id="6" name="Text 4"/>
          <p:cNvSpPr/>
          <p:nvPr/>
        </p:nvSpPr>
        <p:spPr>
          <a:xfrm>
            <a:off x="822960" y="2809037"/>
            <a:ext cx="2377440" cy="422453"/>
          </a:xfrm>
          <a:prstGeom prst="rect">
            <a:avLst/>
          </a:prstGeom>
          <a:noFill/>
          <a:ln/>
        </p:spPr>
        <p:txBody>
          <a:bodyPr wrap="square" rtlCol="0" anchor="ctr"/>
          <a:lstStyle/>
          <a:p>
            <a:pPr marL="0" indent="0" algn="ctr">
              <a:buNone/>
            </a:pPr>
            <a:r>
              <a:rPr lang="en-US" sz="1050" dirty="0">
                <a:solidFill>
                  <a:srgbClr val="17251E"/>
                </a:solidFill>
                <a:latin typeface="Calibri" pitchFamily="34" charset="0"/>
                <a:ea typeface="Calibri" pitchFamily="34" charset="-122"/>
                <a:cs typeface="Calibri" pitchFamily="34" charset="-120"/>
              </a:rPr>
              <a:t>9-axis sensor</a:t>
            </a:r>
            <a:endParaRPr lang="en-US" sz="1050" dirty="0"/>
          </a:p>
        </p:txBody>
      </p:sp>
      <p:sp>
        <p:nvSpPr>
          <p:cNvPr id="7" name="Shape 5"/>
          <p:cNvSpPr/>
          <p:nvPr/>
        </p:nvSpPr>
        <p:spPr>
          <a:xfrm>
            <a:off x="3931920" y="2286000"/>
            <a:ext cx="2377440" cy="1005840"/>
          </a:xfrm>
          <a:prstGeom prst="roundRect">
            <a:avLst>
              <a:gd name="adj" fmla="val 5455"/>
            </a:avLst>
          </a:prstGeom>
          <a:solidFill>
            <a:srgbClr val="FFFFFF"/>
          </a:solidFill>
          <a:ln w="12700">
            <a:solidFill>
              <a:srgbClr val="D6DED8"/>
            </a:solidFill>
            <a:prstDash val="solid"/>
          </a:ln>
        </p:spPr>
      </p:sp>
      <p:sp>
        <p:nvSpPr>
          <p:cNvPr id="8" name="Text 6"/>
          <p:cNvSpPr/>
          <p:nvPr/>
        </p:nvSpPr>
        <p:spPr>
          <a:xfrm>
            <a:off x="3931920" y="2340864"/>
            <a:ext cx="2377440" cy="603504"/>
          </a:xfrm>
          <a:prstGeom prst="rect">
            <a:avLst/>
          </a:prstGeom>
          <a:noFill/>
          <a:ln/>
        </p:spPr>
        <p:txBody>
          <a:bodyPr wrap="square" rtlCol="0" anchor="ctr"/>
          <a:lstStyle/>
          <a:p>
            <a:pPr marL="0" indent="0" algn="ctr">
              <a:buNone/>
            </a:pPr>
            <a:r>
              <a:rPr lang="en-US" sz="1350" b="1" dirty="0">
                <a:solidFill>
                  <a:srgbClr val="17251E"/>
                </a:solidFill>
                <a:latin typeface="Calibri" pitchFamily="34" charset="0"/>
                <a:ea typeface="Calibri" pitchFamily="34" charset="-122"/>
                <a:cs typeface="Calibri" pitchFamily="34" charset="-120"/>
              </a:rPr>
              <a:t>SPI bus</a:t>
            </a:r>
            <a:endParaRPr lang="en-US" sz="1350" dirty="0"/>
          </a:p>
        </p:txBody>
      </p:sp>
      <p:sp>
        <p:nvSpPr>
          <p:cNvPr id="9" name="Text 7"/>
          <p:cNvSpPr/>
          <p:nvPr/>
        </p:nvSpPr>
        <p:spPr>
          <a:xfrm>
            <a:off x="3931920" y="2809037"/>
            <a:ext cx="2377440" cy="422453"/>
          </a:xfrm>
          <a:prstGeom prst="rect">
            <a:avLst/>
          </a:prstGeom>
          <a:noFill/>
          <a:ln/>
        </p:spPr>
        <p:txBody>
          <a:bodyPr wrap="square" rtlCol="0" anchor="ctr"/>
          <a:lstStyle/>
          <a:p>
            <a:pPr marL="0" indent="0" algn="ctr">
              <a:buNone/>
            </a:pPr>
            <a:r>
              <a:rPr lang="en-US" sz="1050" dirty="0">
                <a:solidFill>
                  <a:srgbClr val="17251E"/>
                </a:solidFill>
                <a:latin typeface="Calibri" pitchFamily="34" charset="0"/>
                <a:ea typeface="Calibri" pitchFamily="34" charset="-122"/>
                <a:cs typeface="Calibri" pitchFamily="34" charset="-120"/>
              </a:rPr>
              <a:t>up to 7 MHz</a:t>
            </a:r>
            <a:endParaRPr lang="en-US" sz="1050" dirty="0"/>
          </a:p>
        </p:txBody>
      </p:sp>
      <p:sp>
        <p:nvSpPr>
          <p:cNvPr id="10" name="Shape 8"/>
          <p:cNvSpPr/>
          <p:nvPr/>
        </p:nvSpPr>
        <p:spPr>
          <a:xfrm>
            <a:off x="7040880" y="2286000"/>
            <a:ext cx="2377440" cy="1005840"/>
          </a:xfrm>
          <a:prstGeom prst="roundRect">
            <a:avLst>
              <a:gd name="adj" fmla="val 5455"/>
            </a:avLst>
          </a:prstGeom>
          <a:solidFill>
            <a:srgbClr val="E8B23A"/>
          </a:solidFill>
          <a:ln w="12700">
            <a:solidFill>
              <a:srgbClr val="D6DED8"/>
            </a:solidFill>
            <a:prstDash val="solid"/>
          </a:ln>
        </p:spPr>
      </p:sp>
      <p:sp>
        <p:nvSpPr>
          <p:cNvPr id="11" name="Text 9"/>
          <p:cNvSpPr/>
          <p:nvPr/>
        </p:nvSpPr>
        <p:spPr>
          <a:xfrm>
            <a:off x="7040880" y="2340864"/>
            <a:ext cx="2377440" cy="603504"/>
          </a:xfrm>
          <a:prstGeom prst="rect">
            <a:avLst/>
          </a:prstGeom>
          <a:noFill/>
          <a:ln/>
        </p:spPr>
        <p:txBody>
          <a:bodyPr wrap="square" rtlCol="0" anchor="ctr"/>
          <a:lstStyle/>
          <a:p>
            <a:pPr marL="0" indent="0" algn="ctr">
              <a:buNone/>
            </a:pPr>
            <a:r>
              <a:rPr lang="en-US" sz="1350" b="1" dirty="0">
                <a:solidFill>
                  <a:srgbClr val="1B2B24"/>
                </a:solidFill>
                <a:latin typeface="Calibri" pitchFamily="34" charset="0"/>
                <a:ea typeface="Calibri" pitchFamily="34" charset="-122"/>
                <a:cs typeface="Calibri" pitchFamily="34" charset="-120"/>
              </a:rPr>
              <a:t>DMA</a:t>
            </a:r>
            <a:endParaRPr lang="en-US" sz="1350" dirty="0"/>
          </a:p>
        </p:txBody>
      </p:sp>
      <p:sp>
        <p:nvSpPr>
          <p:cNvPr id="12" name="Text 10"/>
          <p:cNvSpPr/>
          <p:nvPr/>
        </p:nvSpPr>
        <p:spPr>
          <a:xfrm>
            <a:off x="7040880" y="2809037"/>
            <a:ext cx="2377440" cy="422453"/>
          </a:xfrm>
          <a:prstGeom prst="rect">
            <a:avLst/>
          </a:prstGeom>
          <a:noFill/>
          <a:ln/>
        </p:spPr>
        <p:txBody>
          <a:bodyPr wrap="square" rtlCol="0" anchor="ctr"/>
          <a:lstStyle/>
          <a:p>
            <a:pPr marL="0" indent="0" algn="ctr">
              <a:buNone/>
            </a:pPr>
            <a:r>
              <a:rPr lang="en-US" sz="1050" dirty="0">
                <a:solidFill>
                  <a:srgbClr val="1B2B24"/>
                </a:solidFill>
                <a:latin typeface="Calibri" pitchFamily="34" charset="0"/>
                <a:ea typeface="Calibri" pitchFamily="34" charset="-122"/>
                <a:cs typeface="Calibri" pitchFamily="34" charset="-120"/>
              </a:rPr>
              <a:t>autonomous copy</a:t>
            </a:r>
            <a:endParaRPr lang="en-US" sz="1050" dirty="0"/>
          </a:p>
        </p:txBody>
      </p:sp>
      <p:sp>
        <p:nvSpPr>
          <p:cNvPr id="13" name="Shape 11"/>
          <p:cNvSpPr/>
          <p:nvPr/>
        </p:nvSpPr>
        <p:spPr>
          <a:xfrm>
            <a:off x="10149840" y="2286000"/>
            <a:ext cx="1463040" cy="1005840"/>
          </a:xfrm>
          <a:prstGeom prst="roundRect">
            <a:avLst>
              <a:gd name="adj" fmla="val 5455"/>
            </a:avLst>
          </a:prstGeom>
          <a:solidFill>
            <a:srgbClr val="2E6B4F"/>
          </a:solidFill>
          <a:ln w="12700">
            <a:solidFill>
              <a:srgbClr val="D6DED8"/>
            </a:solidFill>
            <a:prstDash val="solid"/>
          </a:ln>
        </p:spPr>
      </p:sp>
      <p:sp>
        <p:nvSpPr>
          <p:cNvPr id="14" name="Text 12"/>
          <p:cNvSpPr/>
          <p:nvPr/>
        </p:nvSpPr>
        <p:spPr>
          <a:xfrm>
            <a:off x="10149840" y="2286000"/>
            <a:ext cx="1463040" cy="10058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RAM</a:t>
            </a:r>
            <a:endParaRPr lang="en-US" sz="1350" dirty="0"/>
          </a:p>
        </p:txBody>
      </p:sp>
      <p:sp>
        <p:nvSpPr>
          <p:cNvPr id="15" name="Shape 13"/>
          <p:cNvSpPr/>
          <p:nvPr/>
        </p:nvSpPr>
        <p:spPr>
          <a:xfrm>
            <a:off x="3200400" y="2788920"/>
            <a:ext cx="731520" cy="0"/>
          </a:xfrm>
          <a:prstGeom prst="line">
            <a:avLst/>
          </a:prstGeom>
          <a:noFill/>
          <a:ln w="28575">
            <a:solidFill>
              <a:srgbClr val="2E6B4F"/>
            </a:solidFill>
            <a:prstDash val="solid"/>
            <a:tailEnd type="triangle"/>
          </a:ln>
        </p:spPr>
      </p:sp>
      <p:sp>
        <p:nvSpPr>
          <p:cNvPr id="16" name="Shape 14"/>
          <p:cNvSpPr/>
          <p:nvPr/>
        </p:nvSpPr>
        <p:spPr>
          <a:xfrm>
            <a:off x="6309360" y="2788920"/>
            <a:ext cx="731520" cy="0"/>
          </a:xfrm>
          <a:prstGeom prst="line">
            <a:avLst/>
          </a:prstGeom>
          <a:noFill/>
          <a:ln w="28575">
            <a:solidFill>
              <a:srgbClr val="2E6B4F"/>
            </a:solidFill>
            <a:prstDash val="solid"/>
            <a:tailEnd type="triangle"/>
          </a:ln>
        </p:spPr>
      </p:sp>
      <p:sp>
        <p:nvSpPr>
          <p:cNvPr id="17" name="Shape 15"/>
          <p:cNvSpPr/>
          <p:nvPr/>
        </p:nvSpPr>
        <p:spPr>
          <a:xfrm>
            <a:off x="9418320" y="2788920"/>
            <a:ext cx="731520" cy="0"/>
          </a:xfrm>
          <a:prstGeom prst="line">
            <a:avLst/>
          </a:prstGeom>
          <a:noFill/>
          <a:ln w="28575">
            <a:solidFill>
              <a:srgbClr val="2E6B4F"/>
            </a:solidFill>
            <a:prstDash val="solid"/>
            <a:tailEnd type="triangle"/>
          </a:ln>
        </p:spPr>
      </p:sp>
      <p:sp>
        <p:nvSpPr>
          <p:cNvPr id="18" name="Shape 16"/>
          <p:cNvSpPr/>
          <p:nvPr/>
        </p:nvSpPr>
        <p:spPr>
          <a:xfrm>
            <a:off x="566928" y="3794760"/>
            <a:ext cx="11057839" cy="1920240"/>
          </a:xfrm>
          <a:prstGeom prst="roundRect">
            <a:avLst>
              <a:gd name="adj" fmla="val 3810"/>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19" name="Text 17"/>
          <p:cNvSpPr/>
          <p:nvPr/>
        </p:nvSpPr>
        <p:spPr>
          <a:xfrm>
            <a:off x="932688" y="3950208"/>
            <a:ext cx="5486400" cy="365760"/>
          </a:xfrm>
          <a:prstGeom prst="rect">
            <a:avLst/>
          </a:prstGeom>
          <a:noFill/>
          <a:ln/>
        </p:spPr>
        <p:txBody>
          <a:bodyPr wrap="square" rtlCol="0" anchor="ctr"/>
          <a:lstStyle/>
          <a:p>
            <a:pPr marL="0" indent="0">
              <a:buNone/>
            </a:pPr>
            <a:r>
              <a:rPr lang="en-US" sz="1800" b="1" dirty="0">
                <a:solidFill>
                  <a:srgbClr val="E8B23A"/>
                </a:solidFill>
                <a:latin typeface="Cambria" pitchFamily="34" charset="0"/>
                <a:ea typeface="Cambria" pitchFamily="34" charset="-122"/>
                <a:cs typeface="Cambria" pitchFamily="34" charset="-120"/>
              </a:rPr>
              <a:t>Why DMA matters</a:t>
            </a:r>
            <a:endParaRPr lang="en-US" sz="1800" dirty="0"/>
          </a:p>
        </p:txBody>
      </p:sp>
      <p:sp>
        <p:nvSpPr>
          <p:cNvPr id="20" name="Text 18"/>
          <p:cNvSpPr/>
          <p:nvPr/>
        </p:nvSpPr>
        <p:spPr>
          <a:xfrm>
            <a:off x="932688" y="4389120"/>
            <a:ext cx="3200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Frees the CPU</a:t>
            </a:r>
            <a:endParaRPr lang="en-US" sz="1400" dirty="0"/>
          </a:p>
        </p:txBody>
      </p:sp>
      <p:sp>
        <p:nvSpPr>
          <p:cNvPr id="21" name="Text 19"/>
          <p:cNvSpPr/>
          <p:nvPr/>
        </p:nvSpPr>
        <p:spPr>
          <a:xfrm>
            <a:off x="932688" y="4754880"/>
            <a:ext cx="3200400" cy="822960"/>
          </a:xfrm>
          <a:prstGeom prst="rect">
            <a:avLst/>
          </a:prstGeom>
          <a:noFill/>
          <a:ln/>
        </p:spPr>
        <p:txBody>
          <a:bodyPr wrap="square" rtlCol="0" anchor="ctr"/>
          <a:lstStyle/>
          <a:p>
            <a:pPr marL="0" indent="0">
              <a:lnSpc>
                <a:spcPts val="1700"/>
              </a:lnSpc>
              <a:buNone/>
            </a:pPr>
            <a:r>
              <a:rPr lang="en-US" sz="1250" dirty="0">
                <a:solidFill>
                  <a:srgbClr val="7FA98C"/>
                </a:solidFill>
                <a:latin typeface="Calibri" pitchFamily="34" charset="0"/>
                <a:ea typeface="Calibri" pitchFamily="34" charset="-122"/>
                <a:cs typeface="Calibri" pitchFamily="34" charset="-120"/>
              </a:rPr>
              <a:t>the processor never waits on byte-by-byte transfers</a:t>
            </a:r>
            <a:endParaRPr lang="en-US" sz="1250" dirty="0"/>
          </a:p>
        </p:txBody>
      </p:sp>
      <p:sp>
        <p:nvSpPr>
          <p:cNvPr id="22" name="Text 20"/>
          <p:cNvSpPr/>
          <p:nvPr/>
        </p:nvSpPr>
        <p:spPr>
          <a:xfrm>
            <a:off x="4361688" y="4389120"/>
            <a:ext cx="3200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Deterministic timing</a:t>
            </a:r>
            <a:endParaRPr lang="en-US" sz="1400" dirty="0"/>
          </a:p>
        </p:txBody>
      </p:sp>
      <p:sp>
        <p:nvSpPr>
          <p:cNvPr id="23" name="Text 21"/>
          <p:cNvSpPr/>
          <p:nvPr/>
        </p:nvSpPr>
        <p:spPr>
          <a:xfrm>
            <a:off x="4361688" y="4754880"/>
            <a:ext cx="3200400" cy="822960"/>
          </a:xfrm>
          <a:prstGeom prst="rect">
            <a:avLst/>
          </a:prstGeom>
          <a:noFill/>
          <a:ln/>
        </p:spPr>
        <p:txBody>
          <a:bodyPr wrap="square" rtlCol="0" anchor="ctr"/>
          <a:lstStyle/>
          <a:p>
            <a:pPr marL="0" indent="0">
              <a:lnSpc>
                <a:spcPts val="1700"/>
              </a:lnSpc>
              <a:buNone/>
            </a:pPr>
            <a:r>
              <a:rPr lang="en-US" sz="1250" dirty="0">
                <a:solidFill>
                  <a:srgbClr val="7FA98C"/>
                </a:solidFill>
                <a:latin typeface="Calibri" pitchFamily="34" charset="0"/>
                <a:ea typeface="Calibri" pitchFamily="34" charset="-122"/>
                <a:cs typeface="Calibri" pitchFamily="34" charset="-120"/>
              </a:rPr>
              <a:t>samples arrive on a fixed 100 Hz cadence</a:t>
            </a:r>
            <a:endParaRPr lang="en-US" sz="1250" dirty="0"/>
          </a:p>
        </p:txBody>
      </p:sp>
      <p:sp>
        <p:nvSpPr>
          <p:cNvPr id="24" name="Text 22"/>
          <p:cNvSpPr/>
          <p:nvPr/>
        </p:nvSpPr>
        <p:spPr>
          <a:xfrm>
            <a:off x="7790688" y="4389120"/>
            <a:ext cx="3200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Head-room for control</a:t>
            </a:r>
            <a:endParaRPr lang="en-US" sz="1400" dirty="0"/>
          </a:p>
        </p:txBody>
      </p:sp>
      <p:sp>
        <p:nvSpPr>
          <p:cNvPr id="25" name="Text 23"/>
          <p:cNvSpPr/>
          <p:nvPr/>
        </p:nvSpPr>
        <p:spPr>
          <a:xfrm>
            <a:off x="7790688" y="4754880"/>
            <a:ext cx="3200400" cy="822960"/>
          </a:xfrm>
          <a:prstGeom prst="rect">
            <a:avLst/>
          </a:prstGeom>
          <a:noFill/>
          <a:ln/>
        </p:spPr>
        <p:txBody>
          <a:bodyPr wrap="square" rtlCol="0" anchor="ctr"/>
          <a:lstStyle/>
          <a:p>
            <a:pPr marL="0" indent="0">
              <a:lnSpc>
                <a:spcPts val="1700"/>
              </a:lnSpc>
              <a:buNone/>
            </a:pPr>
            <a:r>
              <a:rPr lang="en-US" sz="1250" dirty="0">
                <a:solidFill>
                  <a:srgbClr val="7FA98C"/>
                </a:solidFill>
                <a:latin typeface="Calibri" pitchFamily="34" charset="0"/>
                <a:ea typeface="Calibri" pitchFamily="34" charset="-122"/>
                <a:cs typeface="Calibri" pitchFamily="34" charset="-120"/>
              </a:rPr>
              <a:t>more cycles left for estimation and PID</a:t>
            </a:r>
            <a:endParaRPr lang="en-US" sz="1250" dirty="0"/>
          </a:p>
        </p:txBody>
      </p:sp>
      <p:sp>
        <p:nvSpPr>
          <p:cNvPr id="26" name="Text 24"/>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libri" pitchFamily="34" charset="0"/>
                <a:ea typeface="Calibri" pitchFamily="34" charset="-122"/>
                <a:cs typeface="Calibri" pitchFamily="34" charset="-120"/>
              </a:rPr>
              <a:t>Sántha Zsolt  ·  Quadcopter flight-control system</a:t>
            </a:r>
            <a:endParaRPr lang="en-US" sz="900" dirty="0"/>
          </a:p>
        </p:txBody>
      </p:sp>
      <p:sp>
        <p:nvSpPr>
          <p:cNvPr id="27" name="Text 25"/>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Kép 1"/>
          <p:cNvPicPr>
            <a:picLocks noChangeAspect="1"/>
          </p:cNvPicPr>
          <p:nvPr/>
        </p:nvPicPr>
        <p:blipFill rotWithShape="1">
          <a:blip r:embed="rId2"/>
          <a:srcRect l="36921" t="24259" r="31372" b="24760"/>
          <a:stretch/>
        </p:blipFill>
        <p:spPr>
          <a:xfrm>
            <a:off x="1019174" y="2181224"/>
            <a:ext cx="1857375" cy="2247900"/>
          </a:xfrm>
          <a:prstGeom prst="rect">
            <a:avLst/>
          </a:prstGeom>
        </p:spPr>
      </p:pic>
      <p:pic>
        <p:nvPicPr>
          <p:cNvPr id="3" name="Kép 2"/>
          <p:cNvPicPr>
            <a:picLocks noChangeAspect="1"/>
          </p:cNvPicPr>
          <p:nvPr/>
        </p:nvPicPr>
        <p:blipFill>
          <a:blip r:embed="rId3"/>
          <a:stretch>
            <a:fillRect/>
          </a:stretch>
        </p:blipFill>
        <p:spPr>
          <a:xfrm>
            <a:off x="5200650" y="1809750"/>
            <a:ext cx="1795918" cy="2619374"/>
          </a:xfrm>
          <a:prstGeom prst="rect">
            <a:avLst/>
          </a:prstGeom>
        </p:spPr>
      </p:pic>
      <p:pic>
        <p:nvPicPr>
          <p:cNvPr id="1026" name="Picture 2" descr="Senzor de Miscare ICM-20948 9 Axe, 2,5 mW, Negru, Set"/>
          <p:cNvPicPr>
            <a:picLocks noChangeAspect="1" noChangeArrowheads="1"/>
          </p:cNvPicPr>
          <p:nvPr/>
        </p:nvPicPr>
        <p:blipFill rotWithShape="1">
          <a:blip r:embed="rId4">
            <a:extLst>
              <a:ext uri="{28A0092B-C50C-407E-A947-70E740481C1C}">
                <a14:useLocalDpi xmlns:a14="http://schemas.microsoft.com/office/drawing/2010/main" val="0"/>
              </a:ext>
            </a:extLst>
          </a:blip>
          <a:srcRect l="14062" t="19643" r="10714" b="12389"/>
          <a:stretch/>
        </p:blipFill>
        <p:spPr bwMode="auto">
          <a:xfrm>
            <a:off x="8394700" y="1809750"/>
            <a:ext cx="2898949" cy="261937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Egyenes összekötő 4"/>
          <p:cNvCxnSpPr/>
          <p:nvPr/>
        </p:nvCxnSpPr>
        <p:spPr>
          <a:xfrm>
            <a:off x="809623" y="1809750"/>
            <a:ext cx="2276475" cy="29908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Egyenes összekötő 8"/>
          <p:cNvCxnSpPr/>
          <p:nvPr/>
        </p:nvCxnSpPr>
        <p:spPr>
          <a:xfrm flipH="1">
            <a:off x="809623" y="1809750"/>
            <a:ext cx="2276475" cy="29908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Szövegdoboz 10"/>
          <p:cNvSpPr txBox="1"/>
          <p:nvPr/>
        </p:nvSpPr>
        <p:spPr>
          <a:xfrm>
            <a:off x="1133475" y="4581525"/>
            <a:ext cx="1952623" cy="369332"/>
          </a:xfrm>
          <a:prstGeom prst="rect">
            <a:avLst/>
          </a:prstGeom>
          <a:noFill/>
        </p:spPr>
        <p:txBody>
          <a:bodyPr wrap="square" rtlCol="0">
            <a:spAutoFit/>
          </a:bodyPr>
          <a:lstStyle/>
          <a:p>
            <a:pPr algn="ctr"/>
            <a:r>
              <a:rPr lang="en-US" dirty="0" smtClean="0">
                <a:latin typeface="Cambria" panose="02040503050406030204" pitchFamily="18" charset="0"/>
                <a:ea typeface="Cambria" panose="02040503050406030204" pitchFamily="18" charset="0"/>
              </a:rPr>
              <a:t>MPU6050</a:t>
            </a:r>
            <a:endParaRPr lang="en-US" dirty="0">
              <a:latin typeface="Cambria" panose="02040503050406030204" pitchFamily="18" charset="0"/>
              <a:ea typeface="Cambria" panose="02040503050406030204" pitchFamily="18" charset="0"/>
            </a:endParaRPr>
          </a:p>
        </p:txBody>
      </p:sp>
      <p:sp>
        <p:nvSpPr>
          <p:cNvPr id="13" name="Szövegdoboz 12"/>
          <p:cNvSpPr txBox="1"/>
          <p:nvPr/>
        </p:nvSpPr>
        <p:spPr>
          <a:xfrm>
            <a:off x="5122297" y="4615934"/>
            <a:ext cx="1952623" cy="369332"/>
          </a:xfrm>
          <a:prstGeom prst="rect">
            <a:avLst/>
          </a:prstGeom>
          <a:noFill/>
        </p:spPr>
        <p:txBody>
          <a:bodyPr wrap="square" rtlCol="0">
            <a:spAutoFit/>
          </a:bodyPr>
          <a:lstStyle/>
          <a:p>
            <a:pPr algn="ctr"/>
            <a:r>
              <a:rPr lang="en-US" dirty="0" smtClean="0">
                <a:latin typeface="Cambria" panose="02040503050406030204" pitchFamily="18" charset="0"/>
                <a:ea typeface="Cambria" panose="02040503050406030204" pitchFamily="18" charset="0"/>
              </a:rPr>
              <a:t>MPU9250</a:t>
            </a:r>
            <a:endParaRPr lang="en-US" dirty="0">
              <a:latin typeface="Cambria" panose="02040503050406030204" pitchFamily="18" charset="0"/>
              <a:ea typeface="Cambria" panose="02040503050406030204" pitchFamily="18" charset="0"/>
            </a:endParaRPr>
          </a:p>
        </p:txBody>
      </p:sp>
      <p:sp>
        <p:nvSpPr>
          <p:cNvPr id="14" name="Szövegdoboz 13"/>
          <p:cNvSpPr txBox="1"/>
          <p:nvPr/>
        </p:nvSpPr>
        <p:spPr>
          <a:xfrm>
            <a:off x="8867862" y="4558784"/>
            <a:ext cx="1952623" cy="369332"/>
          </a:xfrm>
          <a:prstGeom prst="rect">
            <a:avLst/>
          </a:prstGeom>
          <a:noFill/>
        </p:spPr>
        <p:txBody>
          <a:bodyPr wrap="square" rtlCol="0">
            <a:spAutoFit/>
          </a:bodyPr>
          <a:lstStyle/>
          <a:p>
            <a:pPr algn="ctr"/>
            <a:r>
              <a:rPr lang="en-US" dirty="0" smtClean="0">
                <a:latin typeface="Cambria" panose="02040503050406030204" pitchFamily="18" charset="0"/>
                <a:ea typeface="Cambria" panose="02040503050406030204" pitchFamily="18" charset="0"/>
              </a:rPr>
              <a:t>ICM20948</a:t>
            </a:r>
            <a:endParaRPr lang="en-US" dirty="0">
              <a:latin typeface="Cambria" panose="02040503050406030204" pitchFamily="18" charset="0"/>
              <a:ea typeface="Cambria" panose="02040503050406030204" pitchFamily="18" charset="0"/>
            </a:endParaRPr>
          </a:p>
        </p:txBody>
      </p:sp>
      <p:cxnSp>
        <p:nvCxnSpPr>
          <p:cNvPr id="15" name="Egyenes összekötő 14"/>
          <p:cNvCxnSpPr/>
          <p:nvPr/>
        </p:nvCxnSpPr>
        <p:spPr>
          <a:xfrm flipH="1">
            <a:off x="4879041" y="1567934"/>
            <a:ext cx="2276474" cy="323266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Egyenes összekötő 18"/>
          <p:cNvCxnSpPr/>
          <p:nvPr/>
        </p:nvCxnSpPr>
        <p:spPr>
          <a:xfrm>
            <a:off x="5036570" y="1625084"/>
            <a:ext cx="2276475" cy="330303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 1"/>
          <p:cNvSpPr/>
          <p:nvPr/>
        </p:nvSpPr>
        <p:spPr>
          <a:xfrm>
            <a:off x="319278" y="469713"/>
            <a:ext cx="11057839" cy="822960"/>
          </a:xfrm>
          <a:prstGeom prst="rect">
            <a:avLst/>
          </a:prstGeom>
          <a:noFill/>
          <a:ln/>
        </p:spPr>
        <p:txBody>
          <a:bodyPr wrap="square" rtlCol="0" anchor="ctr"/>
          <a:lstStyle/>
          <a:p>
            <a:pPr marL="0" indent="0">
              <a:lnSpc>
                <a:spcPts val="3600"/>
              </a:lnSpc>
              <a:buNone/>
            </a:pPr>
            <a:r>
              <a:rPr lang="en-US" sz="3400" b="1" dirty="0" smtClean="0">
                <a:solidFill>
                  <a:srgbClr val="17251E"/>
                </a:solidFill>
                <a:latin typeface="Cambria" pitchFamily="34" charset="0"/>
                <a:ea typeface="Cambria" pitchFamily="34" charset="-122"/>
                <a:cs typeface="Cambria" pitchFamily="34" charset="-120"/>
              </a:rPr>
              <a:t>The right IMU</a:t>
            </a:r>
            <a:endParaRPr lang="en-US" sz="3400" dirty="0"/>
          </a:p>
        </p:txBody>
      </p:sp>
      <p:sp>
        <p:nvSpPr>
          <p:cNvPr id="22" name="Szövegdoboz 21"/>
          <p:cNvSpPr txBox="1"/>
          <p:nvPr/>
        </p:nvSpPr>
        <p:spPr>
          <a:xfrm>
            <a:off x="647700" y="4985266"/>
            <a:ext cx="2919411" cy="923330"/>
          </a:xfrm>
          <a:prstGeom prst="rect">
            <a:avLst/>
          </a:prstGeom>
          <a:noFill/>
        </p:spPr>
        <p:txBody>
          <a:bodyPr wrap="square" rtlCol="0">
            <a:spAutoFit/>
          </a:bodyPr>
          <a:lstStyle/>
          <a:p>
            <a:r>
              <a:rPr lang="en-US" dirty="0" smtClean="0">
                <a:latin typeface="Cambria" panose="02040503050406030204" pitchFamily="18" charset="0"/>
                <a:ea typeface="Cambria" panose="02040503050406030204" pitchFamily="18" charset="0"/>
              </a:rPr>
              <a:t>6-axis device</a:t>
            </a:r>
          </a:p>
          <a:p>
            <a:r>
              <a:rPr lang="en-US" dirty="0" smtClean="0">
                <a:latin typeface="Cambria" panose="02040503050406030204" pitchFamily="18" charset="0"/>
                <a:ea typeface="Cambria" panose="02040503050406030204" pitchFamily="18" charset="0"/>
              </a:rPr>
              <a:t>without magnetometer, yaw drifts without bound</a:t>
            </a:r>
            <a:endParaRPr lang="en-US" dirty="0">
              <a:latin typeface="Cambria" panose="02040503050406030204" pitchFamily="18" charset="0"/>
              <a:ea typeface="Cambria" panose="02040503050406030204" pitchFamily="18" charset="0"/>
            </a:endParaRPr>
          </a:p>
        </p:txBody>
      </p:sp>
      <p:sp>
        <p:nvSpPr>
          <p:cNvPr id="25" name="Szövegdoboz 24"/>
          <p:cNvSpPr txBox="1"/>
          <p:nvPr/>
        </p:nvSpPr>
        <p:spPr>
          <a:xfrm>
            <a:off x="4641283" y="5075861"/>
            <a:ext cx="2914650" cy="923330"/>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9</a:t>
            </a:r>
            <a:r>
              <a:rPr lang="en-US" dirty="0" smtClean="0">
                <a:latin typeface="Cambria" panose="02040503050406030204" pitchFamily="18" charset="0"/>
                <a:ea typeface="Cambria" panose="02040503050406030204" pitchFamily="18" charset="0"/>
              </a:rPr>
              <a:t>-axis device</a:t>
            </a:r>
          </a:p>
          <a:p>
            <a:r>
              <a:rPr lang="en-US" dirty="0" err="1" smtClean="0">
                <a:latin typeface="Cambria" panose="02040503050406030204" pitchFamily="18" charset="0"/>
                <a:ea typeface="Cambria" panose="02040503050406030204" pitchFamily="18" charset="0"/>
              </a:rPr>
              <a:t>InvenSense</a:t>
            </a:r>
            <a:r>
              <a:rPr lang="en-US" dirty="0" smtClean="0">
                <a:latin typeface="Cambria" panose="02040503050406030204" pitchFamily="18" charset="0"/>
                <a:ea typeface="Cambria" panose="02040503050406030204" pitchFamily="18" charset="0"/>
              </a:rPr>
              <a:t> discontinued -&gt; hard to source reliably</a:t>
            </a:r>
            <a:endParaRPr lang="en-US" dirty="0">
              <a:latin typeface="Cambria" panose="02040503050406030204" pitchFamily="18" charset="0"/>
              <a:ea typeface="Cambria" panose="02040503050406030204" pitchFamily="18" charset="0"/>
            </a:endParaRPr>
          </a:p>
        </p:txBody>
      </p:sp>
      <p:sp>
        <p:nvSpPr>
          <p:cNvPr id="27" name="Szövegdoboz 26"/>
          <p:cNvSpPr txBox="1"/>
          <p:nvPr/>
        </p:nvSpPr>
        <p:spPr>
          <a:xfrm>
            <a:off x="8378999" y="5120379"/>
            <a:ext cx="2914650" cy="1200329"/>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9</a:t>
            </a:r>
            <a:r>
              <a:rPr lang="en-US" dirty="0" smtClean="0">
                <a:latin typeface="Cambria" panose="02040503050406030204" pitchFamily="18" charset="0"/>
                <a:ea typeface="Cambria" panose="02040503050406030204" pitchFamily="18" charset="0"/>
              </a:rPr>
              <a:t>-axis device</a:t>
            </a:r>
          </a:p>
          <a:p>
            <a:r>
              <a:rPr lang="en-US" dirty="0" smtClean="0">
                <a:latin typeface="Cambria" panose="02040503050406030204" pitchFamily="18" charset="0"/>
                <a:ea typeface="Cambria" panose="02040503050406030204" pitchFamily="18" charset="0"/>
              </a:rPr>
              <a:t>Low power, newer generation</a:t>
            </a:r>
          </a:p>
          <a:p>
            <a:r>
              <a:rPr lang="en-US" dirty="0" smtClean="0">
                <a:latin typeface="Cambria" panose="02040503050406030204" pitchFamily="18" charset="0"/>
                <a:ea typeface="Cambria" panose="02040503050406030204" pitchFamily="18" charset="0"/>
              </a:rPr>
              <a:t>Large accuracy</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75429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ATTITUDE ESTIMATION — THE PROBLEM</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itchFamily="34" charset="0"/>
                <a:ea typeface="Cambria" pitchFamily="34" charset="-122"/>
                <a:cs typeface="Cambria" pitchFamily="34" charset="-120"/>
              </a:rPr>
              <a:t>No single sensor is enough</a:t>
            </a:r>
            <a:endParaRPr lang="en-US" sz="3400" dirty="0"/>
          </a:p>
        </p:txBody>
      </p:sp>
      <p:sp>
        <p:nvSpPr>
          <p:cNvPr id="4" name="Shape 2"/>
          <p:cNvSpPr/>
          <p:nvPr/>
        </p:nvSpPr>
        <p:spPr>
          <a:xfrm>
            <a:off x="343697" y="1433373"/>
            <a:ext cx="5346040" cy="2834640"/>
          </a:xfrm>
          <a:prstGeom prst="roundRect">
            <a:avLst>
              <a:gd name="adj" fmla="val 2581"/>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5" name="Text 3"/>
          <p:cNvSpPr/>
          <p:nvPr/>
        </p:nvSpPr>
        <p:spPr>
          <a:xfrm>
            <a:off x="566927" y="1548418"/>
            <a:ext cx="4572000" cy="365760"/>
          </a:xfrm>
          <a:prstGeom prst="rect">
            <a:avLst/>
          </a:prstGeom>
          <a:noFill/>
          <a:ln/>
        </p:spPr>
        <p:txBody>
          <a:bodyPr wrap="square" rtlCol="0" anchor="ctr"/>
          <a:lstStyle/>
          <a:p>
            <a:pPr marL="0" indent="0">
              <a:buNone/>
            </a:pPr>
            <a:r>
              <a:rPr lang="en-US" sz="1800" b="1" dirty="0">
                <a:solidFill>
                  <a:srgbClr val="2E6B4F"/>
                </a:solidFill>
                <a:latin typeface="Cambria" pitchFamily="34" charset="0"/>
                <a:ea typeface="Cambria" pitchFamily="34" charset="-122"/>
                <a:cs typeface="Cambria" pitchFamily="34" charset="-120"/>
              </a:rPr>
              <a:t>Two frames of reference</a:t>
            </a:r>
            <a:endParaRPr lang="en-US" sz="1800" dirty="0"/>
          </a:p>
        </p:txBody>
      </p:sp>
      <p:sp>
        <p:nvSpPr>
          <p:cNvPr id="6" name="Text 4"/>
          <p:cNvSpPr/>
          <p:nvPr/>
        </p:nvSpPr>
        <p:spPr>
          <a:xfrm>
            <a:off x="566928" y="1950753"/>
            <a:ext cx="4705960" cy="1234440"/>
          </a:xfrm>
          <a:prstGeom prst="rect">
            <a:avLst/>
          </a:prstGeom>
          <a:noFill/>
          <a:ln/>
        </p:spPr>
        <p:txBody>
          <a:bodyPr wrap="square" rtlCol="0" anchor="ctr"/>
          <a:lstStyle/>
          <a:p>
            <a:pPr marL="0" indent="0">
              <a:lnSpc>
                <a:spcPts val="2100"/>
              </a:lnSpc>
              <a:buNone/>
            </a:pPr>
            <a:r>
              <a:rPr lang="en-US" sz="1400" dirty="0">
                <a:solidFill>
                  <a:srgbClr val="17251E"/>
                </a:solidFill>
                <a:latin typeface="Calibri" pitchFamily="34" charset="0"/>
                <a:ea typeface="Calibri" pitchFamily="34" charset="-122"/>
                <a:cs typeface="Calibri" pitchFamily="34" charset="-120"/>
              </a:rPr>
              <a:t>The world frame is fixed to the Earth; the body frame moves with the aircraft as it rolls, pitches and yaws. Control needs the rotation that relates the two — the drone's orientation.</a:t>
            </a:r>
            <a:endParaRPr lang="en-US" sz="1400" dirty="0"/>
          </a:p>
        </p:txBody>
      </p:sp>
      <p:sp>
        <p:nvSpPr>
          <p:cNvPr id="7" name="Shape 5"/>
          <p:cNvSpPr/>
          <p:nvPr/>
        </p:nvSpPr>
        <p:spPr>
          <a:xfrm rot="16200000">
            <a:off x="2715769" y="3418366"/>
            <a:ext cx="694944" cy="694944"/>
          </a:xfrm>
          <a:prstGeom prst="line">
            <a:avLst/>
          </a:prstGeom>
          <a:noFill/>
          <a:ln w="76200">
            <a:solidFill>
              <a:srgbClr val="3E6B54"/>
            </a:solidFill>
            <a:prstDash val="solid"/>
          </a:ln>
        </p:spPr>
      </p:sp>
      <p:sp>
        <p:nvSpPr>
          <p:cNvPr id="8" name="Shape 6"/>
          <p:cNvSpPr/>
          <p:nvPr/>
        </p:nvSpPr>
        <p:spPr>
          <a:xfrm rot="16200000" flipV="1">
            <a:off x="2725294" y="3445798"/>
            <a:ext cx="685419" cy="677037"/>
          </a:xfrm>
          <a:prstGeom prst="line">
            <a:avLst/>
          </a:prstGeom>
          <a:noFill/>
          <a:ln w="76200">
            <a:solidFill>
              <a:srgbClr val="3E6B54"/>
            </a:solidFill>
            <a:prstDash val="solid"/>
          </a:ln>
        </p:spPr>
      </p:sp>
      <p:sp>
        <p:nvSpPr>
          <p:cNvPr id="9" name="Shape 7"/>
          <p:cNvSpPr/>
          <p:nvPr/>
        </p:nvSpPr>
        <p:spPr>
          <a:xfrm rot="16200000">
            <a:off x="3236978" y="3948718"/>
            <a:ext cx="347472" cy="347472"/>
          </a:xfrm>
          <a:prstGeom prst="ellipse">
            <a:avLst/>
          </a:prstGeom>
          <a:solidFill>
            <a:srgbClr val="FFFFFF">
              <a:alpha val="10000"/>
            </a:srgbClr>
          </a:solidFill>
          <a:ln w="38100">
            <a:solidFill>
              <a:srgbClr val="7FA98C"/>
            </a:solidFill>
            <a:prstDash val="solid"/>
          </a:ln>
        </p:spPr>
      </p:sp>
      <p:sp>
        <p:nvSpPr>
          <p:cNvPr id="10" name="Shape 8"/>
          <p:cNvSpPr/>
          <p:nvPr/>
        </p:nvSpPr>
        <p:spPr>
          <a:xfrm rot="16200000">
            <a:off x="2670049" y="3372646"/>
            <a:ext cx="91440" cy="91440"/>
          </a:xfrm>
          <a:prstGeom prst="ellipse">
            <a:avLst/>
          </a:prstGeom>
          <a:solidFill>
            <a:srgbClr val="3E6B54"/>
          </a:solidFill>
          <a:ln/>
        </p:spPr>
      </p:sp>
      <p:sp>
        <p:nvSpPr>
          <p:cNvPr id="11" name="Shape 9"/>
          <p:cNvSpPr/>
          <p:nvPr/>
        </p:nvSpPr>
        <p:spPr>
          <a:xfrm rot="16200000">
            <a:off x="3236977" y="3244630"/>
            <a:ext cx="347472" cy="347472"/>
          </a:xfrm>
          <a:prstGeom prst="ellipse">
            <a:avLst/>
          </a:prstGeom>
          <a:solidFill>
            <a:srgbClr val="FFFFFF">
              <a:alpha val="10000"/>
            </a:srgbClr>
          </a:solidFill>
          <a:ln w="38100">
            <a:solidFill>
              <a:srgbClr val="E8B23A"/>
            </a:solidFill>
            <a:prstDash val="solid"/>
          </a:ln>
        </p:spPr>
      </p:sp>
      <p:sp>
        <p:nvSpPr>
          <p:cNvPr id="12" name="Shape 10"/>
          <p:cNvSpPr/>
          <p:nvPr/>
        </p:nvSpPr>
        <p:spPr>
          <a:xfrm rot="16200000">
            <a:off x="3364993" y="3372646"/>
            <a:ext cx="91440" cy="91440"/>
          </a:xfrm>
          <a:prstGeom prst="ellipse">
            <a:avLst/>
          </a:prstGeom>
          <a:solidFill>
            <a:srgbClr val="3E6B54"/>
          </a:solidFill>
          <a:ln/>
        </p:spPr>
      </p:sp>
      <p:sp>
        <p:nvSpPr>
          <p:cNvPr id="13" name="Shape 11"/>
          <p:cNvSpPr/>
          <p:nvPr/>
        </p:nvSpPr>
        <p:spPr>
          <a:xfrm rot="16200000">
            <a:off x="2542033" y="3939574"/>
            <a:ext cx="347472" cy="347472"/>
          </a:xfrm>
          <a:prstGeom prst="ellipse">
            <a:avLst/>
          </a:prstGeom>
          <a:solidFill>
            <a:srgbClr val="FFFFFF">
              <a:alpha val="10000"/>
            </a:srgbClr>
          </a:solidFill>
          <a:ln w="38100">
            <a:solidFill>
              <a:srgbClr val="7FA98C"/>
            </a:solidFill>
            <a:prstDash val="solid"/>
          </a:ln>
        </p:spPr>
      </p:sp>
      <p:sp>
        <p:nvSpPr>
          <p:cNvPr id="14" name="Shape 12"/>
          <p:cNvSpPr/>
          <p:nvPr/>
        </p:nvSpPr>
        <p:spPr>
          <a:xfrm rot="16200000">
            <a:off x="2670049" y="4067590"/>
            <a:ext cx="91440" cy="91440"/>
          </a:xfrm>
          <a:prstGeom prst="ellipse">
            <a:avLst/>
          </a:prstGeom>
          <a:solidFill>
            <a:srgbClr val="3E6B54"/>
          </a:solidFill>
          <a:ln/>
        </p:spPr>
      </p:sp>
      <p:sp>
        <p:nvSpPr>
          <p:cNvPr id="15" name="Shape 13"/>
          <p:cNvSpPr/>
          <p:nvPr/>
        </p:nvSpPr>
        <p:spPr>
          <a:xfrm rot="16200000">
            <a:off x="2555749" y="3245218"/>
            <a:ext cx="347472" cy="347472"/>
          </a:xfrm>
          <a:prstGeom prst="ellipse">
            <a:avLst/>
          </a:prstGeom>
          <a:solidFill>
            <a:srgbClr val="FFFFFF">
              <a:alpha val="10000"/>
            </a:srgbClr>
          </a:solidFill>
          <a:ln w="38100">
            <a:solidFill>
              <a:srgbClr val="E8B23A"/>
            </a:solidFill>
            <a:prstDash val="solid"/>
          </a:ln>
        </p:spPr>
      </p:sp>
      <p:sp>
        <p:nvSpPr>
          <p:cNvPr id="16" name="Shape 14"/>
          <p:cNvSpPr/>
          <p:nvPr/>
        </p:nvSpPr>
        <p:spPr>
          <a:xfrm rot="16200000">
            <a:off x="3364993" y="4067590"/>
            <a:ext cx="91440" cy="91440"/>
          </a:xfrm>
          <a:prstGeom prst="ellipse">
            <a:avLst/>
          </a:prstGeom>
          <a:solidFill>
            <a:srgbClr val="3E6B54"/>
          </a:solidFill>
          <a:ln/>
        </p:spPr>
      </p:sp>
      <p:sp>
        <p:nvSpPr>
          <p:cNvPr id="17" name="Shape 15"/>
          <p:cNvSpPr/>
          <p:nvPr/>
        </p:nvSpPr>
        <p:spPr>
          <a:xfrm rot="16200000">
            <a:off x="2953513" y="3689028"/>
            <a:ext cx="219456" cy="153619"/>
          </a:xfrm>
          <a:prstGeom prst="roundRect">
            <a:avLst>
              <a:gd name="adj" fmla="val 35714"/>
            </a:avLst>
          </a:prstGeom>
          <a:solidFill>
            <a:srgbClr val="E8B23A"/>
          </a:solidFill>
          <a:ln/>
        </p:spPr>
      </p:sp>
      <p:sp>
        <p:nvSpPr>
          <p:cNvPr id="18" name="Text 16"/>
          <p:cNvSpPr/>
          <p:nvPr/>
        </p:nvSpPr>
        <p:spPr>
          <a:xfrm>
            <a:off x="3740278" y="3573814"/>
            <a:ext cx="2286000" cy="365760"/>
          </a:xfrm>
          <a:prstGeom prst="rect">
            <a:avLst/>
          </a:prstGeom>
          <a:noFill/>
          <a:ln/>
        </p:spPr>
        <p:txBody>
          <a:bodyPr wrap="square" rtlCol="0" anchor="ctr"/>
          <a:lstStyle/>
          <a:p>
            <a:pPr marL="0" indent="0">
              <a:buNone/>
            </a:pPr>
            <a:r>
              <a:rPr lang="en-US" sz="1200" i="1" dirty="0">
                <a:solidFill>
                  <a:srgbClr val="6E8079"/>
                </a:solidFill>
                <a:latin typeface="Calibri" pitchFamily="34" charset="0"/>
                <a:ea typeface="Calibri" pitchFamily="34" charset="-122"/>
                <a:cs typeface="Calibri" pitchFamily="34" charset="-120"/>
              </a:rPr>
              <a:t>roll · pitch · yaw</a:t>
            </a:r>
            <a:endParaRPr lang="en-US" sz="1200" dirty="0"/>
          </a:p>
        </p:txBody>
      </p:sp>
      <p:sp>
        <p:nvSpPr>
          <p:cNvPr id="19" name="Shape 17"/>
          <p:cNvSpPr/>
          <p:nvPr/>
        </p:nvSpPr>
        <p:spPr>
          <a:xfrm>
            <a:off x="6438747" y="1407181"/>
            <a:ext cx="5346040" cy="2834640"/>
          </a:xfrm>
          <a:prstGeom prst="roundRect">
            <a:avLst>
              <a:gd name="adj" fmla="val 2581"/>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20" name="Text 18"/>
          <p:cNvSpPr/>
          <p:nvPr/>
        </p:nvSpPr>
        <p:spPr>
          <a:xfrm>
            <a:off x="6553048" y="1548418"/>
            <a:ext cx="4572000" cy="365760"/>
          </a:xfrm>
          <a:prstGeom prst="rect">
            <a:avLst/>
          </a:prstGeom>
          <a:noFill/>
          <a:ln/>
        </p:spPr>
        <p:txBody>
          <a:bodyPr wrap="square" rtlCol="0" anchor="ctr"/>
          <a:lstStyle/>
          <a:p>
            <a:pPr marL="0" indent="0">
              <a:buNone/>
            </a:pPr>
            <a:r>
              <a:rPr lang="en-US" sz="1800" b="1" dirty="0">
                <a:solidFill>
                  <a:srgbClr val="E8B23A"/>
                </a:solidFill>
                <a:latin typeface="Cambria" pitchFamily="34" charset="0"/>
                <a:ea typeface="Cambria" pitchFamily="34" charset="-122"/>
                <a:cs typeface="Cambria" pitchFamily="34" charset="-120"/>
              </a:rPr>
              <a:t>Each sensor is flawed alone</a:t>
            </a:r>
            <a:endParaRPr lang="en-US" sz="1800" dirty="0"/>
          </a:p>
        </p:txBody>
      </p:sp>
      <p:sp>
        <p:nvSpPr>
          <p:cNvPr id="21" name="Text 19"/>
          <p:cNvSpPr/>
          <p:nvPr/>
        </p:nvSpPr>
        <p:spPr>
          <a:xfrm>
            <a:off x="6600253" y="1880826"/>
            <a:ext cx="4206240" cy="320040"/>
          </a:xfrm>
          <a:prstGeom prst="rect">
            <a:avLst/>
          </a:prstGeom>
          <a:noFill/>
          <a:ln/>
        </p:spPr>
        <p:txBody>
          <a:bodyPr wrap="square" rtlCol="0" anchor="ctr"/>
          <a:lstStyle/>
          <a:p>
            <a:pPr marL="0" indent="0">
              <a:buNone/>
            </a:pPr>
            <a:r>
              <a:rPr lang="en-US" sz="1450" b="1" dirty="0">
                <a:solidFill>
                  <a:srgbClr val="9BC53D"/>
                </a:solidFill>
                <a:latin typeface="Calibri" pitchFamily="34" charset="0"/>
                <a:ea typeface="Calibri" pitchFamily="34" charset="-122"/>
                <a:cs typeface="Calibri" pitchFamily="34" charset="-120"/>
              </a:rPr>
              <a:t>Gyroscope</a:t>
            </a:r>
            <a:endParaRPr lang="en-US" sz="1450" dirty="0"/>
          </a:p>
        </p:txBody>
      </p:sp>
      <p:sp>
        <p:nvSpPr>
          <p:cNvPr id="22" name="Text 20"/>
          <p:cNvSpPr/>
          <p:nvPr/>
        </p:nvSpPr>
        <p:spPr>
          <a:xfrm>
            <a:off x="6867028" y="2155146"/>
            <a:ext cx="452308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fast and smooth — but drifts over time</a:t>
            </a:r>
            <a:endParaRPr lang="en-US" sz="1250" dirty="0"/>
          </a:p>
        </p:txBody>
      </p:sp>
      <p:sp>
        <p:nvSpPr>
          <p:cNvPr id="23" name="Text 21"/>
          <p:cNvSpPr/>
          <p:nvPr/>
        </p:nvSpPr>
        <p:spPr>
          <a:xfrm>
            <a:off x="6600253" y="2500883"/>
            <a:ext cx="4206240" cy="320040"/>
          </a:xfrm>
          <a:prstGeom prst="rect">
            <a:avLst/>
          </a:prstGeom>
          <a:noFill/>
          <a:ln/>
        </p:spPr>
        <p:txBody>
          <a:bodyPr wrap="square" rtlCol="0" anchor="ctr"/>
          <a:lstStyle/>
          <a:p>
            <a:pPr marL="0" indent="0">
              <a:buNone/>
            </a:pPr>
            <a:r>
              <a:rPr lang="en-US" sz="1450" b="1" dirty="0">
                <a:solidFill>
                  <a:srgbClr val="7FA98C"/>
                </a:solidFill>
                <a:latin typeface="Calibri" pitchFamily="34" charset="0"/>
                <a:ea typeface="Calibri" pitchFamily="34" charset="-122"/>
                <a:cs typeface="Calibri" pitchFamily="34" charset="-120"/>
              </a:rPr>
              <a:t>Accelerometer</a:t>
            </a:r>
            <a:endParaRPr lang="en-US" sz="1450" dirty="0"/>
          </a:p>
        </p:txBody>
      </p:sp>
      <p:sp>
        <p:nvSpPr>
          <p:cNvPr id="24" name="Text 22"/>
          <p:cNvSpPr/>
          <p:nvPr/>
        </p:nvSpPr>
        <p:spPr>
          <a:xfrm>
            <a:off x="6867028" y="2764314"/>
            <a:ext cx="452308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absolute tilt — but noisy under vibration</a:t>
            </a:r>
            <a:endParaRPr lang="en-US" sz="1250" dirty="0"/>
          </a:p>
        </p:txBody>
      </p:sp>
      <p:sp>
        <p:nvSpPr>
          <p:cNvPr id="25" name="Text 23"/>
          <p:cNvSpPr/>
          <p:nvPr/>
        </p:nvSpPr>
        <p:spPr>
          <a:xfrm>
            <a:off x="6600253" y="3097086"/>
            <a:ext cx="4206240" cy="320040"/>
          </a:xfrm>
          <a:prstGeom prst="rect">
            <a:avLst/>
          </a:prstGeom>
          <a:noFill/>
          <a:ln/>
        </p:spPr>
        <p:txBody>
          <a:bodyPr wrap="square" rtlCol="0" anchor="ctr"/>
          <a:lstStyle/>
          <a:p>
            <a:pPr marL="0" indent="0">
              <a:buNone/>
            </a:pPr>
            <a:r>
              <a:rPr lang="en-US" sz="1450" b="1" dirty="0">
                <a:solidFill>
                  <a:srgbClr val="7FA98C"/>
                </a:solidFill>
                <a:latin typeface="Calibri" pitchFamily="34" charset="0"/>
                <a:ea typeface="Calibri" pitchFamily="34" charset="-122"/>
                <a:cs typeface="Calibri" pitchFamily="34" charset="-120"/>
              </a:rPr>
              <a:t>Magnetometer</a:t>
            </a:r>
            <a:endParaRPr lang="en-US" sz="1450" dirty="0"/>
          </a:p>
        </p:txBody>
      </p:sp>
      <p:sp>
        <p:nvSpPr>
          <p:cNvPr id="26" name="Text 24"/>
          <p:cNvSpPr/>
          <p:nvPr/>
        </p:nvSpPr>
        <p:spPr>
          <a:xfrm>
            <a:off x="6900821" y="3393569"/>
            <a:ext cx="452308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gives heading (yaw) — but sensitive to interference</a:t>
            </a:r>
            <a:endParaRPr lang="en-US" sz="1250" dirty="0"/>
          </a:p>
        </p:txBody>
      </p:sp>
      <p:sp>
        <p:nvSpPr>
          <p:cNvPr id="27" name="Text 25"/>
          <p:cNvSpPr/>
          <p:nvPr/>
        </p:nvSpPr>
        <p:spPr>
          <a:xfrm>
            <a:off x="672896" y="5140151"/>
            <a:ext cx="2839595" cy="365760"/>
          </a:xfrm>
          <a:prstGeom prst="rect">
            <a:avLst/>
          </a:prstGeom>
          <a:noFill/>
          <a:ln/>
        </p:spPr>
        <p:txBody>
          <a:bodyPr wrap="square" rtlCol="0" anchor="ctr"/>
          <a:lstStyle/>
          <a:p>
            <a:pPr marL="0" indent="0">
              <a:buNone/>
            </a:pPr>
            <a:r>
              <a:rPr lang="en-US" sz="1250" i="1" dirty="0">
                <a:solidFill>
                  <a:srgbClr val="6E8079"/>
                </a:solidFill>
                <a:latin typeface="Calibri" pitchFamily="34" charset="0"/>
                <a:ea typeface="Calibri" pitchFamily="34" charset="-122"/>
                <a:cs typeface="Calibri" pitchFamily="34" charset="-120"/>
              </a:rPr>
              <a:t>The accelerometer alone cannot recover yaw — hence the magnetometer.</a:t>
            </a:r>
            <a:endParaRPr lang="en-US" sz="1250" dirty="0"/>
          </a:p>
        </p:txBody>
      </p:sp>
      <p:sp>
        <p:nvSpPr>
          <p:cNvPr id="28" name="Text 26"/>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libri" pitchFamily="34" charset="0"/>
                <a:ea typeface="Calibri" pitchFamily="34" charset="-122"/>
                <a:cs typeface="Calibri" pitchFamily="34" charset="-120"/>
              </a:rPr>
              <a:t>Sántha Zsolt  ·  Quadcopter flight-control system</a:t>
            </a:r>
            <a:endParaRPr lang="en-US" sz="900" dirty="0"/>
          </a:p>
        </p:txBody>
      </p:sp>
      <p:sp>
        <p:nvSpPr>
          <p:cNvPr id="29" name="Text 27"/>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libri" pitchFamily="34" charset="0"/>
                <a:ea typeface="Calibri" pitchFamily="34" charset="-122"/>
                <a:cs typeface="Calibri" pitchFamily="34" charset="-120"/>
              </a:rPr>
              <a:t>8</a:t>
            </a:r>
            <a:endParaRPr lang="en-US" sz="900" dirty="0"/>
          </a:p>
        </p:txBody>
      </p:sp>
      <p:pic>
        <p:nvPicPr>
          <p:cNvPr id="31" name="Kép 30"/>
          <p:cNvPicPr>
            <a:picLocks noChangeAspect="1"/>
          </p:cNvPicPr>
          <p:nvPr/>
        </p:nvPicPr>
        <p:blipFill>
          <a:blip r:embed="rId3"/>
          <a:stretch>
            <a:fillRect/>
          </a:stretch>
        </p:blipFill>
        <p:spPr>
          <a:xfrm>
            <a:off x="4507575" y="4470097"/>
            <a:ext cx="3703521" cy="224958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mbria" panose="02040503050406030204" pitchFamily="18" charset="0"/>
                <a:ea typeface="Cambria" panose="02040503050406030204" pitchFamily="18" charset="0"/>
                <a:cs typeface="Calibri" pitchFamily="34" charset="-120"/>
              </a:rPr>
              <a:t>ATTITUDE ESTIMATION — THE SOLUTION</a:t>
            </a:r>
            <a:endParaRPr lang="en-US" sz="1300" dirty="0">
              <a:latin typeface="Cambria" panose="02040503050406030204" pitchFamily="18" charset="0"/>
              <a:ea typeface="Cambria" panose="02040503050406030204" pitchFamily="18" charset="0"/>
            </a:endParaRPr>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anose="02040503050406030204" pitchFamily="18" charset="0"/>
                <a:ea typeface="Cambria" panose="02040503050406030204" pitchFamily="18" charset="0"/>
                <a:cs typeface="Cambria" pitchFamily="34" charset="-120"/>
              </a:rPr>
              <a:t>Complementary filter + quaternions</a:t>
            </a:r>
            <a:endParaRPr lang="en-US" sz="3400" dirty="0">
              <a:latin typeface="Cambria" panose="02040503050406030204" pitchFamily="18" charset="0"/>
              <a:ea typeface="Cambria" panose="02040503050406030204" pitchFamily="18" charset="0"/>
            </a:endParaRPr>
          </a:p>
        </p:txBody>
      </p:sp>
      <p:sp>
        <p:nvSpPr>
          <p:cNvPr id="4" name="Shape 2"/>
          <p:cNvSpPr/>
          <p:nvPr/>
        </p:nvSpPr>
        <p:spPr>
          <a:xfrm>
            <a:off x="822960" y="2148840"/>
            <a:ext cx="2468880" cy="914400"/>
          </a:xfrm>
          <a:prstGeom prst="roundRect">
            <a:avLst>
              <a:gd name="adj" fmla="val 6000"/>
            </a:avLst>
          </a:prstGeom>
          <a:solidFill>
            <a:srgbClr val="FFFFFF"/>
          </a:solidFill>
          <a:ln w="12700">
            <a:solidFill>
              <a:srgbClr val="D6DED8"/>
            </a:solidFill>
            <a:prstDash val="solid"/>
          </a:ln>
        </p:spPr>
      </p:sp>
      <p:sp>
        <p:nvSpPr>
          <p:cNvPr id="5" name="Text 3"/>
          <p:cNvSpPr/>
          <p:nvPr/>
        </p:nvSpPr>
        <p:spPr>
          <a:xfrm>
            <a:off x="822960" y="2203704"/>
            <a:ext cx="2468880" cy="548640"/>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Gyroscope</a:t>
            </a:r>
            <a:endParaRPr lang="en-US" sz="1350" dirty="0">
              <a:latin typeface="Cambria" panose="02040503050406030204" pitchFamily="18" charset="0"/>
              <a:ea typeface="Cambria" panose="02040503050406030204" pitchFamily="18" charset="0"/>
            </a:endParaRPr>
          </a:p>
        </p:txBody>
      </p:sp>
      <p:sp>
        <p:nvSpPr>
          <p:cNvPr id="6" name="Text 4"/>
          <p:cNvSpPr/>
          <p:nvPr/>
        </p:nvSpPr>
        <p:spPr>
          <a:xfrm>
            <a:off x="822960" y="2624328"/>
            <a:ext cx="2468880" cy="384048"/>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high-freq path</a:t>
            </a:r>
            <a:endParaRPr lang="en-US" sz="1050" dirty="0">
              <a:latin typeface="Cambria" panose="02040503050406030204" pitchFamily="18" charset="0"/>
              <a:ea typeface="Cambria" panose="02040503050406030204" pitchFamily="18" charset="0"/>
            </a:endParaRPr>
          </a:p>
        </p:txBody>
      </p:sp>
      <p:sp>
        <p:nvSpPr>
          <p:cNvPr id="7" name="Shape 5"/>
          <p:cNvSpPr/>
          <p:nvPr/>
        </p:nvSpPr>
        <p:spPr>
          <a:xfrm>
            <a:off x="822960" y="3657600"/>
            <a:ext cx="2468880" cy="914400"/>
          </a:xfrm>
          <a:prstGeom prst="roundRect">
            <a:avLst>
              <a:gd name="adj" fmla="val 6000"/>
            </a:avLst>
          </a:prstGeom>
          <a:solidFill>
            <a:srgbClr val="FFFFFF"/>
          </a:solidFill>
          <a:ln w="12700">
            <a:solidFill>
              <a:srgbClr val="D6DED8"/>
            </a:solidFill>
            <a:prstDash val="solid"/>
          </a:ln>
        </p:spPr>
      </p:sp>
      <p:sp>
        <p:nvSpPr>
          <p:cNvPr id="8" name="Text 6"/>
          <p:cNvSpPr/>
          <p:nvPr/>
        </p:nvSpPr>
        <p:spPr>
          <a:xfrm>
            <a:off x="822960" y="3712464"/>
            <a:ext cx="2468880" cy="548640"/>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Accel + Mag</a:t>
            </a:r>
            <a:endParaRPr lang="en-US" sz="1350" dirty="0">
              <a:latin typeface="Cambria" panose="02040503050406030204" pitchFamily="18" charset="0"/>
              <a:ea typeface="Cambria" panose="02040503050406030204" pitchFamily="18" charset="0"/>
            </a:endParaRPr>
          </a:p>
        </p:txBody>
      </p:sp>
      <p:sp>
        <p:nvSpPr>
          <p:cNvPr id="9" name="Text 7"/>
          <p:cNvSpPr/>
          <p:nvPr/>
        </p:nvSpPr>
        <p:spPr>
          <a:xfrm>
            <a:off x="822960" y="4133088"/>
            <a:ext cx="2468880" cy="384048"/>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low-freq path</a:t>
            </a:r>
            <a:endParaRPr lang="en-US" sz="1050" dirty="0">
              <a:latin typeface="Cambria" panose="02040503050406030204" pitchFamily="18" charset="0"/>
              <a:ea typeface="Cambria" panose="02040503050406030204" pitchFamily="18" charset="0"/>
            </a:endParaRPr>
          </a:p>
        </p:txBody>
      </p:sp>
      <p:sp>
        <p:nvSpPr>
          <p:cNvPr id="10" name="Shape 8"/>
          <p:cNvSpPr/>
          <p:nvPr/>
        </p:nvSpPr>
        <p:spPr>
          <a:xfrm>
            <a:off x="4114800" y="2743200"/>
            <a:ext cx="2468880" cy="1234440"/>
          </a:xfrm>
          <a:prstGeom prst="roundRect">
            <a:avLst>
              <a:gd name="adj" fmla="val 5926"/>
            </a:avLst>
          </a:prstGeom>
          <a:solidFill>
            <a:srgbClr val="2E6B4F"/>
          </a:solidFill>
          <a:ln/>
        </p:spPr>
      </p:sp>
      <p:sp>
        <p:nvSpPr>
          <p:cNvPr id="11" name="Text 9"/>
          <p:cNvSpPr/>
          <p:nvPr/>
        </p:nvSpPr>
        <p:spPr>
          <a:xfrm>
            <a:off x="4114800" y="2743200"/>
            <a:ext cx="2468880" cy="1234440"/>
          </a:xfrm>
          <a:prstGeom prst="rect">
            <a:avLst/>
          </a:prstGeom>
          <a:noFill/>
          <a:ln/>
        </p:spPr>
        <p:txBody>
          <a:bodyPr wrap="square" rtlCol="0" anchor="ctr"/>
          <a:lstStyle/>
          <a:p>
            <a:pPr marL="0" indent="0" algn="ctr">
              <a:buNone/>
            </a:pPr>
            <a:r>
              <a:rPr lang="en-US" sz="1500" b="1" dirty="0">
                <a:solidFill>
                  <a:srgbClr val="FFFFFF"/>
                </a:solidFill>
                <a:latin typeface="Cambria" panose="02040503050406030204" pitchFamily="18" charset="0"/>
                <a:ea typeface="Cambria" panose="02040503050406030204" pitchFamily="18" charset="0"/>
                <a:cs typeface="Calibri" pitchFamily="34" charset="-120"/>
              </a:rPr>
              <a:t>Complementary</a:t>
            </a:r>
            <a:endParaRPr lang="en-US" sz="1500" dirty="0">
              <a:latin typeface="Cambria" panose="02040503050406030204" pitchFamily="18" charset="0"/>
              <a:ea typeface="Cambria" panose="02040503050406030204" pitchFamily="18" charset="0"/>
            </a:endParaRPr>
          </a:p>
          <a:p>
            <a:pPr marL="0" indent="0" algn="ctr">
              <a:buNone/>
            </a:pPr>
            <a:r>
              <a:rPr lang="en-US" sz="1500" b="1" dirty="0">
                <a:solidFill>
                  <a:srgbClr val="FFFFFF"/>
                </a:solidFill>
                <a:latin typeface="Cambria" panose="02040503050406030204" pitchFamily="18" charset="0"/>
                <a:ea typeface="Cambria" panose="02040503050406030204" pitchFamily="18" charset="0"/>
                <a:cs typeface="Calibri" pitchFamily="34" charset="-120"/>
              </a:rPr>
              <a:t>filter</a:t>
            </a:r>
            <a:endParaRPr lang="en-US" sz="1500" dirty="0">
              <a:latin typeface="Cambria" panose="02040503050406030204" pitchFamily="18" charset="0"/>
              <a:ea typeface="Cambria" panose="02040503050406030204" pitchFamily="18" charset="0"/>
            </a:endParaRPr>
          </a:p>
        </p:txBody>
      </p:sp>
      <p:sp>
        <p:nvSpPr>
          <p:cNvPr id="12" name="Shape 10"/>
          <p:cNvSpPr/>
          <p:nvPr/>
        </p:nvSpPr>
        <p:spPr>
          <a:xfrm>
            <a:off x="7406640" y="2743200"/>
            <a:ext cx="2286000" cy="1234440"/>
          </a:xfrm>
          <a:prstGeom prst="roundRect">
            <a:avLst>
              <a:gd name="adj" fmla="val 4444"/>
            </a:avLst>
          </a:prstGeom>
          <a:solidFill>
            <a:srgbClr val="E8B23A"/>
          </a:solidFill>
          <a:ln w="12700">
            <a:solidFill>
              <a:srgbClr val="D6DED8"/>
            </a:solidFill>
            <a:prstDash val="solid"/>
          </a:ln>
        </p:spPr>
      </p:sp>
      <p:sp>
        <p:nvSpPr>
          <p:cNvPr id="13" name="Text 11"/>
          <p:cNvSpPr/>
          <p:nvPr/>
        </p:nvSpPr>
        <p:spPr>
          <a:xfrm>
            <a:off x="7406640" y="2798064"/>
            <a:ext cx="2286000" cy="740664"/>
          </a:xfrm>
          <a:prstGeom prst="rect">
            <a:avLst/>
          </a:prstGeom>
          <a:noFill/>
          <a:ln/>
        </p:spPr>
        <p:txBody>
          <a:bodyPr wrap="square" rtlCol="0" anchor="ctr"/>
          <a:lstStyle/>
          <a:p>
            <a:pPr marL="0" indent="0" algn="ctr">
              <a:buNone/>
            </a:pPr>
            <a:r>
              <a:rPr lang="en-US" sz="1350" b="1" dirty="0">
                <a:solidFill>
                  <a:srgbClr val="1B2B24"/>
                </a:solidFill>
                <a:latin typeface="Cambria" panose="02040503050406030204" pitchFamily="18" charset="0"/>
                <a:ea typeface="Cambria" panose="02040503050406030204" pitchFamily="18" charset="0"/>
                <a:cs typeface="Calibri" pitchFamily="34" charset="-120"/>
              </a:rPr>
              <a:t>Orientation</a:t>
            </a:r>
            <a:endParaRPr lang="en-US" sz="1350" dirty="0">
              <a:latin typeface="Cambria" panose="02040503050406030204" pitchFamily="18" charset="0"/>
              <a:ea typeface="Cambria" panose="02040503050406030204" pitchFamily="18" charset="0"/>
            </a:endParaRPr>
          </a:p>
        </p:txBody>
      </p:sp>
      <p:sp>
        <p:nvSpPr>
          <p:cNvPr id="14" name="Text 12"/>
          <p:cNvSpPr/>
          <p:nvPr/>
        </p:nvSpPr>
        <p:spPr>
          <a:xfrm>
            <a:off x="7406640" y="3385109"/>
            <a:ext cx="2286000" cy="518465"/>
          </a:xfrm>
          <a:prstGeom prst="rect">
            <a:avLst/>
          </a:prstGeom>
          <a:noFill/>
          <a:ln/>
        </p:spPr>
        <p:txBody>
          <a:bodyPr wrap="square" rtlCol="0" anchor="ctr"/>
          <a:lstStyle/>
          <a:p>
            <a:pPr marL="0" indent="0" algn="ctr">
              <a:buNone/>
            </a:pPr>
            <a:r>
              <a:rPr lang="en-US" sz="1050" dirty="0">
                <a:solidFill>
                  <a:srgbClr val="1B2B24"/>
                </a:solidFill>
                <a:latin typeface="Cambria" panose="02040503050406030204" pitchFamily="18" charset="0"/>
                <a:ea typeface="Cambria" panose="02040503050406030204" pitchFamily="18" charset="0"/>
                <a:cs typeface="Calibri" pitchFamily="34" charset="-120"/>
              </a:rPr>
              <a:t>quaternion</a:t>
            </a:r>
            <a:endParaRPr lang="en-US" sz="1050" dirty="0">
              <a:latin typeface="Cambria" panose="02040503050406030204" pitchFamily="18" charset="0"/>
              <a:ea typeface="Cambria" panose="02040503050406030204" pitchFamily="18" charset="0"/>
            </a:endParaRPr>
          </a:p>
        </p:txBody>
      </p:sp>
      <p:sp>
        <p:nvSpPr>
          <p:cNvPr id="15" name="Shape 13"/>
          <p:cNvSpPr/>
          <p:nvPr/>
        </p:nvSpPr>
        <p:spPr>
          <a:xfrm>
            <a:off x="3291840" y="2606040"/>
            <a:ext cx="822960" cy="411480"/>
          </a:xfrm>
          <a:prstGeom prst="line">
            <a:avLst/>
          </a:prstGeom>
          <a:noFill/>
          <a:ln w="28575">
            <a:solidFill>
              <a:srgbClr val="2E6B4F"/>
            </a:solidFill>
            <a:prstDash val="solid"/>
            <a:tailEnd type="triangle"/>
          </a:ln>
        </p:spPr>
      </p:sp>
      <p:sp>
        <p:nvSpPr>
          <p:cNvPr id="16" name="Shape 14"/>
          <p:cNvSpPr/>
          <p:nvPr/>
        </p:nvSpPr>
        <p:spPr>
          <a:xfrm flipV="1">
            <a:off x="3291840" y="3749040"/>
            <a:ext cx="822960" cy="365760"/>
          </a:xfrm>
          <a:prstGeom prst="line">
            <a:avLst/>
          </a:prstGeom>
          <a:noFill/>
          <a:ln w="28575">
            <a:solidFill>
              <a:srgbClr val="2E6B4F"/>
            </a:solidFill>
            <a:prstDash val="solid"/>
            <a:tailEnd type="triangle"/>
          </a:ln>
        </p:spPr>
      </p:sp>
      <p:sp>
        <p:nvSpPr>
          <p:cNvPr id="17" name="Shape 15"/>
          <p:cNvSpPr/>
          <p:nvPr/>
        </p:nvSpPr>
        <p:spPr>
          <a:xfrm>
            <a:off x="6583680" y="3355848"/>
            <a:ext cx="822960" cy="0"/>
          </a:xfrm>
          <a:prstGeom prst="line">
            <a:avLst/>
          </a:prstGeom>
          <a:noFill/>
          <a:ln w="28575">
            <a:solidFill>
              <a:srgbClr val="2E6B4F"/>
            </a:solidFill>
            <a:prstDash val="solid"/>
            <a:tailEnd type="triangle"/>
          </a:ln>
        </p:spPr>
      </p:sp>
      <p:sp>
        <p:nvSpPr>
          <p:cNvPr id="18" name="Text 16"/>
          <p:cNvSpPr/>
          <p:nvPr/>
        </p:nvSpPr>
        <p:spPr>
          <a:xfrm>
            <a:off x="822960" y="4709160"/>
            <a:ext cx="8869680" cy="457200"/>
          </a:xfrm>
          <a:prstGeom prst="rect">
            <a:avLst/>
          </a:prstGeom>
          <a:noFill/>
          <a:ln/>
        </p:spPr>
        <p:txBody>
          <a:bodyPr wrap="square" rtlCol="0" anchor="ctr"/>
          <a:lstStyle/>
          <a:p>
            <a:pPr marL="0" indent="0">
              <a:buNone/>
            </a:pPr>
            <a:r>
              <a:rPr lang="en-US" sz="1400" dirty="0">
                <a:solidFill>
                  <a:srgbClr val="17251E"/>
                </a:solidFill>
                <a:latin typeface="Cambria" panose="02040503050406030204" pitchFamily="18" charset="0"/>
                <a:ea typeface="Cambria" panose="02040503050406030204" pitchFamily="18" charset="0"/>
                <a:cs typeface="Consolas" pitchFamily="34" charset="-120"/>
              </a:rPr>
              <a:t>θ = α·(θ + gyro·dt) + (1−α)·θ(accel, mag)</a:t>
            </a:r>
            <a:endParaRPr lang="en-US" sz="1400" dirty="0">
              <a:latin typeface="Cambria" panose="02040503050406030204" pitchFamily="18" charset="0"/>
              <a:ea typeface="Cambria" panose="02040503050406030204" pitchFamily="18" charset="0"/>
            </a:endParaRPr>
          </a:p>
        </p:txBody>
      </p:sp>
      <p:sp>
        <p:nvSpPr>
          <p:cNvPr id="19" name="Shape 17"/>
          <p:cNvSpPr/>
          <p:nvPr/>
        </p:nvSpPr>
        <p:spPr>
          <a:xfrm>
            <a:off x="9829800" y="2148840"/>
            <a:ext cx="1794967" cy="3017520"/>
          </a:xfrm>
          <a:prstGeom prst="roundRect">
            <a:avLst>
              <a:gd name="adj" fmla="val 4075"/>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20" name="Text 18"/>
          <p:cNvSpPr/>
          <p:nvPr/>
        </p:nvSpPr>
        <p:spPr>
          <a:xfrm>
            <a:off x="10012680" y="2286000"/>
            <a:ext cx="1481328" cy="640080"/>
          </a:xfrm>
          <a:prstGeom prst="rect">
            <a:avLst/>
          </a:prstGeom>
          <a:noFill/>
          <a:ln/>
        </p:spPr>
        <p:txBody>
          <a:bodyPr wrap="square" rtlCol="0" anchor="ctr"/>
          <a:lstStyle/>
          <a:p>
            <a:pPr marL="0" indent="0">
              <a:buNone/>
            </a:pPr>
            <a:r>
              <a:rPr lang="en-US" sz="1500" b="1" dirty="0">
                <a:solidFill>
                  <a:srgbClr val="E8B23A"/>
                </a:solidFill>
                <a:latin typeface="Cambria" panose="02040503050406030204" pitchFamily="18" charset="0"/>
                <a:ea typeface="Cambria" panose="02040503050406030204" pitchFamily="18" charset="0"/>
                <a:cs typeface="Cambria" pitchFamily="34" charset="-120"/>
              </a:rPr>
              <a:t>Why quaternions?</a:t>
            </a:r>
            <a:endParaRPr lang="en-US" sz="1500" dirty="0">
              <a:latin typeface="Cambria" panose="02040503050406030204" pitchFamily="18" charset="0"/>
              <a:ea typeface="Cambria" panose="02040503050406030204" pitchFamily="18" charset="0"/>
            </a:endParaRPr>
          </a:p>
        </p:txBody>
      </p:sp>
      <p:sp>
        <p:nvSpPr>
          <p:cNvPr id="21" name="Text 19"/>
          <p:cNvSpPr/>
          <p:nvPr/>
        </p:nvSpPr>
        <p:spPr>
          <a:xfrm>
            <a:off x="10012680" y="2971800"/>
            <a:ext cx="1481328" cy="2011680"/>
          </a:xfrm>
          <a:prstGeom prst="rect">
            <a:avLst/>
          </a:prstGeom>
          <a:noFill/>
          <a:ln/>
        </p:spPr>
        <p:txBody>
          <a:bodyPr wrap="square" rtlCol="0" anchor="ctr"/>
          <a:lstStyle/>
          <a:p>
            <a:pPr marL="0" indent="0">
              <a:lnSpc>
                <a:spcPts val="1600"/>
              </a:lnSpc>
              <a:buNone/>
            </a:pPr>
            <a:r>
              <a:rPr lang="en-US" sz="1150" dirty="0">
                <a:solidFill>
                  <a:srgbClr val="FFFFFF"/>
                </a:solidFill>
                <a:latin typeface="Cambria" panose="02040503050406030204" pitchFamily="18" charset="0"/>
                <a:ea typeface="Cambria" panose="02040503050406030204" pitchFamily="18" charset="0"/>
                <a:cs typeface="Calibri" pitchFamily="34" charset="-120"/>
              </a:rPr>
              <a:t>Euler angles hit a singularity — gimbal lock — at ±90° pitch. Quaternions represent any orientation continuously, with no singularities and stable maths.</a:t>
            </a:r>
            <a:endParaRPr lang="en-US" sz="1150" dirty="0">
              <a:latin typeface="Cambria" panose="02040503050406030204" pitchFamily="18" charset="0"/>
              <a:ea typeface="Cambria" panose="02040503050406030204" pitchFamily="18" charset="0"/>
            </a:endParaRPr>
          </a:p>
        </p:txBody>
      </p:sp>
      <p:sp>
        <p:nvSpPr>
          <p:cNvPr id="22" name="Text 20"/>
          <p:cNvSpPr/>
          <p:nvPr/>
        </p:nvSpPr>
        <p:spPr>
          <a:xfrm>
            <a:off x="822960" y="5257800"/>
            <a:ext cx="8869680" cy="457200"/>
          </a:xfrm>
          <a:prstGeom prst="rect">
            <a:avLst/>
          </a:prstGeom>
          <a:noFill/>
          <a:ln/>
        </p:spPr>
        <p:txBody>
          <a:bodyPr wrap="square" rtlCol="0" anchor="ctr"/>
          <a:lstStyle/>
          <a:p>
            <a:pPr marL="0" indent="0">
              <a:buNone/>
            </a:pPr>
            <a:r>
              <a:rPr lang="en-US" sz="1250" i="1" dirty="0">
                <a:solidFill>
                  <a:srgbClr val="6E8079"/>
                </a:solidFill>
                <a:latin typeface="Cambria" panose="02040503050406030204" pitchFamily="18" charset="0"/>
                <a:ea typeface="Cambria" panose="02040503050406030204" pitchFamily="18" charset="0"/>
                <a:cs typeface="Calibri" pitchFamily="34" charset="-120"/>
              </a:rPr>
              <a:t>The gyro sets the fast response; the accelerometer and magnetometer correct its slow drift. α weights the two.</a:t>
            </a:r>
            <a:endParaRPr lang="en-US" sz="1250" dirty="0">
              <a:latin typeface="Cambria" panose="02040503050406030204" pitchFamily="18" charset="0"/>
              <a:ea typeface="Cambria" panose="02040503050406030204" pitchFamily="18" charset="0"/>
            </a:endParaRPr>
          </a:p>
        </p:txBody>
      </p:sp>
      <p:sp>
        <p:nvSpPr>
          <p:cNvPr id="23" name="Text 21"/>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Sántha Zsolt  ·  Quadcopter flight-control system</a:t>
            </a:r>
            <a:endParaRPr lang="en-US" sz="900" dirty="0">
              <a:latin typeface="Cambria" panose="02040503050406030204" pitchFamily="18" charset="0"/>
              <a:ea typeface="Cambria" panose="02040503050406030204" pitchFamily="18" charset="0"/>
            </a:endParaRPr>
          </a:p>
        </p:txBody>
      </p:sp>
      <p:sp>
        <p:nvSpPr>
          <p:cNvPr id="24" name="Text 22"/>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9</a:t>
            </a:r>
            <a:endParaRPr lang="en-US" sz="9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mbria" panose="02040503050406030204" pitchFamily="18" charset="0"/>
                <a:ea typeface="Cambria" panose="02040503050406030204" pitchFamily="18" charset="0"/>
                <a:cs typeface="Calibri" pitchFamily="34" charset="-120"/>
              </a:rPr>
              <a:t>CLOSING THE LOOP</a:t>
            </a:r>
            <a:endParaRPr lang="en-US" sz="1300" dirty="0">
              <a:latin typeface="Cambria" panose="02040503050406030204" pitchFamily="18" charset="0"/>
              <a:ea typeface="Cambria" panose="02040503050406030204" pitchFamily="18" charset="0"/>
            </a:endParaRPr>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anose="02040503050406030204" pitchFamily="18" charset="0"/>
                <a:ea typeface="Cambria" panose="02040503050406030204" pitchFamily="18" charset="0"/>
                <a:cs typeface="Cambria" pitchFamily="34" charset="-120"/>
              </a:rPr>
              <a:t>PID stabilisation &amp; RC </a:t>
            </a:r>
            <a:r>
              <a:rPr lang="en-US" sz="3400" b="1" dirty="0" smtClean="0">
                <a:solidFill>
                  <a:srgbClr val="17251E"/>
                </a:solidFill>
                <a:latin typeface="Cambria" panose="02040503050406030204" pitchFamily="18" charset="0"/>
                <a:ea typeface="Cambria" panose="02040503050406030204" pitchFamily="18" charset="0"/>
                <a:cs typeface="Cambria" pitchFamily="34" charset="-120"/>
              </a:rPr>
              <a:t>input</a:t>
            </a:r>
            <a:endParaRPr lang="en-US" sz="3400" dirty="0">
              <a:latin typeface="Cambria" panose="02040503050406030204" pitchFamily="18" charset="0"/>
              <a:ea typeface="Cambria" panose="02040503050406030204" pitchFamily="18" charset="0"/>
            </a:endParaRPr>
          </a:p>
        </p:txBody>
      </p:sp>
      <p:sp>
        <p:nvSpPr>
          <p:cNvPr id="4" name="Shape 2"/>
          <p:cNvSpPr/>
          <p:nvPr/>
        </p:nvSpPr>
        <p:spPr>
          <a:xfrm>
            <a:off x="822960" y="2331720"/>
            <a:ext cx="1737360" cy="868680"/>
          </a:xfrm>
          <a:prstGeom prst="roundRect">
            <a:avLst>
              <a:gd name="adj" fmla="val 6316"/>
            </a:avLst>
          </a:prstGeom>
          <a:solidFill>
            <a:srgbClr val="FFFFFF"/>
          </a:solidFill>
          <a:ln w="12700">
            <a:solidFill>
              <a:srgbClr val="D6DED8"/>
            </a:solidFill>
            <a:prstDash val="solid"/>
          </a:ln>
        </p:spPr>
        <p:txBody>
          <a:bodyPr/>
          <a:lstStyle/>
          <a:p>
            <a:endParaRPr lang="en-US" dirty="0">
              <a:latin typeface="Cambria" panose="02040503050406030204" pitchFamily="18" charset="0"/>
              <a:ea typeface="Cambria" panose="02040503050406030204" pitchFamily="18" charset="0"/>
            </a:endParaRPr>
          </a:p>
        </p:txBody>
      </p:sp>
      <p:sp>
        <p:nvSpPr>
          <p:cNvPr id="5" name="Text 3"/>
          <p:cNvSpPr/>
          <p:nvPr/>
        </p:nvSpPr>
        <p:spPr>
          <a:xfrm>
            <a:off x="822960" y="2386584"/>
            <a:ext cx="1737360" cy="521208"/>
          </a:xfrm>
          <a:prstGeom prst="rect">
            <a:avLst/>
          </a:prstGeom>
          <a:noFill/>
          <a:ln/>
        </p:spPr>
        <p:txBody>
          <a:bodyPr wrap="square" rtlCol="0" anchor="ctr"/>
          <a:lstStyle/>
          <a:p>
            <a:pPr marL="0" indent="0" algn="ctr">
              <a:buNone/>
            </a:pPr>
            <a:r>
              <a:rPr lang="en-US" sz="1350" b="1" dirty="0" err="1" smtClean="0">
                <a:solidFill>
                  <a:srgbClr val="17251E"/>
                </a:solidFill>
                <a:latin typeface="Cambria" panose="02040503050406030204" pitchFamily="18" charset="0"/>
                <a:ea typeface="Cambria" panose="02040503050406030204" pitchFamily="18" charset="0"/>
                <a:cs typeface="Calibri" pitchFamily="34" charset="-120"/>
              </a:rPr>
              <a:t>Setpoint</a:t>
            </a:r>
            <a:endParaRPr lang="en-US" sz="1350" dirty="0">
              <a:latin typeface="Cambria" panose="02040503050406030204" pitchFamily="18" charset="0"/>
              <a:ea typeface="Cambria" panose="02040503050406030204" pitchFamily="18" charset="0"/>
            </a:endParaRPr>
          </a:p>
        </p:txBody>
      </p:sp>
      <p:sp>
        <p:nvSpPr>
          <p:cNvPr id="6" name="Text 4"/>
          <p:cNvSpPr/>
          <p:nvPr/>
        </p:nvSpPr>
        <p:spPr>
          <a:xfrm>
            <a:off x="822960" y="2783434"/>
            <a:ext cx="1737360" cy="364846"/>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pilot / hold</a:t>
            </a:r>
            <a:endParaRPr lang="en-US" sz="1050" dirty="0">
              <a:latin typeface="Cambria" panose="02040503050406030204" pitchFamily="18" charset="0"/>
              <a:ea typeface="Cambria" panose="02040503050406030204" pitchFamily="18" charset="0"/>
            </a:endParaRPr>
          </a:p>
        </p:txBody>
      </p:sp>
      <p:sp>
        <p:nvSpPr>
          <p:cNvPr id="7" name="Shape 5"/>
          <p:cNvSpPr/>
          <p:nvPr/>
        </p:nvSpPr>
        <p:spPr>
          <a:xfrm>
            <a:off x="2971800" y="2514600"/>
            <a:ext cx="502920" cy="502920"/>
          </a:xfrm>
          <a:prstGeom prst="ellipse">
            <a:avLst/>
          </a:prstGeom>
          <a:solidFill>
            <a:srgbClr val="E8B23A"/>
          </a:solidFill>
          <a:ln/>
        </p:spPr>
      </p:sp>
      <p:sp>
        <p:nvSpPr>
          <p:cNvPr id="8" name="Text 6"/>
          <p:cNvSpPr/>
          <p:nvPr/>
        </p:nvSpPr>
        <p:spPr>
          <a:xfrm>
            <a:off x="2971800" y="2487168"/>
            <a:ext cx="502920" cy="502920"/>
          </a:xfrm>
          <a:prstGeom prst="rect">
            <a:avLst/>
          </a:prstGeom>
          <a:noFill/>
          <a:ln/>
        </p:spPr>
        <p:txBody>
          <a:bodyPr wrap="square" rtlCol="0" anchor="ctr"/>
          <a:lstStyle/>
          <a:p>
            <a:pPr marL="0" indent="0" algn="ctr">
              <a:buNone/>
            </a:pPr>
            <a:r>
              <a:rPr lang="en-US" sz="2000" b="1" dirty="0">
                <a:solidFill>
                  <a:srgbClr val="1B2B24"/>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p:txBody>
      </p:sp>
      <p:sp>
        <p:nvSpPr>
          <p:cNvPr id="9" name="Shape 7"/>
          <p:cNvSpPr/>
          <p:nvPr/>
        </p:nvSpPr>
        <p:spPr>
          <a:xfrm>
            <a:off x="3931920" y="2331720"/>
            <a:ext cx="1737360" cy="868680"/>
          </a:xfrm>
          <a:prstGeom prst="roundRect">
            <a:avLst>
              <a:gd name="adj" fmla="val 6316"/>
            </a:avLst>
          </a:prstGeom>
          <a:solidFill>
            <a:srgbClr val="2E6B4F"/>
          </a:solidFill>
          <a:ln w="12700">
            <a:solidFill>
              <a:srgbClr val="D6DED8"/>
            </a:solidFill>
            <a:prstDash val="solid"/>
          </a:ln>
        </p:spPr>
      </p:sp>
      <p:sp>
        <p:nvSpPr>
          <p:cNvPr id="10" name="Text 8"/>
          <p:cNvSpPr/>
          <p:nvPr/>
        </p:nvSpPr>
        <p:spPr>
          <a:xfrm>
            <a:off x="3931920" y="2386584"/>
            <a:ext cx="1737360" cy="521208"/>
          </a:xfrm>
          <a:prstGeom prst="rect">
            <a:avLst/>
          </a:prstGeom>
          <a:noFill/>
          <a:ln/>
        </p:spPr>
        <p:txBody>
          <a:bodyPr wrap="square" rtlCol="0" anchor="ctr"/>
          <a:lstStyle/>
          <a:p>
            <a:pPr marL="0" indent="0" algn="ctr">
              <a:buNone/>
            </a:pPr>
            <a:r>
              <a:rPr lang="en-US" sz="1350" b="1" dirty="0">
                <a:solidFill>
                  <a:srgbClr val="FFFFFF"/>
                </a:solidFill>
                <a:latin typeface="Cambria" panose="02040503050406030204" pitchFamily="18" charset="0"/>
                <a:ea typeface="Cambria" panose="02040503050406030204" pitchFamily="18" charset="0"/>
                <a:cs typeface="Calibri" pitchFamily="34" charset="-120"/>
              </a:rPr>
              <a:t>PID</a:t>
            </a:r>
            <a:endParaRPr lang="en-US" sz="1350" dirty="0">
              <a:latin typeface="Cambria" panose="02040503050406030204" pitchFamily="18" charset="0"/>
              <a:ea typeface="Cambria" panose="02040503050406030204" pitchFamily="18" charset="0"/>
            </a:endParaRPr>
          </a:p>
        </p:txBody>
      </p:sp>
      <p:sp>
        <p:nvSpPr>
          <p:cNvPr id="11" name="Text 9"/>
          <p:cNvSpPr/>
          <p:nvPr/>
        </p:nvSpPr>
        <p:spPr>
          <a:xfrm>
            <a:off x="3931920" y="2783434"/>
            <a:ext cx="1737360" cy="364846"/>
          </a:xfrm>
          <a:prstGeom prst="rect">
            <a:avLst/>
          </a:prstGeom>
          <a:noFill/>
          <a:ln/>
        </p:spPr>
        <p:txBody>
          <a:bodyPr wrap="square" rtlCol="0" anchor="ctr"/>
          <a:lstStyle/>
          <a:p>
            <a:pPr marL="0" indent="0" algn="ctr">
              <a:buNone/>
            </a:pPr>
            <a:r>
              <a:rPr lang="en-US" sz="1050" dirty="0">
                <a:solidFill>
                  <a:srgbClr val="FFFFFF"/>
                </a:solidFill>
                <a:latin typeface="Cambria" panose="02040503050406030204" pitchFamily="18" charset="0"/>
                <a:ea typeface="Cambria" panose="02040503050406030204" pitchFamily="18" charset="0"/>
                <a:cs typeface="Calibri" pitchFamily="34" charset="-120"/>
              </a:rPr>
              <a:t>P · I · D</a:t>
            </a:r>
            <a:endParaRPr lang="en-US" sz="1050" dirty="0">
              <a:latin typeface="Cambria" panose="02040503050406030204" pitchFamily="18" charset="0"/>
              <a:ea typeface="Cambria" panose="02040503050406030204" pitchFamily="18" charset="0"/>
            </a:endParaRPr>
          </a:p>
        </p:txBody>
      </p:sp>
      <p:sp>
        <p:nvSpPr>
          <p:cNvPr id="12" name="Shape 10"/>
          <p:cNvSpPr/>
          <p:nvPr/>
        </p:nvSpPr>
        <p:spPr>
          <a:xfrm>
            <a:off x="6400800" y="2331720"/>
            <a:ext cx="1920240" cy="868680"/>
          </a:xfrm>
          <a:prstGeom prst="roundRect">
            <a:avLst>
              <a:gd name="adj" fmla="val 6316"/>
            </a:avLst>
          </a:prstGeom>
          <a:solidFill>
            <a:srgbClr val="FFFFFF"/>
          </a:solidFill>
          <a:ln w="12700">
            <a:solidFill>
              <a:srgbClr val="D6DED8"/>
            </a:solidFill>
            <a:prstDash val="solid"/>
          </a:ln>
        </p:spPr>
      </p:sp>
      <p:sp>
        <p:nvSpPr>
          <p:cNvPr id="13" name="Text 11"/>
          <p:cNvSpPr/>
          <p:nvPr/>
        </p:nvSpPr>
        <p:spPr>
          <a:xfrm>
            <a:off x="6400800" y="2386584"/>
            <a:ext cx="1920240" cy="521208"/>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Motors</a:t>
            </a:r>
            <a:endParaRPr lang="en-US" sz="1350" dirty="0">
              <a:latin typeface="Cambria" panose="02040503050406030204" pitchFamily="18" charset="0"/>
              <a:ea typeface="Cambria" panose="02040503050406030204" pitchFamily="18" charset="0"/>
            </a:endParaRPr>
          </a:p>
        </p:txBody>
      </p:sp>
      <p:sp>
        <p:nvSpPr>
          <p:cNvPr id="14" name="Text 12"/>
          <p:cNvSpPr/>
          <p:nvPr/>
        </p:nvSpPr>
        <p:spPr>
          <a:xfrm>
            <a:off x="6400800" y="2783434"/>
            <a:ext cx="1920240" cy="364846"/>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ESC → BLDC</a:t>
            </a:r>
            <a:endParaRPr lang="en-US" sz="1050" dirty="0">
              <a:latin typeface="Cambria" panose="02040503050406030204" pitchFamily="18" charset="0"/>
              <a:ea typeface="Cambria" panose="02040503050406030204" pitchFamily="18" charset="0"/>
            </a:endParaRPr>
          </a:p>
        </p:txBody>
      </p:sp>
      <p:sp>
        <p:nvSpPr>
          <p:cNvPr id="15" name="Shape 13"/>
          <p:cNvSpPr/>
          <p:nvPr/>
        </p:nvSpPr>
        <p:spPr>
          <a:xfrm>
            <a:off x="9052560" y="2331720"/>
            <a:ext cx="2194560" cy="868680"/>
          </a:xfrm>
          <a:prstGeom prst="roundRect">
            <a:avLst>
              <a:gd name="adj" fmla="val 6316"/>
            </a:avLst>
          </a:prstGeom>
          <a:solidFill>
            <a:srgbClr val="FFFFFF"/>
          </a:solidFill>
          <a:ln w="12700">
            <a:solidFill>
              <a:srgbClr val="D6DED8"/>
            </a:solidFill>
            <a:prstDash val="solid"/>
          </a:ln>
        </p:spPr>
      </p:sp>
      <p:sp>
        <p:nvSpPr>
          <p:cNvPr id="16" name="Text 14"/>
          <p:cNvSpPr/>
          <p:nvPr/>
        </p:nvSpPr>
        <p:spPr>
          <a:xfrm>
            <a:off x="9052560" y="2386584"/>
            <a:ext cx="2194560" cy="521208"/>
          </a:xfrm>
          <a:prstGeom prst="rect">
            <a:avLst/>
          </a:prstGeom>
          <a:noFill/>
          <a:ln/>
        </p:spPr>
        <p:txBody>
          <a:bodyPr wrap="square" rtlCol="0" anchor="ctr"/>
          <a:lstStyle/>
          <a:p>
            <a:pPr marL="0" indent="0" algn="ctr">
              <a:buNone/>
            </a:pPr>
            <a:r>
              <a:rPr lang="en-US" sz="1350" b="1" dirty="0">
                <a:solidFill>
                  <a:srgbClr val="17251E"/>
                </a:solidFill>
                <a:latin typeface="Cambria" panose="02040503050406030204" pitchFamily="18" charset="0"/>
                <a:ea typeface="Cambria" panose="02040503050406030204" pitchFamily="18" charset="0"/>
                <a:cs typeface="Calibri" pitchFamily="34" charset="-120"/>
              </a:rPr>
              <a:t>Drone</a:t>
            </a:r>
            <a:endParaRPr lang="en-US" sz="1350" dirty="0">
              <a:latin typeface="Cambria" panose="02040503050406030204" pitchFamily="18" charset="0"/>
              <a:ea typeface="Cambria" panose="02040503050406030204" pitchFamily="18" charset="0"/>
            </a:endParaRPr>
          </a:p>
        </p:txBody>
      </p:sp>
      <p:sp>
        <p:nvSpPr>
          <p:cNvPr id="17" name="Text 15"/>
          <p:cNvSpPr/>
          <p:nvPr/>
        </p:nvSpPr>
        <p:spPr>
          <a:xfrm>
            <a:off x="9052560" y="2783434"/>
            <a:ext cx="2194560" cy="364846"/>
          </a:xfrm>
          <a:prstGeom prst="rect">
            <a:avLst/>
          </a:prstGeom>
          <a:noFill/>
          <a:ln/>
        </p:spPr>
        <p:txBody>
          <a:bodyPr wrap="square" rtlCol="0" anchor="ctr"/>
          <a:lstStyle/>
          <a:p>
            <a:pPr marL="0" indent="0" algn="ctr">
              <a:buNone/>
            </a:pPr>
            <a:r>
              <a:rPr lang="en-US" sz="1050" dirty="0">
                <a:solidFill>
                  <a:srgbClr val="17251E"/>
                </a:solidFill>
                <a:latin typeface="Cambria" panose="02040503050406030204" pitchFamily="18" charset="0"/>
                <a:ea typeface="Cambria" panose="02040503050406030204" pitchFamily="18" charset="0"/>
                <a:cs typeface="Calibri" pitchFamily="34" charset="-120"/>
              </a:rPr>
              <a:t>actual attitude</a:t>
            </a:r>
            <a:endParaRPr lang="en-US" sz="1050" dirty="0">
              <a:latin typeface="Cambria" panose="02040503050406030204" pitchFamily="18" charset="0"/>
              <a:ea typeface="Cambria" panose="02040503050406030204" pitchFamily="18" charset="0"/>
            </a:endParaRPr>
          </a:p>
        </p:txBody>
      </p:sp>
      <p:sp>
        <p:nvSpPr>
          <p:cNvPr id="18" name="Shape 16"/>
          <p:cNvSpPr/>
          <p:nvPr/>
        </p:nvSpPr>
        <p:spPr>
          <a:xfrm>
            <a:off x="2560320" y="2770632"/>
            <a:ext cx="411480" cy="0"/>
          </a:xfrm>
          <a:prstGeom prst="line">
            <a:avLst/>
          </a:prstGeom>
          <a:noFill/>
          <a:ln w="28575">
            <a:solidFill>
              <a:srgbClr val="2E6B4F"/>
            </a:solidFill>
            <a:prstDash val="solid"/>
            <a:tailEnd type="triangle"/>
          </a:ln>
        </p:spPr>
      </p:sp>
      <p:sp>
        <p:nvSpPr>
          <p:cNvPr id="19" name="Shape 17"/>
          <p:cNvSpPr/>
          <p:nvPr/>
        </p:nvSpPr>
        <p:spPr>
          <a:xfrm>
            <a:off x="3474720" y="2770632"/>
            <a:ext cx="457200" cy="0"/>
          </a:xfrm>
          <a:prstGeom prst="line">
            <a:avLst/>
          </a:prstGeom>
          <a:noFill/>
          <a:ln w="28575">
            <a:solidFill>
              <a:srgbClr val="2E6B4F"/>
            </a:solidFill>
            <a:prstDash val="solid"/>
            <a:tailEnd type="triangle"/>
          </a:ln>
        </p:spPr>
      </p:sp>
      <p:sp>
        <p:nvSpPr>
          <p:cNvPr id="20" name="Shape 18"/>
          <p:cNvSpPr/>
          <p:nvPr/>
        </p:nvSpPr>
        <p:spPr>
          <a:xfrm>
            <a:off x="5669280" y="2770632"/>
            <a:ext cx="731520" cy="0"/>
          </a:xfrm>
          <a:prstGeom prst="line">
            <a:avLst/>
          </a:prstGeom>
          <a:noFill/>
          <a:ln w="28575">
            <a:solidFill>
              <a:srgbClr val="2E6B4F"/>
            </a:solidFill>
            <a:prstDash val="solid"/>
            <a:tailEnd type="triangle"/>
          </a:ln>
        </p:spPr>
      </p:sp>
      <p:sp>
        <p:nvSpPr>
          <p:cNvPr id="21" name="Shape 19"/>
          <p:cNvSpPr/>
          <p:nvPr/>
        </p:nvSpPr>
        <p:spPr>
          <a:xfrm>
            <a:off x="8321040" y="2770632"/>
            <a:ext cx="731520" cy="0"/>
          </a:xfrm>
          <a:prstGeom prst="line">
            <a:avLst/>
          </a:prstGeom>
          <a:noFill/>
          <a:ln w="28575">
            <a:solidFill>
              <a:srgbClr val="2E6B4F"/>
            </a:solidFill>
            <a:prstDash val="solid"/>
            <a:tailEnd type="triangle"/>
          </a:ln>
        </p:spPr>
      </p:sp>
      <p:sp>
        <p:nvSpPr>
          <p:cNvPr id="22" name="Shape 20"/>
          <p:cNvSpPr/>
          <p:nvPr/>
        </p:nvSpPr>
        <p:spPr>
          <a:xfrm>
            <a:off x="10149840" y="3200400"/>
            <a:ext cx="0" cy="777240"/>
          </a:xfrm>
          <a:prstGeom prst="line">
            <a:avLst/>
          </a:prstGeom>
          <a:noFill/>
          <a:ln w="25400">
            <a:solidFill>
              <a:srgbClr val="7FA98C"/>
            </a:solidFill>
            <a:prstDash val="solid"/>
          </a:ln>
        </p:spPr>
      </p:sp>
      <p:sp>
        <p:nvSpPr>
          <p:cNvPr id="23" name="Shape 21"/>
          <p:cNvSpPr/>
          <p:nvPr/>
        </p:nvSpPr>
        <p:spPr>
          <a:xfrm>
            <a:off x="3217926" y="3973068"/>
            <a:ext cx="6949440" cy="9143"/>
          </a:xfrm>
          <a:prstGeom prst="line">
            <a:avLst/>
          </a:prstGeom>
          <a:noFill/>
          <a:ln w="25400">
            <a:solidFill>
              <a:srgbClr val="7FA98C"/>
            </a:solidFill>
            <a:prstDash val="solid"/>
          </a:ln>
        </p:spPr>
      </p:sp>
      <p:sp>
        <p:nvSpPr>
          <p:cNvPr id="24" name="Shape 22"/>
          <p:cNvSpPr/>
          <p:nvPr/>
        </p:nvSpPr>
        <p:spPr>
          <a:xfrm flipV="1">
            <a:off x="3217926" y="3017520"/>
            <a:ext cx="0" cy="960120"/>
          </a:xfrm>
          <a:prstGeom prst="line">
            <a:avLst/>
          </a:prstGeom>
          <a:noFill/>
          <a:ln w="28575">
            <a:solidFill>
              <a:srgbClr val="7FA98C"/>
            </a:solidFill>
            <a:prstDash val="solid"/>
            <a:tailEnd type="triangle"/>
          </a:ln>
        </p:spPr>
      </p:sp>
      <p:sp>
        <p:nvSpPr>
          <p:cNvPr id="25" name="Text 23"/>
          <p:cNvSpPr/>
          <p:nvPr/>
        </p:nvSpPr>
        <p:spPr>
          <a:xfrm>
            <a:off x="4572000" y="4041648"/>
            <a:ext cx="3657600" cy="274320"/>
          </a:xfrm>
          <a:prstGeom prst="rect">
            <a:avLst/>
          </a:prstGeom>
          <a:noFill/>
          <a:ln/>
        </p:spPr>
        <p:txBody>
          <a:bodyPr wrap="square" rtlCol="0" anchor="ctr"/>
          <a:lstStyle/>
          <a:p>
            <a:pPr marL="0" indent="0">
              <a:buNone/>
            </a:pPr>
            <a:r>
              <a:rPr lang="en-US" sz="1100" i="1" dirty="0">
                <a:solidFill>
                  <a:srgbClr val="6E8079"/>
                </a:solidFill>
                <a:latin typeface="Cambria" panose="02040503050406030204" pitchFamily="18" charset="0"/>
                <a:ea typeface="Cambria" panose="02040503050406030204" pitchFamily="18" charset="0"/>
                <a:cs typeface="Calibri" pitchFamily="34" charset="-120"/>
              </a:rPr>
              <a:t>estimated attitude (feedback)</a:t>
            </a:r>
            <a:endParaRPr lang="en-US" sz="1100" dirty="0">
              <a:latin typeface="Cambria" panose="02040503050406030204" pitchFamily="18" charset="0"/>
              <a:ea typeface="Cambria" panose="02040503050406030204" pitchFamily="18" charset="0"/>
            </a:endParaRPr>
          </a:p>
        </p:txBody>
      </p:sp>
      <p:sp>
        <p:nvSpPr>
          <p:cNvPr id="26" name="Shape 24"/>
          <p:cNvSpPr/>
          <p:nvPr/>
        </p:nvSpPr>
        <p:spPr>
          <a:xfrm>
            <a:off x="566928" y="4617720"/>
            <a:ext cx="2468880" cy="1143000"/>
          </a:xfrm>
          <a:prstGeom prst="roundRect">
            <a:avLst>
              <a:gd name="adj" fmla="val 6400"/>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27" name="Shape 25"/>
          <p:cNvSpPr/>
          <p:nvPr/>
        </p:nvSpPr>
        <p:spPr>
          <a:xfrm>
            <a:off x="768096" y="4800600"/>
            <a:ext cx="548640" cy="548640"/>
          </a:xfrm>
          <a:prstGeom prst="ellipse">
            <a:avLst/>
          </a:prstGeom>
          <a:solidFill>
            <a:srgbClr val="E9F0EA"/>
          </a:solidFill>
          <a:ln/>
        </p:spPr>
      </p:sp>
      <p:sp>
        <p:nvSpPr>
          <p:cNvPr id="28" name="Text 26"/>
          <p:cNvSpPr/>
          <p:nvPr/>
        </p:nvSpPr>
        <p:spPr>
          <a:xfrm>
            <a:off x="768096" y="4800600"/>
            <a:ext cx="548640" cy="548640"/>
          </a:xfrm>
          <a:prstGeom prst="rect">
            <a:avLst/>
          </a:prstGeom>
          <a:noFill/>
          <a:ln/>
        </p:spPr>
        <p:txBody>
          <a:bodyPr wrap="square" rtlCol="0" anchor="ctr"/>
          <a:lstStyle/>
          <a:p>
            <a:pPr marL="0" indent="0" algn="ctr">
              <a:buNone/>
            </a:pPr>
            <a:r>
              <a:rPr lang="en-US" sz="2000" b="1" dirty="0">
                <a:solidFill>
                  <a:srgbClr val="2E6B4F"/>
                </a:solidFill>
                <a:latin typeface="Cambria" panose="02040503050406030204" pitchFamily="18" charset="0"/>
                <a:ea typeface="Cambria" panose="02040503050406030204" pitchFamily="18" charset="0"/>
                <a:cs typeface="Cambria" pitchFamily="34" charset="-120"/>
              </a:rPr>
              <a:t>P</a:t>
            </a:r>
            <a:endParaRPr lang="en-US" sz="2000" dirty="0">
              <a:latin typeface="Cambria" panose="02040503050406030204" pitchFamily="18" charset="0"/>
              <a:ea typeface="Cambria" panose="02040503050406030204" pitchFamily="18" charset="0"/>
            </a:endParaRPr>
          </a:p>
        </p:txBody>
      </p:sp>
      <p:sp>
        <p:nvSpPr>
          <p:cNvPr id="29" name="Text 27"/>
          <p:cNvSpPr/>
          <p:nvPr/>
        </p:nvSpPr>
        <p:spPr>
          <a:xfrm>
            <a:off x="1435608" y="4754880"/>
            <a:ext cx="1508760" cy="914400"/>
          </a:xfrm>
          <a:prstGeom prst="rect">
            <a:avLst/>
          </a:prstGeom>
          <a:noFill/>
          <a:ln/>
        </p:spPr>
        <p:txBody>
          <a:bodyPr wrap="square" rtlCol="0" anchor="ctr"/>
          <a:lstStyle/>
          <a:p>
            <a:pPr marL="0" indent="0">
              <a:lnSpc>
                <a:spcPts val="1500"/>
              </a:lnSpc>
              <a:buNone/>
            </a:pPr>
            <a:r>
              <a:rPr lang="en-US" sz="1150" dirty="0">
                <a:solidFill>
                  <a:srgbClr val="17251E"/>
                </a:solidFill>
                <a:latin typeface="Cambria" panose="02040503050406030204" pitchFamily="18" charset="0"/>
                <a:ea typeface="Cambria" panose="02040503050406030204" pitchFamily="18" charset="0"/>
                <a:cs typeface="Calibri" pitchFamily="34" charset="-120"/>
              </a:rPr>
              <a:t>reacts to present error → response speed</a:t>
            </a:r>
            <a:endParaRPr lang="en-US" sz="1150" dirty="0">
              <a:latin typeface="Cambria" panose="02040503050406030204" pitchFamily="18" charset="0"/>
              <a:ea typeface="Cambria" panose="02040503050406030204" pitchFamily="18" charset="0"/>
            </a:endParaRPr>
          </a:p>
        </p:txBody>
      </p:sp>
      <p:sp>
        <p:nvSpPr>
          <p:cNvPr id="30" name="Shape 28"/>
          <p:cNvSpPr/>
          <p:nvPr/>
        </p:nvSpPr>
        <p:spPr>
          <a:xfrm>
            <a:off x="3218688" y="4617720"/>
            <a:ext cx="2468880" cy="1143000"/>
          </a:xfrm>
          <a:prstGeom prst="roundRect">
            <a:avLst>
              <a:gd name="adj" fmla="val 6400"/>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31" name="Shape 29"/>
          <p:cNvSpPr/>
          <p:nvPr/>
        </p:nvSpPr>
        <p:spPr>
          <a:xfrm>
            <a:off x="3419856" y="4800600"/>
            <a:ext cx="548640" cy="548640"/>
          </a:xfrm>
          <a:prstGeom prst="ellipse">
            <a:avLst/>
          </a:prstGeom>
          <a:solidFill>
            <a:srgbClr val="E9F0EA"/>
          </a:solidFill>
          <a:ln/>
        </p:spPr>
      </p:sp>
      <p:sp>
        <p:nvSpPr>
          <p:cNvPr id="32" name="Text 30"/>
          <p:cNvSpPr/>
          <p:nvPr/>
        </p:nvSpPr>
        <p:spPr>
          <a:xfrm>
            <a:off x="3419856" y="4800600"/>
            <a:ext cx="548640" cy="548640"/>
          </a:xfrm>
          <a:prstGeom prst="rect">
            <a:avLst/>
          </a:prstGeom>
          <a:noFill/>
          <a:ln/>
        </p:spPr>
        <p:txBody>
          <a:bodyPr wrap="square" rtlCol="0" anchor="ctr"/>
          <a:lstStyle/>
          <a:p>
            <a:pPr marL="0" indent="0" algn="ctr">
              <a:buNone/>
            </a:pPr>
            <a:r>
              <a:rPr lang="en-US" sz="2000" b="1" dirty="0">
                <a:solidFill>
                  <a:srgbClr val="2E6B4F"/>
                </a:solidFill>
                <a:latin typeface="Cambria" panose="02040503050406030204" pitchFamily="18" charset="0"/>
                <a:ea typeface="Cambria" panose="02040503050406030204" pitchFamily="18" charset="0"/>
                <a:cs typeface="Cambria" pitchFamily="34" charset="-120"/>
              </a:rPr>
              <a:t>I</a:t>
            </a:r>
            <a:endParaRPr lang="en-US" sz="2000" dirty="0">
              <a:latin typeface="Cambria" panose="02040503050406030204" pitchFamily="18" charset="0"/>
              <a:ea typeface="Cambria" panose="02040503050406030204" pitchFamily="18" charset="0"/>
            </a:endParaRPr>
          </a:p>
        </p:txBody>
      </p:sp>
      <p:sp>
        <p:nvSpPr>
          <p:cNvPr id="33" name="Text 31"/>
          <p:cNvSpPr/>
          <p:nvPr/>
        </p:nvSpPr>
        <p:spPr>
          <a:xfrm>
            <a:off x="4087368" y="4754880"/>
            <a:ext cx="1508760" cy="914400"/>
          </a:xfrm>
          <a:prstGeom prst="rect">
            <a:avLst/>
          </a:prstGeom>
          <a:noFill/>
          <a:ln/>
        </p:spPr>
        <p:txBody>
          <a:bodyPr wrap="square" rtlCol="0" anchor="ctr"/>
          <a:lstStyle/>
          <a:p>
            <a:pPr marL="0" indent="0">
              <a:lnSpc>
                <a:spcPts val="1500"/>
              </a:lnSpc>
              <a:buNone/>
            </a:pPr>
            <a:r>
              <a:rPr lang="en-US" sz="1150" dirty="0">
                <a:solidFill>
                  <a:srgbClr val="17251E"/>
                </a:solidFill>
                <a:latin typeface="Cambria" panose="02040503050406030204" pitchFamily="18" charset="0"/>
                <a:ea typeface="Cambria" panose="02040503050406030204" pitchFamily="18" charset="0"/>
                <a:cs typeface="Calibri" pitchFamily="34" charset="-120"/>
              </a:rPr>
              <a:t>removes steady-state error</a:t>
            </a:r>
            <a:endParaRPr lang="en-US" sz="1150" dirty="0">
              <a:latin typeface="Cambria" panose="02040503050406030204" pitchFamily="18" charset="0"/>
              <a:ea typeface="Cambria" panose="02040503050406030204" pitchFamily="18" charset="0"/>
            </a:endParaRPr>
          </a:p>
        </p:txBody>
      </p:sp>
      <p:sp>
        <p:nvSpPr>
          <p:cNvPr id="34" name="Shape 32"/>
          <p:cNvSpPr/>
          <p:nvPr/>
        </p:nvSpPr>
        <p:spPr>
          <a:xfrm>
            <a:off x="5870448" y="4617720"/>
            <a:ext cx="2468880" cy="1143000"/>
          </a:xfrm>
          <a:prstGeom prst="roundRect">
            <a:avLst>
              <a:gd name="adj" fmla="val 6400"/>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35" name="Shape 33"/>
          <p:cNvSpPr/>
          <p:nvPr/>
        </p:nvSpPr>
        <p:spPr>
          <a:xfrm>
            <a:off x="6071616" y="4800600"/>
            <a:ext cx="548640" cy="548640"/>
          </a:xfrm>
          <a:prstGeom prst="ellipse">
            <a:avLst/>
          </a:prstGeom>
          <a:solidFill>
            <a:srgbClr val="E9F0EA"/>
          </a:solidFill>
          <a:ln/>
        </p:spPr>
      </p:sp>
      <p:sp>
        <p:nvSpPr>
          <p:cNvPr id="36" name="Text 34"/>
          <p:cNvSpPr/>
          <p:nvPr/>
        </p:nvSpPr>
        <p:spPr>
          <a:xfrm>
            <a:off x="6071616" y="4800600"/>
            <a:ext cx="548640" cy="548640"/>
          </a:xfrm>
          <a:prstGeom prst="rect">
            <a:avLst/>
          </a:prstGeom>
          <a:noFill/>
          <a:ln/>
        </p:spPr>
        <p:txBody>
          <a:bodyPr wrap="square" rtlCol="0" anchor="ctr"/>
          <a:lstStyle/>
          <a:p>
            <a:pPr marL="0" indent="0" algn="ctr">
              <a:buNone/>
            </a:pPr>
            <a:r>
              <a:rPr lang="en-US" sz="2000" b="1" dirty="0">
                <a:solidFill>
                  <a:srgbClr val="2E6B4F"/>
                </a:solidFill>
                <a:latin typeface="Cambria" panose="02040503050406030204" pitchFamily="18" charset="0"/>
                <a:ea typeface="Cambria" panose="02040503050406030204" pitchFamily="18" charset="0"/>
                <a:cs typeface="Cambria" pitchFamily="34" charset="-120"/>
              </a:rPr>
              <a:t>D</a:t>
            </a:r>
            <a:endParaRPr lang="en-US" sz="2000" dirty="0">
              <a:latin typeface="Cambria" panose="02040503050406030204" pitchFamily="18" charset="0"/>
              <a:ea typeface="Cambria" panose="02040503050406030204" pitchFamily="18" charset="0"/>
            </a:endParaRPr>
          </a:p>
        </p:txBody>
      </p:sp>
      <p:sp>
        <p:nvSpPr>
          <p:cNvPr id="37" name="Text 35"/>
          <p:cNvSpPr/>
          <p:nvPr/>
        </p:nvSpPr>
        <p:spPr>
          <a:xfrm>
            <a:off x="6739128" y="4754880"/>
            <a:ext cx="1508760" cy="914400"/>
          </a:xfrm>
          <a:prstGeom prst="rect">
            <a:avLst/>
          </a:prstGeom>
          <a:noFill/>
          <a:ln/>
        </p:spPr>
        <p:txBody>
          <a:bodyPr wrap="square" rtlCol="0" anchor="ctr"/>
          <a:lstStyle/>
          <a:p>
            <a:pPr marL="0" indent="0">
              <a:lnSpc>
                <a:spcPts val="1500"/>
              </a:lnSpc>
              <a:buNone/>
            </a:pPr>
            <a:r>
              <a:rPr lang="en-US" sz="1150" dirty="0">
                <a:solidFill>
                  <a:srgbClr val="17251E"/>
                </a:solidFill>
                <a:latin typeface="Cambria" panose="02040503050406030204" pitchFamily="18" charset="0"/>
                <a:ea typeface="Cambria" panose="02040503050406030204" pitchFamily="18" charset="0"/>
                <a:cs typeface="Calibri" pitchFamily="34" charset="-120"/>
              </a:rPr>
              <a:t>damps overshoot &amp; oscillation</a:t>
            </a:r>
            <a:endParaRPr lang="en-US" sz="1150" dirty="0">
              <a:latin typeface="Cambria" panose="02040503050406030204" pitchFamily="18" charset="0"/>
              <a:ea typeface="Cambria" panose="02040503050406030204" pitchFamily="18" charset="0"/>
            </a:endParaRPr>
          </a:p>
        </p:txBody>
      </p:sp>
      <p:sp>
        <p:nvSpPr>
          <p:cNvPr id="38" name="Shape 36"/>
          <p:cNvSpPr/>
          <p:nvPr/>
        </p:nvSpPr>
        <p:spPr>
          <a:xfrm>
            <a:off x="8522208" y="4617720"/>
            <a:ext cx="3102559" cy="1143000"/>
          </a:xfrm>
          <a:prstGeom prst="roundRect">
            <a:avLst>
              <a:gd name="adj" fmla="val 6400"/>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39" name="Text 37"/>
          <p:cNvSpPr/>
          <p:nvPr/>
        </p:nvSpPr>
        <p:spPr>
          <a:xfrm>
            <a:off x="8750808" y="4754880"/>
            <a:ext cx="2377440" cy="320040"/>
          </a:xfrm>
          <a:prstGeom prst="rect">
            <a:avLst/>
          </a:prstGeom>
          <a:noFill/>
          <a:ln/>
        </p:spPr>
        <p:txBody>
          <a:bodyPr wrap="square" rtlCol="0" anchor="ctr"/>
          <a:lstStyle/>
          <a:p>
            <a:pPr marL="0" indent="0">
              <a:buNone/>
            </a:pPr>
            <a:r>
              <a:rPr lang="en-US" sz="1300" b="1" dirty="0">
                <a:solidFill>
                  <a:srgbClr val="E8B23A"/>
                </a:solidFill>
                <a:latin typeface="Cambria" panose="02040503050406030204" pitchFamily="18" charset="0"/>
                <a:ea typeface="Cambria" panose="02040503050406030204" pitchFamily="18" charset="0"/>
                <a:cs typeface="Calibri" pitchFamily="34" charset="-120"/>
              </a:rPr>
              <a:t>RC input · IBUS</a:t>
            </a:r>
            <a:endParaRPr lang="en-US" sz="1300" dirty="0">
              <a:latin typeface="Cambria" panose="02040503050406030204" pitchFamily="18" charset="0"/>
              <a:ea typeface="Cambria" panose="02040503050406030204" pitchFamily="18" charset="0"/>
            </a:endParaRPr>
          </a:p>
        </p:txBody>
      </p:sp>
      <p:sp>
        <p:nvSpPr>
          <p:cNvPr id="40" name="Text 38"/>
          <p:cNvSpPr/>
          <p:nvPr/>
        </p:nvSpPr>
        <p:spPr>
          <a:xfrm>
            <a:off x="8750808" y="5074920"/>
            <a:ext cx="2736799" cy="640080"/>
          </a:xfrm>
          <a:prstGeom prst="rect">
            <a:avLst/>
          </a:prstGeom>
          <a:noFill/>
          <a:ln/>
        </p:spPr>
        <p:txBody>
          <a:bodyPr wrap="square" rtlCol="0" anchor="ctr"/>
          <a:lstStyle/>
          <a:p>
            <a:pPr marL="0" indent="0">
              <a:lnSpc>
                <a:spcPts val="1400"/>
              </a:lnSpc>
              <a:buNone/>
            </a:pPr>
            <a:r>
              <a:rPr lang="en-US" sz="1100" dirty="0">
                <a:solidFill>
                  <a:srgbClr val="FFFFFF"/>
                </a:solidFill>
                <a:latin typeface="Cambria" panose="02040503050406030204" pitchFamily="18" charset="0"/>
                <a:ea typeface="Cambria" panose="02040503050406030204" pitchFamily="18" charset="0"/>
                <a:cs typeface="Calibri" pitchFamily="34" charset="-120"/>
              </a:rPr>
              <a:t>All channels on one UART wire; each packet checksum-verified, so corrupt frames are rejected.</a:t>
            </a:r>
            <a:endParaRPr lang="en-US" sz="1100" dirty="0">
              <a:latin typeface="Cambria" panose="02040503050406030204" pitchFamily="18" charset="0"/>
              <a:ea typeface="Cambria" panose="02040503050406030204" pitchFamily="18" charset="0"/>
            </a:endParaRPr>
          </a:p>
        </p:txBody>
      </p:sp>
      <p:sp>
        <p:nvSpPr>
          <p:cNvPr id="41" name="Text 39"/>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Sántha Zsolt  ·  Quadcopter flight-control system</a:t>
            </a:r>
            <a:endParaRPr lang="en-US" sz="900" dirty="0">
              <a:latin typeface="Cambria" panose="02040503050406030204" pitchFamily="18" charset="0"/>
              <a:ea typeface="Cambria" panose="02040503050406030204" pitchFamily="18" charset="0"/>
            </a:endParaRPr>
          </a:p>
        </p:txBody>
      </p:sp>
      <p:sp>
        <p:nvSpPr>
          <p:cNvPr id="42" name="Text 40"/>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10</a:t>
            </a:r>
            <a:endParaRPr lang="en-US" sz="9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352C"/>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r>
              <a:rPr lang="en-US" sz="3200" b="1">
                <a:solidFill>
                  <a:srgbClr val="FFFFFF"/>
                </a:solidFill>
                <a:latin typeface="Cambria" panose="02040503050406030204" pitchFamily="18" charset="0"/>
                <a:ea typeface="Cambria" panose="02040503050406030204" pitchFamily="18" charset="0"/>
                <a:cs typeface="Cambria" pitchFamily="34" charset="-120"/>
              </a:rPr>
              <a:t>It estimates orientation in real time</a:t>
            </a:r>
            <a:endParaRPr lang="en-US" sz="3200" dirty="0">
              <a:latin typeface="Cambria" panose="02040503050406030204" pitchFamily="18" charset="0"/>
              <a:ea typeface="Cambria" panose="02040503050406030204" pitchFamily="18" charset="0"/>
            </a:endParaRPr>
          </a:p>
        </p:txBody>
      </p:sp>
      <p:pic>
        <p:nvPicPr>
          <p:cNvPr id="4" name="Image 0" descr="assets/live_photo.jpg"/>
          <p:cNvPicPr>
            <a:picLocks noChangeAspect="1"/>
          </p:cNvPicPr>
          <p:nvPr/>
        </p:nvPicPr>
        <p:blipFill rotWithShape="1">
          <a:blip r:embed="rId4"/>
          <a:srcRect l="4843" t="264" r="-167" b="-264"/>
          <a:stretch/>
        </p:blipFill>
        <p:spPr>
          <a:xfrm>
            <a:off x="705877" y="1655064"/>
            <a:ext cx="5665702" cy="3758184"/>
          </a:xfrm>
          <a:prstGeom prst="rect">
            <a:avLst/>
          </a:prstGeom>
          <a:effectLst>
            <a:outerShdw blurRad="88900" dist="38100" dir="5400000" algn="bl" rotWithShape="0">
              <a:srgbClr val="000000">
                <a:alpha val="40000"/>
              </a:srgbClr>
            </a:outerShdw>
          </a:effectLst>
        </p:spPr>
      </p:pic>
      <p:sp>
        <p:nvSpPr>
          <p:cNvPr id="5" name="Text 2"/>
          <p:cNvSpPr/>
          <p:nvPr/>
        </p:nvSpPr>
        <p:spPr>
          <a:xfrm>
            <a:off x="318450" y="5577840"/>
            <a:ext cx="5943600" cy="457200"/>
          </a:xfrm>
          <a:prstGeom prst="rect">
            <a:avLst/>
          </a:prstGeom>
          <a:noFill/>
          <a:ln/>
        </p:spPr>
        <p:txBody>
          <a:bodyPr wrap="square" rtlCol="0" anchor="ctr"/>
          <a:lstStyle/>
          <a:p>
            <a:pPr marL="0" indent="0" algn="ctr">
              <a:buNone/>
            </a:pPr>
            <a:r>
              <a:rPr lang="en-US" sz="1250" i="1" dirty="0">
                <a:solidFill>
                  <a:srgbClr val="7FA98C"/>
                </a:solidFill>
                <a:latin typeface="Calibri" pitchFamily="34" charset="0"/>
                <a:ea typeface="Calibri" pitchFamily="34" charset="-122"/>
                <a:cs typeface="Calibri" pitchFamily="34" charset="-120"/>
              </a:rPr>
              <a:t>The board is tilted by hand — the on-screen model tracks it live.</a:t>
            </a:r>
            <a:endParaRPr lang="en-US" sz="1250" dirty="0"/>
          </a:p>
        </p:txBody>
      </p:sp>
      <p:pic>
        <p:nvPicPr>
          <p:cNvPr id="6" name="Image 1" descr="assets/render_clean.png"/>
          <p:cNvPicPr>
            <a:picLocks noChangeAspect="1"/>
          </p:cNvPicPr>
          <p:nvPr/>
        </p:nvPicPr>
        <p:blipFill>
          <a:blip r:embed="rId5"/>
          <a:stretch>
            <a:fillRect/>
          </a:stretch>
        </p:blipFill>
        <p:spPr>
          <a:xfrm>
            <a:off x="6903720" y="1783080"/>
            <a:ext cx="4617720" cy="3392424"/>
          </a:xfrm>
          <a:prstGeom prst="rect">
            <a:avLst/>
          </a:prstGeom>
          <a:effectLst>
            <a:outerShdw blurRad="88900" dist="38100" dir="5400000" algn="bl" rotWithShape="0">
              <a:srgbClr val="000000">
                <a:alpha val="40000"/>
              </a:srgbClr>
            </a:outerShdw>
          </a:effectLst>
        </p:spPr>
      </p:pic>
      <p:sp>
        <p:nvSpPr>
          <p:cNvPr id="7" name="Text 3"/>
          <p:cNvSpPr/>
          <p:nvPr/>
        </p:nvSpPr>
        <p:spPr>
          <a:xfrm>
            <a:off x="6903720" y="5248656"/>
            <a:ext cx="4617720" cy="365760"/>
          </a:xfrm>
          <a:prstGeom prst="rect">
            <a:avLst/>
          </a:prstGeom>
          <a:noFill/>
          <a:ln/>
        </p:spPr>
        <p:txBody>
          <a:bodyPr wrap="square" rtlCol="0" anchor="ctr"/>
          <a:lstStyle/>
          <a:p>
            <a:pPr marL="0" indent="0" algn="ctr">
              <a:buNone/>
            </a:pPr>
            <a:r>
              <a:rPr lang="en-US" sz="1250" i="1" dirty="0">
                <a:solidFill>
                  <a:srgbClr val="7FA98C"/>
                </a:solidFill>
                <a:latin typeface="Calibri" pitchFamily="34" charset="0"/>
                <a:ea typeface="Calibri" pitchFamily="34" charset="-122"/>
                <a:cs typeface="Calibri" pitchFamily="34" charset="-120"/>
              </a:rPr>
              <a:t>Estimated attitude, rendered at 100 Hz (USART2).</a:t>
            </a:r>
            <a:endParaRPr lang="en-US" sz="1250" dirty="0"/>
          </a:p>
        </p:txBody>
      </p:sp>
      <p:sp>
        <p:nvSpPr>
          <p:cNvPr id="8" name="Text 4"/>
          <p:cNvSpPr/>
          <p:nvPr/>
        </p:nvSpPr>
        <p:spPr>
          <a:xfrm>
            <a:off x="6903720" y="5623560"/>
            <a:ext cx="4617720" cy="822960"/>
          </a:xfrm>
          <a:prstGeom prst="rect">
            <a:avLst/>
          </a:prstGeom>
          <a:noFill/>
          <a:ln/>
        </p:spPr>
        <p:txBody>
          <a:bodyPr wrap="square" rtlCol="0" anchor="ctr"/>
          <a:lstStyle/>
          <a:p>
            <a:pPr marL="0" indent="0">
              <a:lnSpc>
                <a:spcPts val="1700"/>
              </a:lnSpc>
              <a:buNone/>
            </a:pPr>
            <a:r>
              <a:rPr lang="en-US" sz="1250" b="1" dirty="0">
                <a:solidFill>
                  <a:srgbClr val="FFFFFF"/>
                </a:solidFill>
                <a:latin typeface="Calibri" pitchFamily="34" charset="0"/>
                <a:ea typeface="Calibri" pitchFamily="34" charset="-122"/>
                <a:cs typeface="Calibri" pitchFamily="34" charset="-120"/>
              </a:rPr>
              <a:t>A custom Python tool renders the estimate live</a:t>
            </a:r>
            <a:r>
              <a:rPr lang="en-US" sz="1250" dirty="0">
                <a:solidFill>
                  <a:srgbClr val="7FA98C"/>
                </a:solidFill>
                <a:latin typeface="Calibri" pitchFamily="34" charset="0"/>
                <a:ea typeface="Calibri" pitchFamily="34" charset="-122"/>
                <a:cs typeface="Calibri" pitchFamily="34" charset="-120"/>
              </a:rPr>
              <a:t> — my main diagnostic for verifying axis alignment, filter stability and data integrity.</a:t>
            </a:r>
            <a:endParaRPr lang="en-US" sz="1250" dirty="0"/>
          </a:p>
        </p:txBody>
      </p:sp>
      <p:sp>
        <p:nvSpPr>
          <p:cNvPr id="9" name="Text 5"/>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7C9A8C"/>
                </a:solidFill>
                <a:latin typeface="Calibri" pitchFamily="34" charset="0"/>
                <a:ea typeface="Calibri" pitchFamily="34" charset="-122"/>
                <a:cs typeface="Calibri" pitchFamily="34" charset="-120"/>
              </a:rPr>
              <a:t>Sántha Zsolt  ·  Quadcopter flight-control system</a:t>
            </a:r>
            <a:endParaRPr lang="en-US" sz="900" dirty="0"/>
          </a:p>
        </p:txBody>
      </p:sp>
      <p:sp>
        <p:nvSpPr>
          <p:cNvPr id="10" name="Text 6"/>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7C9A8C"/>
                </a:solidFill>
                <a:latin typeface="Calibri" pitchFamily="34" charset="0"/>
                <a:ea typeface="Calibri" pitchFamily="34" charset="-122"/>
                <a:cs typeface="Calibri" pitchFamily="34" charset="-120"/>
              </a:rPr>
              <a:t>11</a:t>
            </a:r>
            <a:endParaRPr lang="en-US" sz="900" dirty="0"/>
          </a:p>
        </p:txBody>
      </p:sp>
    </p:spTree>
    <p:extLst>
      <p:ext uri="{BB962C8B-B14F-4D97-AF65-F5344CB8AC3E}">
        <p14:creationId xmlns:p14="http://schemas.microsoft.com/office/powerpoint/2010/main" val="286349339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mbria" panose="02040503050406030204" pitchFamily="18" charset="0"/>
                <a:ea typeface="Cambria" panose="02040503050406030204" pitchFamily="18" charset="0"/>
                <a:cs typeface="Calibri" pitchFamily="34" charset="-120"/>
              </a:rPr>
              <a:t>HONEST ASSESSMENT</a:t>
            </a:r>
            <a:endParaRPr lang="en-US" sz="1300" dirty="0">
              <a:latin typeface="Cambria" panose="02040503050406030204" pitchFamily="18" charset="0"/>
              <a:ea typeface="Cambria" panose="02040503050406030204" pitchFamily="18" charset="0"/>
            </a:endParaRPr>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anose="02040503050406030204" pitchFamily="18" charset="0"/>
                <a:ea typeface="Cambria" panose="02040503050406030204" pitchFamily="18" charset="0"/>
                <a:cs typeface="Cambria" pitchFamily="34" charset="-120"/>
              </a:rPr>
              <a:t>What I found — and current limits</a:t>
            </a:r>
            <a:endParaRPr lang="en-US" sz="3400" dirty="0">
              <a:latin typeface="Cambria" panose="02040503050406030204" pitchFamily="18" charset="0"/>
              <a:ea typeface="Cambria" panose="02040503050406030204" pitchFamily="18" charset="0"/>
            </a:endParaRPr>
          </a:p>
        </p:txBody>
      </p:sp>
      <p:pic>
        <p:nvPicPr>
          <p:cNvPr id="4" name="Image 0" descr="assets/sensor_plot.png"/>
          <p:cNvPicPr>
            <a:picLocks noChangeAspect="1"/>
          </p:cNvPicPr>
          <p:nvPr/>
        </p:nvPicPr>
        <p:blipFill>
          <a:blip r:embed="rId3"/>
          <a:stretch>
            <a:fillRect/>
          </a:stretch>
        </p:blipFill>
        <p:spPr>
          <a:xfrm>
            <a:off x="566928" y="1810512"/>
            <a:ext cx="4526280" cy="3913632"/>
          </a:xfrm>
          <a:prstGeom prst="rect">
            <a:avLst/>
          </a:prstGeom>
          <a:effectLst>
            <a:outerShdw blurRad="76200" dist="25400" dir="5400000" algn="bl" rotWithShape="0">
              <a:srgbClr val="9AA79E">
                <a:alpha val="30000"/>
              </a:srgbClr>
            </a:outerShdw>
          </a:effectLst>
        </p:spPr>
      </p:pic>
      <p:sp>
        <p:nvSpPr>
          <p:cNvPr id="5" name="Shape 2"/>
          <p:cNvSpPr/>
          <p:nvPr/>
        </p:nvSpPr>
        <p:spPr>
          <a:xfrm>
            <a:off x="566928" y="1810512"/>
            <a:ext cx="4526280" cy="3913632"/>
          </a:xfrm>
          <a:prstGeom prst="roundRect">
            <a:avLst>
              <a:gd name="adj" fmla="val 467"/>
            </a:avLst>
          </a:prstGeom>
          <a:solidFill>
            <a:srgbClr val="FFFFFF">
              <a:alpha val="0"/>
            </a:srgbClr>
          </a:solidFill>
          <a:ln w="12700">
            <a:solidFill>
              <a:srgbClr val="D6DED8"/>
            </a:solidFill>
            <a:prstDash val="solid"/>
          </a:ln>
        </p:spPr>
      </p:sp>
      <p:sp>
        <p:nvSpPr>
          <p:cNvPr id="6" name="Text 3"/>
          <p:cNvSpPr/>
          <p:nvPr/>
        </p:nvSpPr>
        <p:spPr>
          <a:xfrm>
            <a:off x="566928" y="5769864"/>
            <a:ext cx="4526280" cy="274320"/>
          </a:xfrm>
          <a:prstGeom prst="rect">
            <a:avLst/>
          </a:prstGeom>
          <a:noFill/>
          <a:ln/>
        </p:spPr>
        <p:txBody>
          <a:bodyPr wrap="square" rtlCol="0" anchor="ctr"/>
          <a:lstStyle/>
          <a:p>
            <a:pPr marL="0" indent="0" algn="ctr">
              <a:buNone/>
            </a:pPr>
            <a:r>
              <a:rPr lang="en-US" sz="1100" i="1" dirty="0">
                <a:solidFill>
                  <a:srgbClr val="6E8079"/>
                </a:solidFill>
                <a:latin typeface="Cambria" panose="02040503050406030204" pitchFamily="18" charset="0"/>
                <a:ea typeface="Cambria" panose="02040503050406030204" pitchFamily="18" charset="0"/>
                <a:cs typeface="Calibri" pitchFamily="34" charset="-120"/>
              </a:rPr>
              <a:t>Static test — raw, uncalibrated register values.</a:t>
            </a:r>
            <a:endParaRPr lang="en-US" sz="1100" dirty="0">
              <a:latin typeface="Cambria" panose="02040503050406030204" pitchFamily="18" charset="0"/>
              <a:ea typeface="Cambria" panose="02040503050406030204" pitchFamily="18" charset="0"/>
            </a:endParaRPr>
          </a:p>
        </p:txBody>
      </p:sp>
      <p:sp>
        <p:nvSpPr>
          <p:cNvPr id="7" name="Text 4"/>
          <p:cNvSpPr/>
          <p:nvPr/>
        </p:nvSpPr>
        <p:spPr>
          <a:xfrm>
            <a:off x="5440680" y="1810512"/>
            <a:ext cx="6184087" cy="365760"/>
          </a:xfrm>
          <a:prstGeom prst="rect">
            <a:avLst/>
          </a:prstGeom>
          <a:noFill/>
          <a:ln/>
        </p:spPr>
        <p:txBody>
          <a:bodyPr wrap="square" rtlCol="0" anchor="ctr"/>
          <a:lstStyle/>
          <a:p>
            <a:pPr marL="0" indent="0">
              <a:buNone/>
            </a:pPr>
            <a:r>
              <a:rPr lang="en-US" sz="1800" b="1" dirty="0">
                <a:solidFill>
                  <a:srgbClr val="2E6B4F"/>
                </a:solidFill>
                <a:latin typeface="Cambria" panose="02040503050406030204" pitchFamily="18" charset="0"/>
                <a:ea typeface="Cambria" panose="02040503050406030204" pitchFamily="18" charset="0"/>
                <a:cs typeface="Cambria" pitchFamily="34" charset="-120"/>
              </a:rPr>
              <a:t>What the static test shows</a:t>
            </a:r>
            <a:endParaRPr lang="en-US" sz="1800" dirty="0">
              <a:latin typeface="Cambria" panose="02040503050406030204" pitchFamily="18" charset="0"/>
              <a:ea typeface="Cambria" panose="02040503050406030204" pitchFamily="18" charset="0"/>
            </a:endParaRPr>
          </a:p>
        </p:txBody>
      </p:sp>
      <p:sp>
        <p:nvSpPr>
          <p:cNvPr id="8" name="Text 5"/>
          <p:cNvSpPr/>
          <p:nvPr/>
        </p:nvSpPr>
        <p:spPr>
          <a:xfrm>
            <a:off x="5440680" y="2240280"/>
            <a:ext cx="6184087" cy="411480"/>
          </a:xfrm>
          <a:prstGeom prst="rect">
            <a:avLst/>
          </a:prstGeom>
          <a:noFill/>
          <a:ln/>
        </p:spPr>
        <p:txBody>
          <a:bodyPr wrap="square" rtlCol="0" anchor="ctr"/>
          <a:lstStyle/>
          <a:p>
            <a:pPr marL="152400" indent="-152400">
              <a:buSzPct val="100000"/>
              <a:buChar char="•"/>
            </a:pPr>
            <a:r>
              <a:rPr lang="en-US" sz="1350" b="1" dirty="0">
                <a:solidFill>
                  <a:srgbClr val="17251E"/>
                </a:solidFill>
                <a:latin typeface="Cambria" panose="02040503050406030204" pitchFamily="18" charset="0"/>
                <a:ea typeface="Cambria" panose="02040503050406030204" pitchFamily="18" charset="0"/>
                <a:cs typeface="Calibri" pitchFamily="34" charset="-120"/>
              </a:rPr>
              <a:t>Accelerometer — </a:t>
            </a:r>
            <a:r>
              <a:rPr lang="en-US" sz="1350" dirty="0">
                <a:solidFill>
                  <a:srgbClr val="6E8079"/>
                </a:solidFill>
                <a:latin typeface="Cambria" panose="02040503050406030204" pitchFamily="18" charset="0"/>
                <a:ea typeface="Cambria" panose="02040503050406030204" pitchFamily="18" charset="0"/>
                <a:cs typeface="Calibri" pitchFamily="34" charset="-120"/>
              </a:rPr>
              <a:t>a small offset/bias on the resting axes</a:t>
            </a:r>
            <a:endParaRPr lang="en-US" sz="1350" dirty="0">
              <a:latin typeface="Cambria" panose="02040503050406030204" pitchFamily="18" charset="0"/>
              <a:ea typeface="Cambria" panose="02040503050406030204" pitchFamily="18" charset="0"/>
            </a:endParaRPr>
          </a:p>
        </p:txBody>
      </p:sp>
      <p:sp>
        <p:nvSpPr>
          <p:cNvPr id="9" name="Text 6"/>
          <p:cNvSpPr/>
          <p:nvPr/>
        </p:nvSpPr>
        <p:spPr>
          <a:xfrm>
            <a:off x="5440680" y="2697480"/>
            <a:ext cx="6184087" cy="411480"/>
          </a:xfrm>
          <a:prstGeom prst="rect">
            <a:avLst/>
          </a:prstGeom>
          <a:noFill/>
          <a:ln/>
        </p:spPr>
        <p:txBody>
          <a:bodyPr wrap="square" rtlCol="0" anchor="ctr"/>
          <a:lstStyle/>
          <a:p>
            <a:pPr marL="152400" indent="-152400">
              <a:buSzPct val="100000"/>
              <a:buChar char="•"/>
            </a:pPr>
            <a:r>
              <a:rPr lang="en-US" sz="1350" b="1" dirty="0">
                <a:solidFill>
                  <a:srgbClr val="17251E"/>
                </a:solidFill>
                <a:latin typeface="Cambria" panose="02040503050406030204" pitchFamily="18" charset="0"/>
                <a:ea typeface="Cambria" panose="02040503050406030204" pitchFamily="18" charset="0"/>
                <a:cs typeface="Calibri" pitchFamily="34" charset="-120"/>
              </a:rPr>
              <a:t>Gyroscope — </a:t>
            </a:r>
            <a:r>
              <a:rPr lang="en-US" sz="1350" dirty="0">
                <a:solidFill>
                  <a:srgbClr val="6E8079"/>
                </a:solidFill>
                <a:latin typeface="Cambria" panose="02040503050406030204" pitchFamily="18" charset="0"/>
                <a:ea typeface="Cambria" panose="02040503050406030204" pitchFamily="18" charset="0"/>
                <a:cs typeface="Calibri" pitchFamily="34" charset="-120"/>
              </a:rPr>
              <a:t>sits near zero — as expected at rest</a:t>
            </a:r>
            <a:endParaRPr lang="en-US" sz="1350" dirty="0">
              <a:latin typeface="Cambria" panose="02040503050406030204" pitchFamily="18" charset="0"/>
              <a:ea typeface="Cambria" panose="02040503050406030204" pitchFamily="18" charset="0"/>
            </a:endParaRPr>
          </a:p>
        </p:txBody>
      </p:sp>
      <p:sp>
        <p:nvSpPr>
          <p:cNvPr id="10" name="Text 7"/>
          <p:cNvSpPr/>
          <p:nvPr/>
        </p:nvSpPr>
        <p:spPr>
          <a:xfrm>
            <a:off x="5440680" y="3154680"/>
            <a:ext cx="6184087" cy="411480"/>
          </a:xfrm>
          <a:prstGeom prst="rect">
            <a:avLst/>
          </a:prstGeom>
          <a:noFill/>
          <a:ln/>
        </p:spPr>
        <p:txBody>
          <a:bodyPr wrap="square" rtlCol="0" anchor="ctr"/>
          <a:lstStyle/>
          <a:p>
            <a:pPr marL="152400" indent="-152400">
              <a:buSzPct val="100000"/>
              <a:buChar char="•"/>
            </a:pPr>
            <a:r>
              <a:rPr lang="en-US" sz="1350" b="1" dirty="0">
                <a:solidFill>
                  <a:srgbClr val="17251E"/>
                </a:solidFill>
                <a:latin typeface="Cambria" panose="02040503050406030204" pitchFamily="18" charset="0"/>
                <a:ea typeface="Cambria" panose="02040503050406030204" pitchFamily="18" charset="0"/>
                <a:cs typeface="Calibri" pitchFamily="34" charset="-120"/>
              </a:rPr>
              <a:t>Magnetometer — </a:t>
            </a:r>
            <a:r>
              <a:rPr lang="en-US" sz="1350" dirty="0">
                <a:solidFill>
                  <a:srgbClr val="6E8079"/>
                </a:solidFill>
                <a:latin typeface="Cambria" panose="02040503050406030204" pitchFamily="18" charset="0"/>
                <a:ea typeface="Cambria" panose="02040503050406030204" pitchFamily="18" charset="0"/>
                <a:cs typeface="Calibri" pitchFamily="34" charset="-120"/>
              </a:rPr>
              <a:t>a large hard-iron offset → needs calibration</a:t>
            </a:r>
            <a:endParaRPr lang="en-US" sz="1350" dirty="0">
              <a:latin typeface="Cambria" panose="02040503050406030204" pitchFamily="18" charset="0"/>
              <a:ea typeface="Cambria" panose="02040503050406030204" pitchFamily="18" charset="0"/>
            </a:endParaRPr>
          </a:p>
        </p:txBody>
      </p:sp>
      <p:sp>
        <p:nvSpPr>
          <p:cNvPr id="11" name="Text 8"/>
          <p:cNvSpPr/>
          <p:nvPr/>
        </p:nvSpPr>
        <p:spPr>
          <a:xfrm>
            <a:off x="5440680" y="3794760"/>
            <a:ext cx="6184087" cy="365760"/>
          </a:xfrm>
          <a:prstGeom prst="rect">
            <a:avLst/>
          </a:prstGeom>
          <a:noFill/>
          <a:ln/>
        </p:spPr>
        <p:txBody>
          <a:bodyPr wrap="square" rtlCol="0" anchor="ctr"/>
          <a:lstStyle/>
          <a:p>
            <a:pPr marL="0" indent="0">
              <a:buNone/>
            </a:pPr>
            <a:r>
              <a:rPr lang="en-US" sz="1800" b="1" dirty="0">
                <a:solidFill>
                  <a:srgbClr val="E8B23A"/>
                </a:solidFill>
                <a:latin typeface="Cambria" panose="02040503050406030204" pitchFamily="18" charset="0"/>
                <a:ea typeface="Cambria" panose="02040503050406030204" pitchFamily="18" charset="0"/>
                <a:cs typeface="Cambria" pitchFamily="34" charset="-120"/>
              </a:rPr>
              <a:t>Current limitations</a:t>
            </a:r>
            <a:endParaRPr lang="en-US" sz="1800" dirty="0">
              <a:latin typeface="Cambria" panose="02040503050406030204" pitchFamily="18" charset="0"/>
              <a:ea typeface="Cambria" panose="02040503050406030204" pitchFamily="18" charset="0"/>
            </a:endParaRPr>
          </a:p>
        </p:txBody>
      </p:sp>
      <p:sp>
        <p:nvSpPr>
          <p:cNvPr id="12" name="Text 9"/>
          <p:cNvSpPr/>
          <p:nvPr/>
        </p:nvSpPr>
        <p:spPr>
          <a:xfrm>
            <a:off x="5440680" y="4206240"/>
            <a:ext cx="6184087" cy="365760"/>
          </a:xfrm>
          <a:prstGeom prst="rect">
            <a:avLst/>
          </a:prstGeom>
          <a:noFill/>
          <a:ln/>
        </p:spPr>
        <p:txBody>
          <a:bodyPr wrap="square" rtlCol="0" anchor="ctr"/>
          <a:lstStyle/>
          <a:p>
            <a:pPr marL="152400" indent="-152400">
              <a:buSzPct val="100000"/>
              <a:buChar char="–"/>
            </a:pPr>
            <a:r>
              <a:rPr lang="en-US" sz="1300" dirty="0">
                <a:solidFill>
                  <a:srgbClr val="17251E"/>
                </a:solidFill>
                <a:latin typeface="Cambria" panose="02040503050406030204" pitchFamily="18" charset="0"/>
                <a:ea typeface="Cambria" panose="02040503050406030204" pitchFamily="18" charset="0"/>
                <a:cs typeface="Calibri" pitchFamily="34" charset="-120"/>
              </a:rPr>
              <a:t>No altitude hold — throttle is manual (no barometer)</a:t>
            </a:r>
            <a:endParaRPr lang="en-US" sz="1300" dirty="0">
              <a:latin typeface="Cambria" panose="02040503050406030204" pitchFamily="18" charset="0"/>
              <a:ea typeface="Cambria" panose="02040503050406030204" pitchFamily="18" charset="0"/>
            </a:endParaRPr>
          </a:p>
        </p:txBody>
      </p:sp>
      <p:sp>
        <p:nvSpPr>
          <p:cNvPr id="13" name="Text 10"/>
          <p:cNvSpPr/>
          <p:nvPr/>
        </p:nvSpPr>
        <p:spPr>
          <a:xfrm>
            <a:off x="5440680" y="4590288"/>
            <a:ext cx="6184087" cy="365760"/>
          </a:xfrm>
          <a:prstGeom prst="rect">
            <a:avLst/>
          </a:prstGeom>
          <a:noFill/>
          <a:ln/>
        </p:spPr>
        <p:txBody>
          <a:bodyPr wrap="square" rtlCol="0" anchor="ctr"/>
          <a:lstStyle/>
          <a:p>
            <a:pPr marL="152400" indent="-152400">
              <a:buSzPct val="100000"/>
              <a:buChar char="–"/>
            </a:pPr>
            <a:r>
              <a:rPr lang="en-US" sz="1300" dirty="0">
                <a:solidFill>
                  <a:srgbClr val="17251E"/>
                </a:solidFill>
                <a:latin typeface="Cambria" panose="02040503050406030204" pitchFamily="18" charset="0"/>
                <a:ea typeface="Cambria" panose="02040503050406030204" pitchFamily="18" charset="0"/>
                <a:cs typeface="Calibri" pitchFamily="34" charset="-120"/>
              </a:rPr>
              <a:t>No GPS — no autonomous navigation or position hold</a:t>
            </a:r>
            <a:endParaRPr lang="en-US" sz="1300" dirty="0">
              <a:latin typeface="Cambria" panose="02040503050406030204" pitchFamily="18" charset="0"/>
              <a:ea typeface="Cambria" panose="02040503050406030204" pitchFamily="18" charset="0"/>
            </a:endParaRPr>
          </a:p>
        </p:txBody>
      </p:sp>
      <p:sp>
        <p:nvSpPr>
          <p:cNvPr id="14" name="Text 11"/>
          <p:cNvSpPr/>
          <p:nvPr/>
        </p:nvSpPr>
        <p:spPr>
          <a:xfrm>
            <a:off x="5440680" y="4974336"/>
            <a:ext cx="6184087" cy="365760"/>
          </a:xfrm>
          <a:prstGeom prst="rect">
            <a:avLst/>
          </a:prstGeom>
          <a:noFill/>
          <a:ln/>
        </p:spPr>
        <p:txBody>
          <a:bodyPr wrap="square" rtlCol="0" anchor="ctr"/>
          <a:lstStyle/>
          <a:p>
            <a:pPr marL="152400" indent="-152400">
              <a:buSzPct val="100000"/>
              <a:buChar char="–"/>
            </a:pPr>
            <a:r>
              <a:rPr lang="en-US" sz="1300" dirty="0">
                <a:solidFill>
                  <a:srgbClr val="17251E"/>
                </a:solidFill>
                <a:latin typeface="Cambria" panose="02040503050406030204" pitchFamily="18" charset="0"/>
                <a:ea typeface="Cambria" panose="02040503050406030204" pitchFamily="18" charset="0"/>
                <a:cs typeface="Calibri" pitchFamily="34" charset="-120"/>
              </a:rPr>
              <a:t>Filter sensitive to sustained linear acceleration</a:t>
            </a:r>
            <a:endParaRPr lang="en-US" sz="1300" dirty="0">
              <a:latin typeface="Cambria" panose="02040503050406030204" pitchFamily="18" charset="0"/>
              <a:ea typeface="Cambria" panose="02040503050406030204" pitchFamily="18" charset="0"/>
            </a:endParaRPr>
          </a:p>
        </p:txBody>
      </p:sp>
      <p:sp>
        <p:nvSpPr>
          <p:cNvPr id="15" name="Text 12"/>
          <p:cNvSpPr/>
          <p:nvPr/>
        </p:nvSpPr>
        <p:spPr>
          <a:xfrm>
            <a:off x="5440680" y="5358384"/>
            <a:ext cx="6184087" cy="365760"/>
          </a:xfrm>
          <a:prstGeom prst="rect">
            <a:avLst/>
          </a:prstGeom>
          <a:noFill/>
          <a:ln/>
        </p:spPr>
        <p:txBody>
          <a:bodyPr wrap="square" rtlCol="0" anchor="ctr"/>
          <a:lstStyle/>
          <a:p>
            <a:pPr marL="152400" indent="-152400">
              <a:buSzPct val="100000"/>
              <a:buChar char="–"/>
            </a:pPr>
            <a:r>
              <a:rPr lang="en-US" sz="1300" dirty="0">
                <a:solidFill>
                  <a:srgbClr val="17251E"/>
                </a:solidFill>
                <a:latin typeface="Cambria" panose="02040503050406030204" pitchFamily="18" charset="0"/>
                <a:ea typeface="Cambria" panose="02040503050406030204" pitchFamily="18" charset="0"/>
                <a:cs typeface="Calibri" pitchFamily="34" charset="-120"/>
              </a:rPr>
              <a:t>Flight endurance bounded by battery capacity</a:t>
            </a:r>
            <a:endParaRPr lang="en-US" sz="1300" dirty="0">
              <a:latin typeface="Cambria" panose="02040503050406030204" pitchFamily="18" charset="0"/>
              <a:ea typeface="Cambria" panose="02040503050406030204" pitchFamily="18" charset="0"/>
            </a:endParaRPr>
          </a:p>
        </p:txBody>
      </p:sp>
      <p:sp>
        <p:nvSpPr>
          <p:cNvPr id="16" name="Text 13"/>
          <p:cNvSpPr/>
          <p:nvPr/>
        </p:nvSpPr>
        <p:spPr>
          <a:xfrm>
            <a:off x="5440680" y="5742432"/>
            <a:ext cx="6184087" cy="365760"/>
          </a:xfrm>
          <a:prstGeom prst="rect">
            <a:avLst/>
          </a:prstGeom>
          <a:noFill/>
          <a:ln/>
        </p:spPr>
        <p:txBody>
          <a:bodyPr wrap="square" rtlCol="0" anchor="ctr"/>
          <a:lstStyle/>
          <a:p>
            <a:pPr marL="152400" indent="-152400">
              <a:buSzPct val="100000"/>
              <a:buChar char="–"/>
            </a:pPr>
            <a:r>
              <a:rPr lang="en-US" sz="1300" dirty="0">
                <a:solidFill>
                  <a:srgbClr val="17251E"/>
                </a:solidFill>
                <a:latin typeface="Cambria" panose="02040503050406030204" pitchFamily="18" charset="0"/>
                <a:ea typeface="Cambria" panose="02040503050406030204" pitchFamily="18" charset="0"/>
                <a:cs typeface="Calibri" pitchFamily="34" charset="-120"/>
              </a:rPr>
              <a:t>No obstacle avoidance yet</a:t>
            </a:r>
            <a:endParaRPr lang="en-US" sz="1300" dirty="0">
              <a:latin typeface="Cambria" panose="02040503050406030204" pitchFamily="18" charset="0"/>
              <a:ea typeface="Cambria" panose="02040503050406030204" pitchFamily="18" charset="0"/>
            </a:endParaRPr>
          </a:p>
        </p:txBody>
      </p:sp>
      <p:sp>
        <p:nvSpPr>
          <p:cNvPr id="17" name="Text 14"/>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Sántha Zsolt  ·  Quadcopter flight-control system</a:t>
            </a:r>
            <a:endParaRPr lang="en-US" sz="900" dirty="0">
              <a:latin typeface="Cambria" panose="02040503050406030204" pitchFamily="18" charset="0"/>
              <a:ea typeface="Cambria" panose="02040503050406030204" pitchFamily="18" charset="0"/>
            </a:endParaRPr>
          </a:p>
        </p:txBody>
      </p:sp>
      <p:sp>
        <p:nvSpPr>
          <p:cNvPr id="18" name="Text 15"/>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12</a:t>
            </a:r>
            <a:endParaRPr lang="en-US" sz="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789371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mbria" panose="02040503050406030204" pitchFamily="18" charset="0"/>
                <a:ea typeface="Cambria" panose="02040503050406030204" pitchFamily="18" charset="0"/>
                <a:cs typeface="Calibri" pitchFamily="34" charset="-120"/>
              </a:rPr>
              <a:t>FROM BREADBOARD TO FLIGHT-READY</a:t>
            </a:r>
            <a:endParaRPr lang="en-US" sz="1300" dirty="0">
              <a:latin typeface="Cambria" panose="02040503050406030204" pitchFamily="18" charset="0"/>
              <a:ea typeface="Cambria" panose="02040503050406030204" pitchFamily="18" charset="0"/>
            </a:endParaRPr>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anose="02040503050406030204" pitchFamily="18" charset="0"/>
                <a:ea typeface="Cambria" panose="02040503050406030204" pitchFamily="18" charset="0"/>
                <a:cs typeface="Cambria" pitchFamily="34" charset="-120"/>
              </a:rPr>
              <a:t>A consolidated, soldered avionics board</a:t>
            </a:r>
            <a:endParaRPr lang="en-US" sz="3400" dirty="0">
              <a:latin typeface="Cambria" panose="02040503050406030204" pitchFamily="18" charset="0"/>
              <a:ea typeface="Cambria" panose="02040503050406030204" pitchFamily="18" charset="0"/>
            </a:endParaRPr>
          </a:p>
        </p:txBody>
      </p:sp>
      <p:sp>
        <p:nvSpPr>
          <p:cNvPr id="4" name="Shape 2"/>
          <p:cNvSpPr/>
          <p:nvPr/>
        </p:nvSpPr>
        <p:spPr>
          <a:xfrm>
            <a:off x="934275" y="1699590"/>
            <a:ext cx="4442795" cy="3747053"/>
          </a:xfrm>
          <a:prstGeom prst="roundRect">
            <a:avLst>
              <a:gd name="adj" fmla="val 1481"/>
            </a:avLst>
          </a:prstGeom>
          <a:solidFill>
            <a:srgbClr val="ECF1ED"/>
          </a:solidFill>
          <a:ln w="15875">
            <a:solidFill>
              <a:srgbClr val="7FA98C"/>
            </a:solidFill>
            <a:prstDash val="dash"/>
          </a:ln>
        </p:spPr>
      </p:sp>
      <p:sp>
        <p:nvSpPr>
          <p:cNvPr id="5" name="Shape 3"/>
          <p:cNvSpPr/>
          <p:nvPr/>
        </p:nvSpPr>
        <p:spPr>
          <a:xfrm>
            <a:off x="2871216" y="3268980"/>
            <a:ext cx="512064" cy="512064"/>
          </a:xfrm>
          <a:prstGeom prst="ellipse">
            <a:avLst/>
          </a:prstGeom>
          <a:solidFill>
            <a:srgbClr val="DDE7E0"/>
          </a:solidFill>
          <a:ln/>
        </p:spPr>
      </p:sp>
      <p:sp>
        <p:nvSpPr>
          <p:cNvPr id="6" name="Text 4"/>
          <p:cNvSpPr/>
          <p:nvPr/>
        </p:nvSpPr>
        <p:spPr>
          <a:xfrm>
            <a:off x="2871216" y="3223260"/>
            <a:ext cx="512064" cy="548640"/>
          </a:xfrm>
          <a:prstGeom prst="rect">
            <a:avLst/>
          </a:prstGeom>
          <a:noFill/>
          <a:ln/>
        </p:spPr>
        <p:txBody>
          <a:bodyPr wrap="square" rtlCol="0" anchor="ctr"/>
          <a:lstStyle/>
          <a:p>
            <a:pPr marL="0" indent="0" algn="ctr">
              <a:buNone/>
            </a:pPr>
            <a:r>
              <a:rPr lang="en-US" sz="3000" b="1" dirty="0">
                <a:solidFill>
                  <a:srgbClr val="2E6B4F"/>
                </a:solidFill>
                <a:latin typeface="Cambria" panose="02040503050406030204" pitchFamily="18" charset="0"/>
                <a:ea typeface="Cambria" panose="02040503050406030204" pitchFamily="18" charset="0"/>
                <a:cs typeface="Calibri" pitchFamily="34" charset="-120"/>
              </a:rPr>
              <a:t>+</a:t>
            </a:r>
            <a:endParaRPr lang="en-US" sz="3000" dirty="0">
              <a:latin typeface="Cambria" panose="02040503050406030204" pitchFamily="18" charset="0"/>
              <a:ea typeface="Cambria" panose="02040503050406030204" pitchFamily="18" charset="0"/>
            </a:endParaRPr>
          </a:p>
        </p:txBody>
      </p:sp>
      <p:sp>
        <p:nvSpPr>
          <p:cNvPr id="7" name="Text 5"/>
          <p:cNvSpPr/>
          <p:nvPr/>
        </p:nvSpPr>
        <p:spPr>
          <a:xfrm>
            <a:off x="749808" y="3881628"/>
            <a:ext cx="4754880" cy="640080"/>
          </a:xfrm>
          <a:prstGeom prst="rect">
            <a:avLst/>
          </a:prstGeom>
          <a:noFill/>
          <a:ln/>
        </p:spPr>
        <p:txBody>
          <a:bodyPr wrap="square" rtlCol="0" anchor="t"/>
          <a:lstStyle/>
          <a:p>
            <a:pPr marL="0" indent="0" algn="ctr">
              <a:buNone/>
            </a:pPr>
            <a:r>
              <a:rPr lang="en-US" sz="1200" i="1" dirty="0">
                <a:solidFill>
                  <a:srgbClr val="6E8079"/>
                </a:solidFill>
                <a:latin typeface="Cambria" panose="02040503050406030204" pitchFamily="18" charset="0"/>
                <a:ea typeface="Cambria" panose="02040503050406030204" pitchFamily="18" charset="0"/>
                <a:cs typeface="Calibri" pitchFamily="34" charset="-120"/>
              </a:rPr>
              <a:t>Drop in: soldered flight-control board</a:t>
            </a:r>
            <a:endParaRPr lang="en-US" sz="1200" dirty="0">
              <a:latin typeface="Cambria" panose="02040503050406030204" pitchFamily="18" charset="0"/>
              <a:ea typeface="Cambria" panose="02040503050406030204" pitchFamily="18" charset="0"/>
            </a:endParaRPr>
          </a:p>
          <a:p>
            <a:pPr marL="0" indent="0" algn="ctr">
              <a:buNone/>
            </a:pPr>
            <a:r>
              <a:rPr lang="en-US" sz="1200" i="1" dirty="0">
                <a:solidFill>
                  <a:srgbClr val="6E8079"/>
                </a:solidFill>
                <a:latin typeface="Cambria" panose="02040503050406030204" pitchFamily="18" charset="0"/>
                <a:ea typeface="Cambria" panose="02040503050406030204" pitchFamily="18" charset="0"/>
                <a:cs typeface="Calibri" pitchFamily="34" charset="-120"/>
              </a:rPr>
              <a:t>(Black Pill + IMU on a single compact board)</a:t>
            </a:r>
            <a:endParaRPr lang="en-US" sz="1200" dirty="0">
              <a:latin typeface="Cambria" panose="02040503050406030204" pitchFamily="18" charset="0"/>
              <a:ea typeface="Cambria" panose="02040503050406030204" pitchFamily="18" charset="0"/>
            </a:endParaRPr>
          </a:p>
        </p:txBody>
      </p:sp>
      <p:sp>
        <p:nvSpPr>
          <p:cNvPr id="8" name="Shape 6"/>
          <p:cNvSpPr/>
          <p:nvPr/>
        </p:nvSpPr>
        <p:spPr>
          <a:xfrm>
            <a:off x="6144768" y="2057400"/>
            <a:ext cx="457200" cy="457200"/>
          </a:xfrm>
          <a:prstGeom prst="ellipse">
            <a:avLst/>
          </a:prstGeom>
          <a:solidFill>
            <a:srgbClr val="2E6B4F"/>
          </a:solidFill>
          <a:ln/>
        </p:spPr>
      </p:sp>
      <p:sp>
        <p:nvSpPr>
          <p:cNvPr id="9" name="Text 7"/>
          <p:cNvSpPr/>
          <p:nvPr/>
        </p:nvSpPr>
        <p:spPr>
          <a:xfrm>
            <a:off x="6144768" y="20574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mbria" pitchFamily="34" charset="-120"/>
              </a:rPr>
              <a:t>1</a:t>
            </a:r>
            <a:endParaRPr lang="en-US" sz="1600" dirty="0">
              <a:latin typeface="Cambria" panose="02040503050406030204" pitchFamily="18" charset="0"/>
              <a:ea typeface="Cambria" panose="02040503050406030204" pitchFamily="18" charset="0"/>
            </a:endParaRPr>
          </a:p>
        </p:txBody>
      </p:sp>
      <p:sp>
        <p:nvSpPr>
          <p:cNvPr id="10" name="Text 8"/>
          <p:cNvSpPr/>
          <p:nvPr/>
        </p:nvSpPr>
        <p:spPr>
          <a:xfrm>
            <a:off x="6784848" y="2011680"/>
            <a:ext cx="4754880" cy="365760"/>
          </a:xfrm>
          <a:prstGeom prst="rect">
            <a:avLst/>
          </a:prstGeom>
          <a:noFill/>
          <a:ln/>
        </p:spPr>
        <p:txBody>
          <a:bodyPr wrap="square" rtlCol="0" anchor="ctr"/>
          <a:lstStyle/>
          <a:p>
            <a:pPr marL="0" indent="0">
              <a:buNone/>
            </a:pPr>
            <a:r>
              <a:rPr lang="en-US" sz="1500" b="1" dirty="0">
                <a:solidFill>
                  <a:srgbClr val="17251E"/>
                </a:solidFill>
                <a:latin typeface="Cambria" panose="02040503050406030204" pitchFamily="18" charset="0"/>
                <a:ea typeface="Cambria" panose="02040503050406030204" pitchFamily="18" charset="0"/>
                <a:cs typeface="Calibri" pitchFamily="34" charset="-120"/>
              </a:rPr>
              <a:t>Mechanically robust</a:t>
            </a:r>
            <a:endParaRPr lang="en-US" sz="1500" dirty="0">
              <a:latin typeface="Cambria" panose="02040503050406030204" pitchFamily="18" charset="0"/>
              <a:ea typeface="Cambria" panose="02040503050406030204" pitchFamily="18" charset="0"/>
            </a:endParaRPr>
          </a:p>
        </p:txBody>
      </p:sp>
      <p:sp>
        <p:nvSpPr>
          <p:cNvPr id="11" name="Text 9"/>
          <p:cNvSpPr/>
          <p:nvPr/>
        </p:nvSpPr>
        <p:spPr>
          <a:xfrm>
            <a:off x="6784848" y="2359152"/>
            <a:ext cx="4937760" cy="457200"/>
          </a:xfrm>
          <a:prstGeom prst="rect">
            <a:avLst/>
          </a:prstGeom>
          <a:noFill/>
          <a:ln/>
        </p:spPr>
        <p:txBody>
          <a:bodyPr wrap="square" rtlCol="0" anchor="ctr"/>
          <a:lstStyle/>
          <a:p>
            <a:pPr marL="0" indent="0">
              <a:lnSpc>
                <a:spcPts val="1500"/>
              </a:lnSpc>
              <a:buNone/>
            </a:pPr>
            <a:r>
              <a:rPr lang="en-US" sz="1250" dirty="0">
                <a:solidFill>
                  <a:srgbClr val="6E8079"/>
                </a:solidFill>
                <a:latin typeface="Cambria" panose="02040503050406030204" pitchFamily="18" charset="0"/>
                <a:ea typeface="Cambria" panose="02040503050406030204" pitchFamily="18" charset="0"/>
                <a:cs typeface="Calibri" pitchFamily="34" charset="-120"/>
              </a:rPr>
              <a:t>survives vibration far better than jumper wires</a:t>
            </a:r>
            <a:endParaRPr lang="en-US" sz="1250" dirty="0">
              <a:latin typeface="Cambria" panose="02040503050406030204" pitchFamily="18" charset="0"/>
              <a:ea typeface="Cambria" panose="02040503050406030204" pitchFamily="18" charset="0"/>
            </a:endParaRPr>
          </a:p>
        </p:txBody>
      </p:sp>
      <p:sp>
        <p:nvSpPr>
          <p:cNvPr id="12" name="Shape 10"/>
          <p:cNvSpPr/>
          <p:nvPr/>
        </p:nvSpPr>
        <p:spPr>
          <a:xfrm>
            <a:off x="6144768" y="2971800"/>
            <a:ext cx="457200" cy="457200"/>
          </a:xfrm>
          <a:prstGeom prst="ellipse">
            <a:avLst/>
          </a:prstGeom>
          <a:solidFill>
            <a:srgbClr val="2E6B4F"/>
          </a:solidFill>
          <a:ln/>
        </p:spPr>
      </p:sp>
      <p:sp>
        <p:nvSpPr>
          <p:cNvPr id="13" name="Text 11"/>
          <p:cNvSpPr/>
          <p:nvPr/>
        </p:nvSpPr>
        <p:spPr>
          <a:xfrm>
            <a:off x="6144768" y="29718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mbria" pitchFamily="34" charset="-120"/>
              </a:rPr>
              <a:t>2</a:t>
            </a:r>
            <a:endParaRPr lang="en-US" sz="1600" dirty="0">
              <a:latin typeface="Cambria" panose="02040503050406030204" pitchFamily="18" charset="0"/>
              <a:ea typeface="Cambria" panose="02040503050406030204" pitchFamily="18" charset="0"/>
            </a:endParaRPr>
          </a:p>
        </p:txBody>
      </p:sp>
      <p:sp>
        <p:nvSpPr>
          <p:cNvPr id="14" name="Text 12"/>
          <p:cNvSpPr/>
          <p:nvPr/>
        </p:nvSpPr>
        <p:spPr>
          <a:xfrm>
            <a:off x="6784848" y="2926080"/>
            <a:ext cx="4754880" cy="365760"/>
          </a:xfrm>
          <a:prstGeom prst="rect">
            <a:avLst/>
          </a:prstGeom>
          <a:noFill/>
          <a:ln/>
        </p:spPr>
        <p:txBody>
          <a:bodyPr wrap="square" rtlCol="0" anchor="ctr"/>
          <a:lstStyle/>
          <a:p>
            <a:pPr marL="0" indent="0">
              <a:buNone/>
            </a:pPr>
            <a:r>
              <a:rPr lang="en-US" sz="1500" b="1" dirty="0">
                <a:solidFill>
                  <a:srgbClr val="17251E"/>
                </a:solidFill>
                <a:latin typeface="Cambria" panose="02040503050406030204" pitchFamily="18" charset="0"/>
                <a:ea typeface="Cambria" panose="02040503050406030204" pitchFamily="18" charset="0"/>
                <a:cs typeface="Calibri" pitchFamily="34" charset="-120"/>
              </a:rPr>
              <a:t>Compact &amp; integrated</a:t>
            </a:r>
            <a:endParaRPr lang="en-US" sz="1500" dirty="0">
              <a:latin typeface="Cambria" panose="02040503050406030204" pitchFamily="18" charset="0"/>
              <a:ea typeface="Cambria" panose="02040503050406030204" pitchFamily="18" charset="0"/>
            </a:endParaRPr>
          </a:p>
        </p:txBody>
      </p:sp>
      <p:sp>
        <p:nvSpPr>
          <p:cNvPr id="15" name="Text 13"/>
          <p:cNvSpPr/>
          <p:nvPr/>
        </p:nvSpPr>
        <p:spPr>
          <a:xfrm>
            <a:off x="6784848" y="3273552"/>
            <a:ext cx="4937760" cy="457200"/>
          </a:xfrm>
          <a:prstGeom prst="rect">
            <a:avLst/>
          </a:prstGeom>
          <a:noFill/>
          <a:ln/>
        </p:spPr>
        <p:txBody>
          <a:bodyPr wrap="square" rtlCol="0" anchor="ctr"/>
          <a:lstStyle/>
          <a:p>
            <a:pPr marL="0" indent="0">
              <a:lnSpc>
                <a:spcPts val="1500"/>
              </a:lnSpc>
              <a:buNone/>
            </a:pPr>
            <a:r>
              <a:rPr lang="en-US" sz="1250" dirty="0">
                <a:solidFill>
                  <a:srgbClr val="6E8079"/>
                </a:solidFill>
                <a:latin typeface="Cambria" panose="02040503050406030204" pitchFamily="18" charset="0"/>
                <a:ea typeface="Cambria" panose="02040503050406030204" pitchFamily="18" charset="0"/>
                <a:cs typeface="Calibri" pitchFamily="34" charset="-120"/>
              </a:rPr>
              <a:t>all flight-critical electronics on one board</a:t>
            </a:r>
            <a:endParaRPr lang="en-US" sz="1250" dirty="0">
              <a:latin typeface="Cambria" panose="02040503050406030204" pitchFamily="18" charset="0"/>
              <a:ea typeface="Cambria" panose="02040503050406030204" pitchFamily="18" charset="0"/>
            </a:endParaRPr>
          </a:p>
        </p:txBody>
      </p:sp>
      <p:sp>
        <p:nvSpPr>
          <p:cNvPr id="16" name="Shape 14"/>
          <p:cNvSpPr/>
          <p:nvPr/>
        </p:nvSpPr>
        <p:spPr>
          <a:xfrm>
            <a:off x="6144768" y="3886200"/>
            <a:ext cx="457200" cy="457200"/>
          </a:xfrm>
          <a:prstGeom prst="ellipse">
            <a:avLst/>
          </a:prstGeom>
          <a:solidFill>
            <a:srgbClr val="2E6B4F"/>
          </a:solidFill>
          <a:ln/>
        </p:spPr>
      </p:sp>
      <p:sp>
        <p:nvSpPr>
          <p:cNvPr id="17" name="Text 15"/>
          <p:cNvSpPr/>
          <p:nvPr/>
        </p:nvSpPr>
        <p:spPr>
          <a:xfrm>
            <a:off x="6144768" y="38862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mbria" pitchFamily="34" charset="-120"/>
              </a:rPr>
              <a:t>3</a:t>
            </a:r>
            <a:endParaRPr lang="en-US" sz="1600" dirty="0">
              <a:latin typeface="Cambria" panose="02040503050406030204" pitchFamily="18" charset="0"/>
              <a:ea typeface="Cambria" panose="02040503050406030204" pitchFamily="18" charset="0"/>
            </a:endParaRPr>
          </a:p>
        </p:txBody>
      </p:sp>
      <p:sp>
        <p:nvSpPr>
          <p:cNvPr id="18" name="Text 16"/>
          <p:cNvSpPr/>
          <p:nvPr/>
        </p:nvSpPr>
        <p:spPr>
          <a:xfrm>
            <a:off x="6784848" y="3840480"/>
            <a:ext cx="4754880" cy="365760"/>
          </a:xfrm>
          <a:prstGeom prst="rect">
            <a:avLst/>
          </a:prstGeom>
          <a:noFill/>
          <a:ln/>
        </p:spPr>
        <p:txBody>
          <a:bodyPr wrap="square" rtlCol="0" anchor="ctr"/>
          <a:lstStyle/>
          <a:p>
            <a:pPr marL="0" indent="0">
              <a:buNone/>
            </a:pPr>
            <a:r>
              <a:rPr lang="en-US" sz="1500" b="1" dirty="0">
                <a:solidFill>
                  <a:srgbClr val="17251E"/>
                </a:solidFill>
                <a:latin typeface="Cambria" panose="02040503050406030204" pitchFamily="18" charset="0"/>
                <a:ea typeface="Cambria" panose="02040503050406030204" pitchFamily="18" charset="0"/>
                <a:cs typeface="Calibri" pitchFamily="34" charset="-120"/>
              </a:rPr>
              <a:t>Serviceable</a:t>
            </a:r>
            <a:endParaRPr lang="en-US" sz="1500" dirty="0">
              <a:latin typeface="Cambria" panose="02040503050406030204" pitchFamily="18" charset="0"/>
              <a:ea typeface="Cambria" panose="02040503050406030204" pitchFamily="18" charset="0"/>
            </a:endParaRPr>
          </a:p>
        </p:txBody>
      </p:sp>
      <p:sp>
        <p:nvSpPr>
          <p:cNvPr id="19" name="Text 17"/>
          <p:cNvSpPr/>
          <p:nvPr/>
        </p:nvSpPr>
        <p:spPr>
          <a:xfrm>
            <a:off x="6784848" y="4187952"/>
            <a:ext cx="4937760" cy="457200"/>
          </a:xfrm>
          <a:prstGeom prst="rect">
            <a:avLst/>
          </a:prstGeom>
          <a:noFill/>
          <a:ln/>
        </p:spPr>
        <p:txBody>
          <a:bodyPr wrap="square" rtlCol="0" anchor="ctr"/>
          <a:lstStyle/>
          <a:p>
            <a:pPr marL="0" indent="0">
              <a:lnSpc>
                <a:spcPts val="1500"/>
              </a:lnSpc>
              <a:buNone/>
            </a:pPr>
            <a:r>
              <a:rPr lang="en-US" sz="1250" dirty="0">
                <a:solidFill>
                  <a:srgbClr val="6E8079"/>
                </a:solidFill>
                <a:latin typeface="Cambria" panose="02040503050406030204" pitchFamily="18" charset="0"/>
                <a:ea typeface="Cambria" panose="02040503050406030204" pitchFamily="18" charset="0"/>
                <a:cs typeface="Calibri" pitchFamily="34" charset="-120"/>
              </a:rPr>
              <a:t>USB-C stays accessible for flashing &amp; debug</a:t>
            </a:r>
            <a:endParaRPr lang="en-US" sz="1250" dirty="0">
              <a:latin typeface="Cambria" panose="02040503050406030204" pitchFamily="18" charset="0"/>
              <a:ea typeface="Cambria" panose="02040503050406030204" pitchFamily="18" charset="0"/>
            </a:endParaRPr>
          </a:p>
        </p:txBody>
      </p:sp>
      <p:sp>
        <p:nvSpPr>
          <p:cNvPr id="20" name="Shape 18"/>
          <p:cNvSpPr/>
          <p:nvPr/>
        </p:nvSpPr>
        <p:spPr>
          <a:xfrm>
            <a:off x="6144768" y="4800600"/>
            <a:ext cx="457200" cy="457200"/>
          </a:xfrm>
          <a:prstGeom prst="ellipse">
            <a:avLst/>
          </a:prstGeom>
          <a:solidFill>
            <a:srgbClr val="2E6B4F"/>
          </a:solidFill>
          <a:ln/>
        </p:spPr>
      </p:sp>
      <p:sp>
        <p:nvSpPr>
          <p:cNvPr id="21" name="Text 19"/>
          <p:cNvSpPr/>
          <p:nvPr/>
        </p:nvSpPr>
        <p:spPr>
          <a:xfrm>
            <a:off x="6144768" y="48006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mbria" pitchFamily="34" charset="-120"/>
              </a:rPr>
              <a:t>4</a:t>
            </a:r>
            <a:endParaRPr lang="en-US" sz="1600" dirty="0">
              <a:latin typeface="Cambria" panose="02040503050406030204" pitchFamily="18" charset="0"/>
              <a:ea typeface="Cambria" panose="02040503050406030204" pitchFamily="18" charset="0"/>
            </a:endParaRPr>
          </a:p>
        </p:txBody>
      </p:sp>
      <p:sp>
        <p:nvSpPr>
          <p:cNvPr id="22" name="Text 20"/>
          <p:cNvSpPr/>
          <p:nvPr/>
        </p:nvSpPr>
        <p:spPr>
          <a:xfrm>
            <a:off x="6784848" y="4754880"/>
            <a:ext cx="4754880" cy="365760"/>
          </a:xfrm>
          <a:prstGeom prst="rect">
            <a:avLst/>
          </a:prstGeom>
          <a:noFill/>
          <a:ln/>
        </p:spPr>
        <p:txBody>
          <a:bodyPr wrap="square" rtlCol="0" anchor="ctr"/>
          <a:lstStyle/>
          <a:p>
            <a:pPr marL="0" indent="0">
              <a:buNone/>
            </a:pPr>
            <a:r>
              <a:rPr lang="en-US" sz="1500" b="1" dirty="0">
                <a:solidFill>
                  <a:srgbClr val="17251E"/>
                </a:solidFill>
                <a:latin typeface="Cambria" panose="02040503050406030204" pitchFamily="18" charset="0"/>
                <a:ea typeface="Cambria" panose="02040503050406030204" pitchFamily="18" charset="0"/>
                <a:cs typeface="Calibri" pitchFamily="34" charset="-120"/>
              </a:rPr>
              <a:t>Flight-ready</a:t>
            </a:r>
            <a:endParaRPr lang="en-US" sz="1500" dirty="0">
              <a:latin typeface="Cambria" panose="02040503050406030204" pitchFamily="18" charset="0"/>
              <a:ea typeface="Cambria" panose="02040503050406030204" pitchFamily="18" charset="0"/>
            </a:endParaRPr>
          </a:p>
        </p:txBody>
      </p:sp>
      <p:sp>
        <p:nvSpPr>
          <p:cNvPr id="23" name="Text 21"/>
          <p:cNvSpPr/>
          <p:nvPr/>
        </p:nvSpPr>
        <p:spPr>
          <a:xfrm>
            <a:off x="6784848" y="5102352"/>
            <a:ext cx="4937760" cy="457200"/>
          </a:xfrm>
          <a:prstGeom prst="rect">
            <a:avLst/>
          </a:prstGeom>
          <a:noFill/>
          <a:ln/>
        </p:spPr>
        <p:txBody>
          <a:bodyPr wrap="square" rtlCol="0" anchor="ctr"/>
          <a:lstStyle/>
          <a:p>
            <a:pPr marL="0" indent="0">
              <a:lnSpc>
                <a:spcPts val="1500"/>
              </a:lnSpc>
              <a:buNone/>
            </a:pPr>
            <a:r>
              <a:rPr lang="en-US" sz="1250" dirty="0">
                <a:solidFill>
                  <a:srgbClr val="6E8079"/>
                </a:solidFill>
                <a:latin typeface="Cambria" panose="02040503050406030204" pitchFamily="18" charset="0"/>
                <a:ea typeface="Cambria" panose="02040503050406030204" pitchFamily="18" charset="0"/>
                <a:cs typeface="Calibri" pitchFamily="34" charset="-120"/>
              </a:rPr>
              <a:t>mounts cleanly onto the F450 airframe</a:t>
            </a:r>
            <a:endParaRPr lang="en-US" sz="1250" dirty="0">
              <a:latin typeface="Cambria" panose="02040503050406030204" pitchFamily="18" charset="0"/>
              <a:ea typeface="Cambria" panose="02040503050406030204" pitchFamily="18" charset="0"/>
            </a:endParaRPr>
          </a:p>
        </p:txBody>
      </p:sp>
      <p:sp>
        <p:nvSpPr>
          <p:cNvPr id="24" name="Text 22"/>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Sántha Zsolt  ·  Quadcopter flight-control system</a:t>
            </a:r>
            <a:endParaRPr lang="en-US" sz="900" dirty="0">
              <a:latin typeface="Cambria" panose="02040503050406030204" pitchFamily="18" charset="0"/>
              <a:ea typeface="Cambria" panose="02040503050406030204" pitchFamily="18" charset="0"/>
            </a:endParaRPr>
          </a:p>
        </p:txBody>
      </p:sp>
      <p:sp>
        <p:nvSpPr>
          <p:cNvPr id="25" name="Text 23"/>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mbria" panose="02040503050406030204" pitchFamily="18" charset="0"/>
                <a:ea typeface="Cambria" panose="02040503050406030204" pitchFamily="18" charset="0"/>
                <a:cs typeface="Calibri" pitchFamily="34" charset="-120"/>
              </a:rPr>
              <a:t>13</a:t>
            </a:r>
            <a:endParaRPr lang="en-US" sz="900" dirty="0">
              <a:latin typeface="Cambria" panose="02040503050406030204" pitchFamily="18" charset="0"/>
              <a:ea typeface="Cambria" panose="02040503050406030204" pitchFamily="18" charset="0"/>
            </a:endParaRPr>
          </a:p>
        </p:txBody>
      </p:sp>
      <p:pic>
        <p:nvPicPr>
          <p:cNvPr id="26" name="Kép 25"/>
          <p:cNvPicPr>
            <a:picLocks noChangeAspect="1"/>
          </p:cNvPicPr>
          <p:nvPr/>
        </p:nvPicPr>
        <p:blipFill rotWithShape="1">
          <a:blip r:embed="rId3">
            <a:extLst>
              <a:ext uri="{28A0092B-C50C-407E-A947-70E740481C1C}">
                <a14:useLocalDpi xmlns:a14="http://schemas.microsoft.com/office/drawing/2010/main" val="0"/>
              </a:ext>
            </a:extLst>
          </a:blip>
          <a:srcRect l="1370" t="5560" r="8919" b="5489"/>
          <a:stretch/>
        </p:blipFill>
        <p:spPr>
          <a:xfrm rot="5400000">
            <a:off x="1282147" y="1351721"/>
            <a:ext cx="3747052" cy="4442793"/>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0352C"/>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mbria" panose="02040503050406030204" pitchFamily="18" charset="0"/>
                <a:ea typeface="Cambria" panose="02040503050406030204" pitchFamily="18" charset="0"/>
                <a:cs typeface="Calibri" pitchFamily="34" charset="-120"/>
              </a:rPr>
              <a:t>CONCLUSION &amp; FUTURE WORK</a:t>
            </a:r>
            <a:endParaRPr lang="en-US" sz="1300" dirty="0">
              <a:latin typeface="Cambria" panose="02040503050406030204" pitchFamily="18" charset="0"/>
              <a:ea typeface="Cambria" panose="02040503050406030204" pitchFamily="18" charset="0"/>
            </a:endParaRPr>
          </a:p>
        </p:txBody>
      </p:sp>
      <p:sp>
        <p:nvSpPr>
          <p:cNvPr id="3" name="Text 1"/>
          <p:cNvSpPr/>
          <p:nvPr/>
        </p:nvSpPr>
        <p:spPr>
          <a:xfrm>
            <a:off x="566928" y="749808"/>
            <a:ext cx="11057839" cy="822960"/>
          </a:xfrm>
          <a:prstGeom prst="rect">
            <a:avLst/>
          </a:prstGeom>
          <a:noFill/>
          <a:ln/>
        </p:spPr>
        <p:txBody>
          <a:bodyPr wrap="square" rtlCol="0" anchor="ctr"/>
          <a:lstStyle/>
          <a:p>
            <a:pPr marL="0" indent="0">
              <a:buNone/>
            </a:pPr>
            <a:r>
              <a:rPr lang="en-US" sz="3000" b="1" dirty="0">
                <a:solidFill>
                  <a:srgbClr val="FFFFFF"/>
                </a:solidFill>
                <a:latin typeface="Cambria" panose="02040503050406030204" pitchFamily="18" charset="0"/>
                <a:ea typeface="Cambria" panose="02040503050406030204" pitchFamily="18" charset="0"/>
                <a:cs typeface="Cambria" pitchFamily="34" charset="-120"/>
              </a:rPr>
              <a:t>A working foundation — and a clear road ahead</a:t>
            </a:r>
            <a:endParaRPr lang="en-US" sz="3000" dirty="0">
              <a:latin typeface="Cambria" panose="02040503050406030204" pitchFamily="18" charset="0"/>
              <a:ea typeface="Cambria" panose="02040503050406030204" pitchFamily="18" charset="0"/>
            </a:endParaRPr>
          </a:p>
        </p:txBody>
      </p:sp>
      <p:sp>
        <p:nvSpPr>
          <p:cNvPr id="4" name="Shape 2"/>
          <p:cNvSpPr/>
          <p:nvPr/>
        </p:nvSpPr>
        <p:spPr>
          <a:xfrm>
            <a:off x="566928" y="1783080"/>
            <a:ext cx="11057839" cy="1097280"/>
          </a:xfrm>
          <a:prstGeom prst="roundRect">
            <a:avLst>
              <a:gd name="adj" fmla="val 6667"/>
            </a:avLst>
          </a:prstGeom>
          <a:solidFill>
            <a:srgbClr val="163E33"/>
          </a:solidFill>
          <a:ln w="12700">
            <a:solidFill>
              <a:srgbClr val="D6DED8"/>
            </a:solidFill>
            <a:prstDash val="solid"/>
          </a:ln>
          <a:effectLst>
            <a:outerShdw blurRad="76200" dist="25400" dir="5400000" algn="bl" rotWithShape="0">
              <a:srgbClr val="9AA79E">
                <a:alpha val="28000"/>
              </a:srgbClr>
            </a:outerShdw>
          </a:effectLst>
        </p:spPr>
      </p:sp>
      <p:sp>
        <p:nvSpPr>
          <p:cNvPr id="5" name="Text 3"/>
          <p:cNvSpPr/>
          <p:nvPr/>
        </p:nvSpPr>
        <p:spPr>
          <a:xfrm>
            <a:off x="932688" y="1901952"/>
            <a:ext cx="10326319" cy="868680"/>
          </a:xfrm>
          <a:prstGeom prst="rect">
            <a:avLst/>
          </a:prstGeom>
          <a:noFill/>
          <a:ln/>
        </p:spPr>
        <p:txBody>
          <a:bodyPr wrap="square" rtlCol="0" anchor="ctr"/>
          <a:lstStyle/>
          <a:p>
            <a:pPr marL="0" indent="0">
              <a:lnSpc>
                <a:spcPts val="2000"/>
              </a:lnSpc>
              <a:buNone/>
            </a:pPr>
            <a:r>
              <a:rPr lang="en-US" sz="1450" b="1" dirty="0">
                <a:solidFill>
                  <a:srgbClr val="E8B23A"/>
                </a:solidFill>
                <a:latin typeface="Cambria" panose="02040503050406030204" pitchFamily="18" charset="0"/>
                <a:ea typeface="Cambria" panose="02040503050406030204" pitchFamily="18" charset="0"/>
                <a:cs typeface="Calibri" pitchFamily="34" charset="-120"/>
              </a:rPr>
              <a:t>Delivered:  </a:t>
            </a:r>
            <a:r>
              <a:rPr lang="en-US" sz="1450" dirty="0">
                <a:solidFill>
                  <a:srgbClr val="FFFFFF"/>
                </a:solidFill>
                <a:latin typeface="Cambria" panose="02040503050406030204" pitchFamily="18" charset="0"/>
                <a:ea typeface="Cambria" panose="02040503050406030204" pitchFamily="18" charset="0"/>
                <a:cs typeface="Calibri" pitchFamily="34" charset="-120"/>
              </a:rPr>
              <a:t>a quadcopter with a custom STM32 flight controller — SPI+DMA sensing, complementary-filter attitude estimation with quaternions, and closed-loop PID stabilisation.</a:t>
            </a:r>
            <a:endParaRPr lang="en-US" sz="1450" dirty="0">
              <a:latin typeface="Cambria" panose="02040503050406030204" pitchFamily="18" charset="0"/>
              <a:ea typeface="Cambria" panose="02040503050406030204" pitchFamily="18" charset="0"/>
            </a:endParaRPr>
          </a:p>
        </p:txBody>
      </p:sp>
      <p:sp>
        <p:nvSpPr>
          <p:cNvPr id="6" name="Shape 4"/>
          <p:cNvSpPr/>
          <p:nvPr/>
        </p:nvSpPr>
        <p:spPr>
          <a:xfrm>
            <a:off x="566928" y="3108960"/>
            <a:ext cx="5346040" cy="2697480"/>
          </a:xfrm>
          <a:prstGeom prst="roundRect">
            <a:avLst>
              <a:gd name="adj" fmla="val 2712"/>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7" name="Text 5"/>
          <p:cNvSpPr/>
          <p:nvPr/>
        </p:nvSpPr>
        <p:spPr>
          <a:xfrm>
            <a:off x="886968" y="3246120"/>
            <a:ext cx="4572000" cy="365760"/>
          </a:xfrm>
          <a:prstGeom prst="rect">
            <a:avLst/>
          </a:prstGeom>
          <a:noFill/>
          <a:ln/>
        </p:spPr>
        <p:txBody>
          <a:bodyPr wrap="square" rtlCol="0" anchor="ctr"/>
          <a:lstStyle/>
          <a:p>
            <a:pPr marL="0" indent="0">
              <a:buNone/>
            </a:pPr>
            <a:r>
              <a:rPr lang="en-US" sz="1800" b="1" dirty="0">
                <a:solidFill>
                  <a:srgbClr val="9BC53D"/>
                </a:solidFill>
                <a:latin typeface="Cambria" panose="02040503050406030204" pitchFamily="18" charset="0"/>
                <a:ea typeface="Cambria" panose="02040503050406030204" pitchFamily="18" charset="0"/>
                <a:cs typeface="Cambria" pitchFamily="34" charset="-120"/>
              </a:rPr>
              <a:t>Near term</a:t>
            </a:r>
            <a:endParaRPr lang="en-US" sz="1800" dirty="0">
              <a:latin typeface="Cambria" panose="02040503050406030204" pitchFamily="18" charset="0"/>
              <a:ea typeface="Cambria" panose="02040503050406030204" pitchFamily="18" charset="0"/>
            </a:endParaRPr>
          </a:p>
        </p:txBody>
      </p:sp>
      <p:sp>
        <p:nvSpPr>
          <p:cNvPr id="8" name="Text 6"/>
          <p:cNvSpPr/>
          <p:nvPr/>
        </p:nvSpPr>
        <p:spPr>
          <a:xfrm>
            <a:off x="1069848" y="3703320"/>
            <a:ext cx="4523080" cy="457200"/>
          </a:xfrm>
          <a:prstGeom prst="rect">
            <a:avLst/>
          </a:prstGeom>
          <a:noFill/>
          <a:ln/>
        </p:spPr>
        <p:txBody>
          <a:bodyPr wrap="square" rtlCol="0" anchor="ctr"/>
          <a:lstStyle/>
          <a:p>
            <a:pPr marL="152400" indent="-152400">
              <a:buSzPct val="100000"/>
              <a:buChar char="•"/>
            </a:pPr>
            <a:r>
              <a:rPr lang="en-US" sz="1400" dirty="0">
                <a:solidFill>
                  <a:srgbClr val="FFFFFF"/>
                </a:solidFill>
                <a:latin typeface="Cambria" panose="02040503050406030204" pitchFamily="18" charset="0"/>
                <a:ea typeface="Cambria" panose="02040503050406030204" pitchFamily="18" charset="0"/>
                <a:cs typeface="Calibri" pitchFamily="34" charset="-120"/>
              </a:rPr>
              <a:t>Barometric altitude hold</a:t>
            </a:r>
            <a:endParaRPr lang="en-US" sz="1400" dirty="0">
              <a:latin typeface="Cambria" panose="02040503050406030204" pitchFamily="18" charset="0"/>
              <a:ea typeface="Cambria" panose="02040503050406030204" pitchFamily="18" charset="0"/>
            </a:endParaRPr>
          </a:p>
        </p:txBody>
      </p:sp>
      <p:sp>
        <p:nvSpPr>
          <p:cNvPr id="9" name="Text 7"/>
          <p:cNvSpPr/>
          <p:nvPr/>
        </p:nvSpPr>
        <p:spPr>
          <a:xfrm>
            <a:off x="1069848" y="4091940"/>
            <a:ext cx="4523080" cy="457200"/>
          </a:xfrm>
          <a:prstGeom prst="rect">
            <a:avLst/>
          </a:prstGeom>
          <a:noFill/>
          <a:ln/>
        </p:spPr>
        <p:txBody>
          <a:bodyPr wrap="square" rtlCol="0" anchor="ctr"/>
          <a:lstStyle/>
          <a:p>
            <a:pPr marL="152400" indent="-152400">
              <a:buSzPct val="100000"/>
              <a:buChar char="•"/>
            </a:pPr>
            <a:r>
              <a:rPr lang="en-US" sz="1400" dirty="0">
                <a:solidFill>
                  <a:srgbClr val="FFFFFF"/>
                </a:solidFill>
                <a:latin typeface="Cambria" panose="02040503050406030204" pitchFamily="18" charset="0"/>
                <a:ea typeface="Cambria" panose="02040503050406030204" pitchFamily="18" charset="0"/>
                <a:cs typeface="Calibri" pitchFamily="34" charset="-120"/>
              </a:rPr>
              <a:t>GPS module → position hold</a:t>
            </a:r>
            <a:endParaRPr lang="en-US" sz="1400" dirty="0">
              <a:latin typeface="Cambria" panose="02040503050406030204" pitchFamily="18" charset="0"/>
              <a:ea typeface="Cambria" panose="02040503050406030204" pitchFamily="18" charset="0"/>
            </a:endParaRPr>
          </a:p>
        </p:txBody>
      </p:sp>
      <p:sp>
        <p:nvSpPr>
          <p:cNvPr id="10" name="Text 8"/>
          <p:cNvSpPr/>
          <p:nvPr/>
        </p:nvSpPr>
        <p:spPr>
          <a:xfrm>
            <a:off x="1069848" y="4867689"/>
            <a:ext cx="4523080" cy="457200"/>
          </a:xfrm>
          <a:prstGeom prst="rect">
            <a:avLst/>
          </a:prstGeom>
          <a:noFill/>
          <a:ln/>
        </p:spPr>
        <p:txBody>
          <a:bodyPr wrap="square" rtlCol="0" anchor="ctr"/>
          <a:lstStyle/>
          <a:p>
            <a:pPr marL="152400" indent="-152400">
              <a:buSzPct val="100000"/>
              <a:buChar char="•"/>
            </a:pPr>
            <a:r>
              <a:rPr lang="en-US" sz="1400" dirty="0">
                <a:solidFill>
                  <a:srgbClr val="FFFFFF"/>
                </a:solidFill>
                <a:latin typeface="Cambria" panose="02040503050406030204" pitchFamily="18" charset="0"/>
                <a:ea typeface="Cambria" panose="02040503050406030204" pitchFamily="18" charset="0"/>
                <a:cs typeface="Calibri" pitchFamily="34" charset="-120"/>
              </a:rPr>
              <a:t>Return-to-home safety feature</a:t>
            </a:r>
            <a:endParaRPr lang="en-US" sz="1400" dirty="0">
              <a:latin typeface="Cambria" panose="02040503050406030204" pitchFamily="18" charset="0"/>
              <a:ea typeface="Cambria" panose="02040503050406030204" pitchFamily="18" charset="0"/>
            </a:endParaRPr>
          </a:p>
        </p:txBody>
      </p:sp>
      <p:sp>
        <p:nvSpPr>
          <p:cNvPr id="11" name="Text 9"/>
          <p:cNvSpPr/>
          <p:nvPr/>
        </p:nvSpPr>
        <p:spPr>
          <a:xfrm>
            <a:off x="886968" y="5394960"/>
            <a:ext cx="4797400" cy="365760"/>
          </a:xfrm>
          <a:prstGeom prst="rect">
            <a:avLst/>
          </a:prstGeom>
          <a:noFill/>
          <a:ln/>
        </p:spPr>
        <p:txBody>
          <a:bodyPr wrap="square" rtlCol="0" anchor="ctr"/>
          <a:lstStyle/>
          <a:p>
            <a:pPr marL="0" indent="0">
              <a:buNone/>
            </a:pPr>
            <a:r>
              <a:rPr lang="en-US" sz="1150" i="1" dirty="0">
                <a:solidFill>
                  <a:srgbClr val="7FA98C"/>
                </a:solidFill>
                <a:latin typeface="Cambria" panose="02040503050406030204" pitchFamily="18" charset="0"/>
                <a:ea typeface="Cambria" panose="02040503050406030204" pitchFamily="18" charset="0"/>
                <a:cs typeface="Calibri" pitchFamily="34" charset="-120"/>
              </a:rPr>
              <a:t>→ a manually piloted craft becomes semi-autonomous</a:t>
            </a:r>
            <a:endParaRPr lang="en-US" sz="1150" dirty="0">
              <a:latin typeface="Cambria" panose="02040503050406030204" pitchFamily="18" charset="0"/>
              <a:ea typeface="Cambria" panose="02040503050406030204" pitchFamily="18" charset="0"/>
            </a:endParaRPr>
          </a:p>
        </p:txBody>
      </p:sp>
      <p:sp>
        <p:nvSpPr>
          <p:cNvPr id="12" name="Shape 10"/>
          <p:cNvSpPr/>
          <p:nvPr/>
        </p:nvSpPr>
        <p:spPr>
          <a:xfrm>
            <a:off x="6278728" y="3108960"/>
            <a:ext cx="5346040" cy="2697480"/>
          </a:xfrm>
          <a:prstGeom prst="roundRect">
            <a:avLst>
              <a:gd name="adj" fmla="val 2712"/>
            </a:avLst>
          </a:prstGeom>
          <a:solidFill>
            <a:srgbClr val="163E33"/>
          </a:solidFill>
          <a:ln w="12700">
            <a:solidFill>
              <a:srgbClr val="D6DED8"/>
            </a:solidFill>
            <a:prstDash val="solid"/>
          </a:ln>
          <a:effectLst>
            <a:outerShdw blurRad="76200" dist="25400" dir="5400000" algn="bl" rotWithShape="0">
              <a:srgbClr val="9AA79E">
                <a:alpha val="28000"/>
              </a:srgbClr>
            </a:outerShdw>
          </a:effectLst>
        </p:spPr>
      </p:sp>
      <p:sp>
        <p:nvSpPr>
          <p:cNvPr id="13" name="Text 11"/>
          <p:cNvSpPr/>
          <p:nvPr/>
        </p:nvSpPr>
        <p:spPr>
          <a:xfrm>
            <a:off x="6598768" y="3246120"/>
            <a:ext cx="4572000" cy="365760"/>
          </a:xfrm>
          <a:prstGeom prst="rect">
            <a:avLst/>
          </a:prstGeom>
          <a:noFill/>
          <a:ln/>
        </p:spPr>
        <p:txBody>
          <a:bodyPr wrap="square" rtlCol="0" anchor="ctr"/>
          <a:lstStyle/>
          <a:p>
            <a:pPr marL="0" indent="0">
              <a:buNone/>
            </a:pPr>
            <a:r>
              <a:rPr lang="en-US" sz="1800" b="1" dirty="0">
                <a:solidFill>
                  <a:srgbClr val="E8B23A"/>
                </a:solidFill>
                <a:latin typeface="Cambria" panose="02040503050406030204" pitchFamily="18" charset="0"/>
                <a:ea typeface="Cambria" panose="02040503050406030204" pitchFamily="18" charset="0"/>
                <a:cs typeface="Cambria" pitchFamily="34" charset="-120"/>
              </a:rPr>
              <a:t>Long term</a:t>
            </a:r>
            <a:endParaRPr lang="en-US" sz="1800" dirty="0">
              <a:latin typeface="Cambria" panose="02040503050406030204" pitchFamily="18" charset="0"/>
              <a:ea typeface="Cambria" panose="02040503050406030204" pitchFamily="18" charset="0"/>
            </a:endParaRPr>
          </a:p>
        </p:txBody>
      </p:sp>
      <p:sp>
        <p:nvSpPr>
          <p:cNvPr id="14" name="Text 12"/>
          <p:cNvSpPr/>
          <p:nvPr/>
        </p:nvSpPr>
        <p:spPr>
          <a:xfrm>
            <a:off x="6781648" y="3703320"/>
            <a:ext cx="4523080" cy="457200"/>
          </a:xfrm>
          <a:prstGeom prst="rect">
            <a:avLst/>
          </a:prstGeom>
          <a:noFill/>
          <a:ln/>
        </p:spPr>
        <p:txBody>
          <a:bodyPr wrap="square" rtlCol="0" anchor="ctr"/>
          <a:lstStyle/>
          <a:p>
            <a:pPr marL="152400" indent="-152400">
              <a:buSzPct val="100000"/>
              <a:buChar char="•"/>
            </a:pPr>
            <a:r>
              <a:rPr lang="en-US" sz="1400" dirty="0">
                <a:solidFill>
                  <a:srgbClr val="FFFFFF"/>
                </a:solidFill>
                <a:latin typeface="Cambria" panose="02040503050406030204" pitchFamily="18" charset="0"/>
                <a:ea typeface="Cambria" panose="02040503050406030204" pitchFamily="18" charset="0"/>
                <a:cs typeface="Calibri" pitchFamily="34" charset="-120"/>
              </a:rPr>
              <a:t>Raspberry Pi + camera companion computer</a:t>
            </a:r>
            <a:endParaRPr lang="en-US" sz="1400" dirty="0">
              <a:latin typeface="Cambria" panose="02040503050406030204" pitchFamily="18" charset="0"/>
              <a:ea typeface="Cambria" panose="02040503050406030204" pitchFamily="18" charset="0"/>
            </a:endParaRPr>
          </a:p>
        </p:txBody>
      </p:sp>
      <p:sp>
        <p:nvSpPr>
          <p:cNvPr id="15" name="Text 13"/>
          <p:cNvSpPr/>
          <p:nvPr/>
        </p:nvSpPr>
        <p:spPr>
          <a:xfrm>
            <a:off x="6781648" y="4270248"/>
            <a:ext cx="4523080" cy="457200"/>
          </a:xfrm>
          <a:prstGeom prst="rect">
            <a:avLst/>
          </a:prstGeom>
          <a:noFill/>
          <a:ln/>
        </p:spPr>
        <p:txBody>
          <a:bodyPr wrap="square" rtlCol="0" anchor="ctr"/>
          <a:lstStyle/>
          <a:p>
            <a:pPr marL="152400" indent="-152400">
              <a:buSzPct val="100000"/>
              <a:buChar char="•"/>
            </a:pPr>
            <a:r>
              <a:rPr lang="en-US" sz="1400" dirty="0">
                <a:solidFill>
                  <a:srgbClr val="FFFFFF"/>
                </a:solidFill>
                <a:latin typeface="Cambria" panose="02040503050406030204" pitchFamily="18" charset="0"/>
                <a:ea typeface="Cambria" panose="02040503050406030204" pitchFamily="18" charset="0"/>
                <a:cs typeface="Calibri" pitchFamily="34" charset="-120"/>
              </a:rPr>
              <a:t>Georeferenced field mapping</a:t>
            </a:r>
            <a:endParaRPr lang="en-US" sz="1400" dirty="0">
              <a:latin typeface="Cambria" panose="02040503050406030204" pitchFamily="18" charset="0"/>
              <a:ea typeface="Cambria" panose="02040503050406030204" pitchFamily="18" charset="0"/>
            </a:endParaRPr>
          </a:p>
        </p:txBody>
      </p:sp>
      <p:sp>
        <p:nvSpPr>
          <p:cNvPr id="16" name="Text 14"/>
          <p:cNvSpPr/>
          <p:nvPr/>
        </p:nvSpPr>
        <p:spPr>
          <a:xfrm>
            <a:off x="6781648" y="4837176"/>
            <a:ext cx="4523080" cy="457200"/>
          </a:xfrm>
          <a:prstGeom prst="rect">
            <a:avLst/>
          </a:prstGeom>
          <a:noFill/>
          <a:ln/>
        </p:spPr>
        <p:txBody>
          <a:bodyPr wrap="square" rtlCol="0" anchor="ctr"/>
          <a:lstStyle/>
          <a:p>
            <a:pPr marL="152400" indent="-152400">
              <a:buSzPct val="100000"/>
              <a:buChar char="•"/>
            </a:pPr>
            <a:r>
              <a:rPr lang="en-US" sz="1400" dirty="0">
                <a:solidFill>
                  <a:srgbClr val="FFFFFF"/>
                </a:solidFill>
                <a:latin typeface="Cambria" panose="02040503050406030204" pitchFamily="18" charset="0"/>
                <a:ea typeface="Cambria" panose="02040503050406030204" pitchFamily="18" charset="0"/>
                <a:cs typeface="Calibri" pitchFamily="34" charset="-120"/>
              </a:rPr>
              <a:t>Crop-health analysis (vegetation indices)</a:t>
            </a:r>
            <a:endParaRPr lang="en-US" sz="1400" dirty="0">
              <a:latin typeface="Cambria" panose="02040503050406030204" pitchFamily="18" charset="0"/>
              <a:ea typeface="Cambria" panose="02040503050406030204" pitchFamily="18" charset="0"/>
            </a:endParaRPr>
          </a:p>
        </p:txBody>
      </p:sp>
      <p:sp>
        <p:nvSpPr>
          <p:cNvPr id="17" name="Text 15"/>
          <p:cNvSpPr/>
          <p:nvPr/>
        </p:nvSpPr>
        <p:spPr>
          <a:xfrm>
            <a:off x="6598768" y="5394960"/>
            <a:ext cx="4797400" cy="365760"/>
          </a:xfrm>
          <a:prstGeom prst="rect">
            <a:avLst/>
          </a:prstGeom>
          <a:noFill/>
          <a:ln/>
        </p:spPr>
        <p:txBody>
          <a:bodyPr wrap="square" rtlCol="0" anchor="ctr"/>
          <a:lstStyle/>
          <a:p>
            <a:pPr marL="0" indent="0">
              <a:buNone/>
            </a:pPr>
            <a:r>
              <a:rPr lang="en-US" sz="1150" i="1" dirty="0">
                <a:solidFill>
                  <a:srgbClr val="E8B23A"/>
                </a:solidFill>
                <a:latin typeface="Cambria" panose="02040503050406030204" pitchFamily="18" charset="0"/>
                <a:ea typeface="Cambria" panose="02040503050406030204" pitchFamily="18" charset="0"/>
                <a:cs typeface="Calibri" pitchFamily="34" charset="-120"/>
              </a:rPr>
              <a:t>→ a flight experiment becomes a precision-agriculture tool</a:t>
            </a:r>
            <a:endParaRPr lang="en-US" sz="1150" dirty="0">
              <a:latin typeface="Cambria" panose="02040503050406030204" pitchFamily="18" charset="0"/>
              <a:ea typeface="Cambria" panose="02040503050406030204" pitchFamily="18" charset="0"/>
            </a:endParaRPr>
          </a:p>
        </p:txBody>
      </p:sp>
      <p:sp>
        <p:nvSpPr>
          <p:cNvPr id="18" name="Text 16"/>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7C9A8C"/>
                </a:solidFill>
                <a:latin typeface="Cambria" panose="02040503050406030204" pitchFamily="18" charset="0"/>
                <a:ea typeface="Cambria" panose="02040503050406030204" pitchFamily="18" charset="0"/>
                <a:cs typeface="Calibri" pitchFamily="34" charset="-120"/>
              </a:rPr>
              <a:t>Sántha Zsolt  ·  Quadcopter flight-control system</a:t>
            </a:r>
            <a:endParaRPr lang="en-US" sz="900" dirty="0">
              <a:latin typeface="Cambria" panose="02040503050406030204" pitchFamily="18" charset="0"/>
              <a:ea typeface="Cambria" panose="02040503050406030204" pitchFamily="18" charset="0"/>
            </a:endParaRPr>
          </a:p>
        </p:txBody>
      </p:sp>
      <p:sp>
        <p:nvSpPr>
          <p:cNvPr id="19" name="Text 17"/>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7C9A8C"/>
                </a:solidFill>
                <a:latin typeface="Cambria" panose="02040503050406030204" pitchFamily="18" charset="0"/>
                <a:ea typeface="Cambria" panose="02040503050406030204" pitchFamily="18" charset="0"/>
                <a:cs typeface="Calibri" pitchFamily="34" charset="-120"/>
              </a:rPr>
              <a:t>14</a:t>
            </a:r>
            <a:endParaRPr lang="en-US" sz="900" dirty="0">
              <a:latin typeface="Cambria" panose="02040503050406030204" pitchFamily="18" charset="0"/>
              <a:ea typeface="Cambria" panose="02040503050406030204" pitchFamily="18" charset="0"/>
            </a:endParaRPr>
          </a:p>
        </p:txBody>
      </p:sp>
      <p:sp>
        <p:nvSpPr>
          <p:cNvPr id="20" name="Text 7"/>
          <p:cNvSpPr/>
          <p:nvPr/>
        </p:nvSpPr>
        <p:spPr>
          <a:xfrm>
            <a:off x="1069848" y="4480560"/>
            <a:ext cx="4523080" cy="457200"/>
          </a:xfrm>
          <a:prstGeom prst="rect">
            <a:avLst/>
          </a:prstGeom>
          <a:noFill/>
          <a:ln/>
        </p:spPr>
        <p:txBody>
          <a:bodyPr wrap="square" rtlCol="0" anchor="ctr"/>
          <a:lstStyle/>
          <a:p>
            <a:pPr marL="152400" indent="-152400">
              <a:buSzPct val="100000"/>
              <a:buChar char="•"/>
            </a:pPr>
            <a:r>
              <a:rPr lang="en-US" sz="1400" dirty="0" smtClean="0">
                <a:solidFill>
                  <a:srgbClr val="FFFFFF"/>
                </a:solidFill>
                <a:latin typeface="Cambria" panose="02040503050406030204" pitchFamily="18" charset="0"/>
                <a:ea typeface="Cambria" panose="02040503050406030204" pitchFamily="18" charset="0"/>
                <a:cs typeface="Calibri" pitchFamily="34" charset="-120"/>
              </a:rPr>
              <a:t>PCB design </a:t>
            </a:r>
            <a:endParaRPr lang="en-US" sz="14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352C"/>
        </a:solidFill>
        <a:effectLst/>
      </p:bgPr>
    </p:bg>
    <p:spTree>
      <p:nvGrpSpPr>
        <p:cNvPr id="1" name=""/>
        <p:cNvGrpSpPr/>
        <p:nvPr/>
      </p:nvGrpSpPr>
      <p:grpSpPr>
        <a:xfrm>
          <a:off x="0" y="0"/>
          <a:ext cx="0" cy="0"/>
          <a:chOff x="0" y="0"/>
          <a:chExt cx="0" cy="0"/>
        </a:xfrm>
      </p:grpSpPr>
      <p:pic>
        <p:nvPicPr>
          <p:cNvPr id="2" name="Kép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0262" y="1161288"/>
            <a:ext cx="9342782" cy="5167726"/>
          </a:xfrm>
          <a:prstGeom prst="rect">
            <a:avLst/>
          </a:prstGeom>
        </p:spPr>
      </p:pic>
      <p:sp>
        <p:nvSpPr>
          <p:cNvPr id="3" name="Text 1"/>
          <p:cNvSpPr/>
          <p:nvPr/>
        </p:nvSpPr>
        <p:spPr>
          <a:xfrm>
            <a:off x="238937" y="338328"/>
            <a:ext cx="11057839" cy="822960"/>
          </a:xfrm>
          <a:prstGeom prst="rect">
            <a:avLst/>
          </a:prstGeom>
          <a:noFill/>
          <a:ln/>
        </p:spPr>
        <p:txBody>
          <a:bodyPr wrap="square" rtlCol="0" anchor="ctr"/>
          <a:lstStyle/>
          <a:p>
            <a:pPr lvl="0" fontAlgn="base">
              <a:spcBef>
                <a:spcPct val="0"/>
              </a:spcBef>
              <a:spcAft>
                <a:spcPct val="0"/>
              </a:spcAft>
            </a:pPr>
            <a:r>
              <a:rPr lang="en-US" altLang="en-US" sz="3000" b="1" dirty="0">
                <a:solidFill>
                  <a:srgbClr val="FFFFFF"/>
                </a:solidFill>
                <a:latin typeface="Cambria" panose="02040503050406030204" pitchFamily="18" charset="0"/>
                <a:ea typeface="Cambria" panose="02040503050406030204" pitchFamily="18" charset="0"/>
                <a:cs typeface="Cambria" pitchFamily="34" charset="-120"/>
              </a:rPr>
              <a:t>One Mistake I'll Never Make Again </a:t>
            </a:r>
          </a:p>
        </p:txBody>
      </p:sp>
    </p:spTree>
    <p:extLst>
      <p:ext uri="{BB962C8B-B14F-4D97-AF65-F5344CB8AC3E}">
        <p14:creationId xmlns:p14="http://schemas.microsoft.com/office/powerpoint/2010/main" val="14094553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0B2A22"/>
        </a:solidFill>
        <a:effectLst/>
      </p:bgPr>
    </p:bg>
    <p:spTree>
      <p:nvGrpSpPr>
        <p:cNvPr id="1" name=""/>
        <p:cNvGrpSpPr/>
        <p:nvPr/>
      </p:nvGrpSpPr>
      <p:grpSpPr>
        <a:xfrm>
          <a:off x="0" y="0"/>
          <a:ext cx="0" cy="0"/>
          <a:chOff x="0" y="0"/>
          <a:chExt cx="0" cy="0"/>
        </a:xfrm>
      </p:grpSpPr>
      <p:sp>
        <p:nvSpPr>
          <p:cNvPr id="2" name="Shape 0"/>
          <p:cNvSpPr/>
          <p:nvPr/>
        </p:nvSpPr>
        <p:spPr>
          <a:xfrm rot="16200000">
            <a:off x="8778240" y="2011680"/>
            <a:ext cx="2560320" cy="2560320"/>
          </a:xfrm>
          <a:prstGeom prst="line">
            <a:avLst/>
          </a:prstGeom>
          <a:noFill/>
          <a:ln w="76200">
            <a:solidFill>
              <a:srgbClr val="6E8F7E"/>
            </a:solidFill>
            <a:prstDash val="solid"/>
          </a:ln>
        </p:spPr>
      </p:sp>
      <p:sp>
        <p:nvSpPr>
          <p:cNvPr id="3" name="Shape 1"/>
          <p:cNvSpPr/>
          <p:nvPr/>
        </p:nvSpPr>
        <p:spPr>
          <a:xfrm rot="16200000" flipV="1">
            <a:off x="8778240" y="2011680"/>
            <a:ext cx="2560320" cy="2560320"/>
          </a:xfrm>
          <a:prstGeom prst="line">
            <a:avLst/>
          </a:prstGeom>
          <a:noFill/>
          <a:ln w="76200">
            <a:solidFill>
              <a:srgbClr val="6E8F7E"/>
            </a:solidFill>
            <a:prstDash val="solid"/>
          </a:ln>
        </p:spPr>
      </p:sp>
      <p:sp>
        <p:nvSpPr>
          <p:cNvPr id="4" name="Shape 2"/>
          <p:cNvSpPr/>
          <p:nvPr/>
        </p:nvSpPr>
        <p:spPr>
          <a:xfrm rot="16200000">
            <a:off x="10689336" y="3968496"/>
            <a:ext cx="1207008" cy="1207008"/>
          </a:xfrm>
          <a:prstGeom prst="ellipse">
            <a:avLst/>
          </a:prstGeom>
          <a:solidFill>
            <a:srgbClr val="FFFFFF">
              <a:alpha val="10000"/>
            </a:srgbClr>
          </a:solidFill>
          <a:ln w="38100">
            <a:solidFill>
              <a:srgbClr val="7FA98C"/>
            </a:solidFill>
            <a:prstDash val="solid"/>
          </a:ln>
        </p:spPr>
      </p:sp>
      <p:sp>
        <p:nvSpPr>
          <p:cNvPr id="5" name="Shape 3"/>
          <p:cNvSpPr/>
          <p:nvPr/>
        </p:nvSpPr>
        <p:spPr>
          <a:xfrm rot="16200000">
            <a:off x="8732520" y="1965960"/>
            <a:ext cx="91440" cy="91440"/>
          </a:xfrm>
          <a:prstGeom prst="ellipse">
            <a:avLst/>
          </a:prstGeom>
          <a:solidFill>
            <a:srgbClr val="6E8F7E"/>
          </a:solidFill>
          <a:ln/>
        </p:spPr>
      </p:sp>
      <p:sp>
        <p:nvSpPr>
          <p:cNvPr id="6" name="Shape 4"/>
          <p:cNvSpPr/>
          <p:nvPr/>
        </p:nvSpPr>
        <p:spPr>
          <a:xfrm rot="16200000">
            <a:off x="10735056" y="1408176"/>
            <a:ext cx="1207008" cy="1207008"/>
          </a:xfrm>
          <a:prstGeom prst="ellipse">
            <a:avLst/>
          </a:prstGeom>
          <a:solidFill>
            <a:srgbClr val="FFFFFF">
              <a:alpha val="10000"/>
            </a:srgbClr>
          </a:solidFill>
          <a:ln w="38100">
            <a:solidFill>
              <a:srgbClr val="E8B23A"/>
            </a:solidFill>
            <a:prstDash val="solid"/>
          </a:ln>
        </p:spPr>
      </p:sp>
      <p:sp>
        <p:nvSpPr>
          <p:cNvPr id="7" name="Shape 5"/>
          <p:cNvSpPr/>
          <p:nvPr/>
        </p:nvSpPr>
        <p:spPr>
          <a:xfrm rot="16200000">
            <a:off x="11292840" y="1965960"/>
            <a:ext cx="91440" cy="91440"/>
          </a:xfrm>
          <a:prstGeom prst="ellipse">
            <a:avLst/>
          </a:prstGeom>
          <a:solidFill>
            <a:srgbClr val="6E8F7E"/>
          </a:solidFill>
          <a:ln/>
        </p:spPr>
      </p:sp>
      <p:sp>
        <p:nvSpPr>
          <p:cNvPr id="8" name="Shape 6"/>
          <p:cNvSpPr/>
          <p:nvPr/>
        </p:nvSpPr>
        <p:spPr>
          <a:xfrm rot="16200000">
            <a:off x="8174736" y="3968496"/>
            <a:ext cx="1207008" cy="1207008"/>
          </a:xfrm>
          <a:prstGeom prst="ellipse">
            <a:avLst/>
          </a:prstGeom>
          <a:solidFill>
            <a:srgbClr val="FFFFFF">
              <a:alpha val="10000"/>
            </a:srgbClr>
          </a:solidFill>
          <a:ln w="38100">
            <a:solidFill>
              <a:srgbClr val="7FA98C"/>
            </a:solidFill>
            <a:prstDash val="solid"/>
          </a:ln>
        </p:spPr>
      </p:sp>
      <p:sp>
        <p:nvSpPr>
          <p:cNvPr id="9" name="Shape 7"/>
          <p:cNvSpPr/>
          <p:nvPr/>
        </p:nvSpPr>
        <p:spPr>
          <a:xfrm rot="16200000">
            <a:off x="8732520" y="4526280"/>
            <a:ext cx="91440" cy="91440"/>
          </a:xfrm>
          <a:prstGeom prst="ellipse">
            <a:avLst/>
          </a:prstGeom>
          <a:solidFill>
            <a:srgbClr val="6E8F7E"/>
          </a:solidFill>
          <a:ln/>
        </p:spPr>
      </p:sp>
      <p:sp>
        <p:nvSpPr>
          <p:cNvPr id="10" name="Shape 8"/>
          <p:cNvSpPr/>
          <p:nvPr/>
        </p:nvSpPr>
        <p:spPr>
          <a:xfrm rot="16200000">
            <a:off x="8151876" y="1410760"/>
            <a:ext cx="1207008" cy="1207008"/>
          </a:xfrm>
          <a:prstGeom prst="ellipse">
            <a:avLst/>
          </a:prstGeom>
          <a:solidFill>
            <a:srgbClr val="FFFFFF">
              <a:alpha val="10000"/>
            </a:srgbClr>
          </a:solidFill>
          <a:ln w="38100">
            <a:solidFill>
              <a:srgbClr val="E8B23A"/>
            </a:solidFill>
            <a:prstDash val="solid"/>
          </a:ln>
        </p:spPr>
      </p:sp>
      <p:sp>
        <p:nvSpPr>
          <p:cNvPr id="11" name="Shape 9"/>
          <p:cNvSpPr/>
          <p:nvPr/>
        </p:nvSpPr>
        <p:spPr>
          <a:xfrm rot="16200000">
            <a:off x="11292840" y="4526280"/>
            <a:ext cx="91440" cy="91440"/>
          </a:xfrm>
          <a:prstGeom prst="ellipse">
            <a:avLst/>
          </a:prstGeom>
          <a:solidFill>
            <a:srgbClr val="6E8F7E"/>
          </a:solidFill>
          <a:ln/>
        </p:spPr>
      </p:sp>
      <p:sp>
        <p:nvSpPr>
          <p:cNvPr id="12" name="Shape 10"/>
          <p:cNvSpPr/>
          <p:nvPr/>
        </p:nvSpPr>
        <p:spPr>
          <a:xfrm rot="16200000">
            <a:off x="9656064" y="3010205"/>
            <a:ext cx="804672" cy="563270"/>
          </a:xfrm>
          <a:prstGeom prst="roundRect">
            <a:avLst>
              <a:gd name="adj" fmla="val 9740"/>
            </a:avLst>
          </a:prstGeom>
          <a:solidFill>
            <a:srgbClr val="E8B23A"/>
          </a:solidFill>
          <a:ln/>
        </p:spPr>
      </p:sp>
      <p:sp>
        <p:nvSpPr>
          <p:cNvPr id="13" name="Text 11"/>
          <p:cNvSpPr/>
          <p:nvPr/>
        </p:nvSpPr>
        <p:spPr>
          <a:xfrm>
            <a:off x="566928" y="2194560"/>
            <a:ext cx="8229600" cy="914400"/>
          </a:xfrm>
          <a:prstGeom prst="rect">
            <a:avLst/>
          </a:prstGeom>
          <a:noFill/>
          <a:ln/>
        </p:spPr>
        <p:txBody>
          <a:bodyPr wrap="square" rtlCol="0" anchor="ctr"/>
          <a:lstStyle/>
          <a:p>
            <a:pPr marL="0" indent="0">
              <a:buNone/>
            </a:pPr>
            <a:r>
              <a:rPr lang="en-US" sz="4600" b="1">
                <a:solidFill>
                  <a:srgbClr val="FFFFFF"/>
                </a:solidFill>
                <a:latin typeface="Cambria" pitchFamily="34" charset="0"/>
                <a:ea typeface="Cambria" pitchFamily="34" charset="-122"/>
                <a:cs typeface="Cambria" pitchFamily="34" charset="-120"/>
              </a:rPr>
              <a:t>Thank </a:t>
            </a:r>
            <a:r>
              <a:rPr lang="en-US" sz="4600" b="1" smtClean="0">
                <a:solidFill>
                  <a:srgbClr val="FFFFFF"/>
                </a:solidFill>
                <a:latin typeface="Cambria" pitchFamily="34" charset="0"/>
                <a:ea typeface="Cambria" pitchFamily="34" charset="-122"/>
                <a:cs typeface="Cambria" pitchFamily="34" charset="-120"/>
              </a:rPr>
              <a:t>you!</a:t>
            </a:r>
            <a:endParaRPr lang="en-US" sz="4600" dirty="0"/>
          </a:p>
        </p:txBody>
      </p:sp>
      <p:sp>
        <p:nvSpPr>
          <p:cNvPr id="14" name="Text 12"/>
          <p:cNvSpPr/>
          <p:nvPr/>
        </p:nvSpPr>
        <p:spPr>
          <a:xfrm>
            <a:off x="566928" y="3200400"/>
            <a:ext cx="8229600" cy="548640"/>
          </a:xfrm>
          <a:prstGeom prst="rect">
            <a:avLst/>
          </a:prstGeom>
          <a:noFill/>
          <a:ln/>
        </p:spPr>
        <p:txBody>
          <a:bodyPr wrap="square" rtlCol="0" anchor="ctr"/>
          <a:lstStyle/>
          <a:p>
            <a:pPr marL="0" indent="0">
              <a:buNone/>
            </a:pPr>
            <a:r>
              <a:rPr lang="en-US" sz="2000" dirty="0">
                <a:solidFill>
                  <a:srgbClr val="E8B23A"/>
                </a:solidFill>
                <a:latin typeface="Calibri" pitchFamily="34" charset="0"/>
                <a:ea typeface="Calibri" pitchFamily="34" charset="-122"/>
                <a:cs typeface="Calibri" pitchFamily="34" charset="-120"/>
              </a:rPr>
              <a:t>Questions &amp; discussion</a:t>
            </a:r>
            <a:endParaRPr lang="en-US" sz="2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2743200"/>
            <a:ext cx="5486400" cy="457200"/>
          </a:xfrm>
          <a:prstGeom prst="rect">
            <a:avLst/>
          </a:prstGeom>
          <a:noFill/>
          <a:ln/>
        </p:spPr>
        <p:txBody>
          <a:bodyPr wrap="square" rtlCol="0" anchor="ctr"/>
          <a:lstStyle/>
          <a:p>
            <a:pPr marL="0" indent="0">
              <a:buNone/>
            </a:pPr>
            <a:r>
              <a:rPr lang="en-US" sz="1500" b="1" kern="0" spc="400" dirty="0">
                <a:solidFill>
                  <a:srgbClr val="E8B23A"/>
                </a:solidFill>
                <a:latin typeface="Calibri" pitchFamily="34" charset="0"/>
                <a:ea typeface="Calibri" pitchFamily="34" charset="-122"/>
                <a:cs typeface="Calibri" pitchFamily="34" charset="-120"/>
              </a:rPr>
              <a:t>BACKUP</a:t>
            </a:r>
            <a:endParaRPr lang="en-US" sz="1500" dirty="0"/>
          </a:p>
        </p:txBody>
      </p:sp>
      <p:sp>
        <p:nvSpPr>
          <p:cNvPr id="3" name="Text 1"/>
          <p:cNvSpPr/>
          <p:nvPr/>
        </p:nvSpPr>
        <p:spPr>
          <a:xfrm>
            <a:off x="566928" y="3154680"/>
            <a:ext cx="8229600" cy="731520"/>
          </a:xfrm>
          <a:prstGeom prst="rect">
            <a:avLst/>
          </a:prstGeom>
          <a:noFill/>
          <a:ln/>
        </p:spPr>
        <p:txBody>
          <a:bodyPr wrap="square" rtlCol="0" anchor="ctr"/>
          <a:lstStyle/>
          <a:p>
            <a:pPr marL="0" indent="0">
              <a:buNone/>
            </a:pPr>
            <a:r>
              <a:rPr lang="en-US" sz="3000" b="1" dirty="0">
                <a:solidFill>
                  <a:srgbClr val="17251E"/>
                </a:solidFill>
                <a:latin typeface="Cambria" pitchFamily="34" charset="0"/>
                <a:ea typeface="Cambria" pitchFamily="34" charset="-122"/>
                <a:cs typeface="Cambria" pitchFamily="34" charset="-120"/>
              </a:rPr>
              <a:t>Supporting material for Q&amp;A</a:t>
            </a:r>
            <a:endParaRPr lang="en-US" sz="3000" dirty="0"/>
          </a:p>
        </p:txBody>
      </p:sp>
      <p:sp>
        <p:nvSpPr>
          <p:cNvPr id="4" name="Text 2"/>
          <p:cNvSpPr/>
          <p:nvPr/>
        </p:nvSpPr>
        <p:spPr>
          <a:xfrm>
            <a:off x="566928" y="3931920"/>
            <a:ext cx="8686800" cy="640080"/>
          </a:xfrm>
          <a:prstGeom prst="rect">
            <a:avLst/>
          </a:prstGeom>
          <a:noFill/>
          <a:ln/>
        </p:spPr>
        <p:txBody>
          <a:bodyPr wrap="square" rtlCol="0" anchor="ctr"/>
          <a:lstStyle/>
          <a:p>
            <a:pPr marL="0" indent="0">
              <a:lnSpc>
                <a:spcPts val="2000"/>
              </a:lnSpc>
              <a:buNone/>
            </a:pPr>
            <a:r>
              <a:rPr lang="en-US" sz="1400" dirty="0">
                <a:solidFill>
                  <a:srgbClr val="6E8079"/>
                </a:solidFill>
                <a:latin typeface="Calibri" pitchFamily="34" charset="0"/>
                <a:ea typeface="Calibri" pitchFamily="34" charset="-122"/>
                <a:cs typeface="Calibri" pitchFamily="34" charset="-120"/>
              </a:rPr>
              <a:t>Detail slides held in reserve — quaternion maths, full MCU comparison, magnetometer calibration, and the thrust budget.</a:t>
            </a:r>
            <a:endParaRPr lang="en-US" sz="1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DESIGN DECISION</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itchFamily="34" charset="0"/>
                <a:ea typeface="Cambria" pitchFamily="34" charset="-122"/>
                <a:cs typeface="Cambria" pitchFamily="34" charset="-120"/>
              </a:rPr>
              <a:t>Choosing the microcontroller</a:t>
            </a:r>
            <a:endParaRPr lang="en-US" sz="3400" dirty="0"/>
          </a:p>
        </p:txBody>
      </p:sp>
      <p:sp>
        <p:nvSpPr>
          <p:cNvPr id="4" name="Shape 2"/>
          <p:cNvSpPr/>
          <p:nvPr/>
        </p:nvSpPr>
        <p:spPr>
          <a:xfrm>
            <a:off x="566928" y="1965960"/>
            <a:ext cx="2286000" cy="658368"/>
          </a:xfrm>
          <a:prstGeom prst="rect">
            <a:avLst/>
          </a:prstGeom>
          <a:solidFill>
            <a:srgbClr val="0E3128"/>
          </a:solidFill>
          <a:ln w="12700">
            <a:solidFill>
              <a:srgbClr val="D6DED8"/>
            </a:solidFill>
            <a:prstDash val="solid"/>
          </a:ln>
        </p:spPr>
      </p:sp>
      <p:sp>
        <p:nvSpPr>
          <p:cNvPr id="5" name="Text 3"/>
          <p:cNvSpPr/>
          <p:nvPr/>
        </p:nvSpPr>
        <p:spPr>
          <a:xfrm>
            <a:off x="704088" y="1965960"/>
            <a:ext cx="2011680" cy="658368"/>
          </a:xfrm>
          <a:prstGeom prst="rect">
            <a:avLst/>
          </a:prstGeom>
          <a:noFill/>
          <a:ln/>
        </p:spPr>
        <p:txBody>
          <a:bodyPr wrap="square" rtlCol="0" anchor="ctr"/>
          <a:lstStyle/>
          <a:p>
            <a:pPr marL="0" indent="0" algn="l">
              <a:buNone/>
            </a:pPr>
            <a:endParaRPr lang="en-US" sz="1350" dirty="0"/>
          </a:p>
        </p:txBody>
      </p:sp>
      <p:sp>
        <p:nvSpPr>
          <p:cNvPr id="6" name="Shape 4"/>
          <p:cNvSpPr/>
          <p:nvPr/>
        </p:nvSpPr>
        <p:spPr>
          <a:xfrm>
            <a:off x="2852928" y="1965960"/>
            <a:ext cx="2923946" cy="658368"/>
          </a:xfrm>
          <a:prstGeom prst="rect">
            <a:avLst/>
          </a:prstGeom>
          <a:solidFill>
            <a:srgbClr val="0E3128"/>
          </a:solidFill>
          <a:ln w="12700">
            <a:solidFill>
              <a:srgbClr val="D6DED8"/>
            </a:solidFill>
            <a:prstDash val="solid"/>
          </a:ln>
        </p:spPr>
      </p:sp>
      <p:sp>
        <p:nvSpPr>
          <p:cNvPr id="7" name="Text 5"/>
          <p:cNvSpPr/>
          <p:nvPr/>
        </p:nvSpPr>
        <p:spPr>
          <a:xfrm>
            <a:off x="2990088" y="1965960"/>
            <a:ext cx="2649626" cy="658368"/>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Arduino Uno</a:t>
            </a:r>
            <a:endParaRPr lang="en-US" sz="1350" dirty="0"/>
          </a:p>
        </p:txBody>
      </p:sp>
      <p:sp>
        <p:nvSpPr>
          <p:cNvPr id="8" name="Shape 6"/>
          <p:cNvSpPr/>
          <p:nvPr/>
        </p:nvSpPr>
        <p:spPr>
          <a:xfrm>
            <a:off x="5776874" y="1965960"/>
            <a:ext cx="2923946" cy="658368"/>
          </a:xfrm>
          <a:prstGeom prst="rect">
            <a:avLst/>
          </a:prstGeom>
          <a:solidFill>
            <a:srgbClr val="0E3128"/>
          </a:solidFill>
          <a:ln w="12700">
            <a:solidFill>
              <a:srgbClr val="D6DED8"/>
            </a:solidFill>
            <a:prstDash val="solid"/>
          </a:ln>
        </p:spPr>
      </p:sp>
      <p:sp>
        <p:nvSpPr>
          <p:cNvPr id="9" name="Text 7"/>
          <p:cNvSpPr/>
          <p:nvPr/>
        </p:nvSpPr>
        <p:spPr>
          <a:xfrm>
            <a:off x="5914034" y="1965960"/>
            <a:ext cx="2649626" cy="658368"/>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STM32F103</a:t>
            </a:r>
            <a:endParaRPr lang="en-US" sz="1350" dirty="0"/>
          </a:p>
        </p:txBody>
      </p:sp>
      <p:sp>
        <p:nvSpPr>
          <p:cNvPr id="10" name="Shape 8"/>
          <p:cNvSpPr/>
          <p:nvPr/>
        </p:nvSpPr>
        <p:spPr>
          <a:xfrm>
            <a:off x="8700821" y="1965960"/>
            <a:ext cx="2923946" cy="658368"/>
          </a:xfrm>
          <a:prstGeom prst="rect">
            <a:avLst/>
          </a:prstGeom>
          <a:solidFill>
            <a:srgbClr val="2E6B4F"/>
          </a:solidFill>
          <a:ln w="12700">
            <a:solidFill>
              <a:srgbClr val="D6DED8"/>
            </a:solidFill>
            <a:prstDash val="solid"/>
          </a:ln>
        </p:spPr>
      </p:sp>
      <p:sp>
        <p:nvSpPr>
          <p:cNvPr id="11" name="Text 9"/>
          <p:cNvSpPr/>
          <p:nvPr/>
        </p:nvSpPr>
        <p:spPr>
          <a:xfrm>
            <a:off x="8837981" y="1965960"/>
            <a:ext cx="2649626" cy="658368"/>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STM32F411</a:t>
            </a:r>
            <a:endParaRPr lang="en-US" sz="1350" dirty="0"/>
          </a:p>
        </p:txBody>
      </p:sp>
      <p:sp>
        <p:nvSpPr>
          <p:cNvPr id="12" name="Shape 10"/>
          <p:cNvSpPr/>
          <p:nvPr/>
        </p:nvSpPr>
        <p:spPr>
          <a:xfrm>
            <a:off x="566928" y="2624328"/>
            <a:ext cx="2286000" cy="658368"/>
          </a:xfrm>
          <a:prstGeom prst="rect">
            <a:avLst/>
          </a:prstGeom>
          <a:solidFill>
            <a:srgbClr val="FFFFFF"/>
          </a:solidFill>
          <a:ln w="12700">
            <a:solidFill>
              <a:srgbClr val="D6DED8"/>
            </a:solidFill>
            <a:prstDash val="solid"/>
          </a:ln>
        </p:spPr>
      </p:sp>
      <p:sp>
        <p:nvSpPr>
          <p:cNvPr id="13" name="Text 11"/>
          <p:cNvSpPr/>
          <p:nvPr/>
        </p:nvSpPr>
        <p:spPr>
          <a:xfrm>
            <a:off x="704088" y="2624328"/>
            <a:ext cx="2011680" cy="658368"/>
          </a:xfrm>
          <a:prstGeom prst="rect">
            <a:avLst/>
          </a:prstGeom>
          <a:noFill/>
          <a:ln/>
        </p:spPr>
        <p:txBody>
          <a:bodyPr wrap="square" rtlCol="0" anchor="ctr"/>
          <a:lstStyle/>
          <a:p>
            <a:pPr marL="0" indent="0" algn="l">
              <a:buNone/>
            </a:pPr>
            <a:r>
              <a:rPr lang="en-US" sz="1250" b="1" dirty="0">
                <a:solidFill>
                  <a:srgbClr val="17251E"/>
                </a:solidFill>
                <a:latin typeface="Calibri" pitchFamily="34" charset="0"/>
                <a:ea typeface="Calibri" pitchFamily="34" charset="-122"/>
                <a:cs typeface="Calibri" pitchFamily="34" charset="-120"/>
              </a:rPr>
              <a:t>Core</a:t>
            </a:r>
            <a:endParaRPr lang="en-US" sz="1250" dirty="0"/>
          </a:p>
        </p:txBody>
      </p:sp>
      <p:sp>
        <p:nvSpPr>
          <p:cNvPr id="14" name="Shape 12"/>
          <p:cNvSpPr/>
          <p:nvPr/>
        </p:nvSpPr>
        <p:spPr>
          <a:xfrm>
            <a:off x="2852928" y="2624328"/>
            <a:ext cx="2923946" cy="658368"/>
          </a:xfrm>
          <a:prstGeom prst="rect">
            <a:avLst/>
          </a:prstGeom>
          <a:solidFill>
            <a:srgbClr val="FFFFFF"/>
          </a:solidFill>
          <a:ln w="12700">
            <a:solidFill>
              <a:srgbClr val="D6DED8"/>
            </a:solidFill>
            <a:prstDash val="solid"/>
          </a:ln>
        </p:spPr>
      </p:sp>
      <p:sp>
        <p:nvSpPr>
          <p:cNvPr id="15" name="Text 13"/>
          <p:cNvSpPr/>
          <p:nvPr/>
        </p:nvSpPr>
        <p:spPr>
          <a:xfrm>
            <a:off x="2990088" y="2624328"/>
            <a:ext cx="2649626" cy="658368"/>
          </a:xfrm>
          <a:prstGeom prst="rect">
            <a:avLst/>
          </a:prstGeom>
          <a:noFill/>
          <a:ln/>
        </p:spPr>
        <p:txBody>
          <a:bodyPr wrap="square" rtlCol="0" anchor="ctr"/>
          <a:lstStyle/>
          <a:p>
            <a:pPr marL="0" indent="0" algn="ctr">
              <a:buNone/>
            </a:pPr>
            <a:r>
              <a:rPr lang="en-US" sz="1250" dirty="0">
                <a:solidFill>
                  <a:srgbClr val="17251E"/>
                </a:solidFill>
                <a:latin typeface="Calibri" pitchFamily="34" charset="0"/>
                <a:ea typeface="Calibri" pitchFamily="34" charset="-122"/>
                <a:cs typeface="Calibri" pitchFamily="34" charset="-120"/>
              </a:rPr>
              <a:t>8-bit · 16 MHz</a:t>
            </a:r>
            <a:endParaRPr lang="en-US" sz="1250" dirty="0"/>
          </a:p>
        </p:txBody>
      </p:sp>
      <p:sp>
        <p:nvSpPr>
          <p:cNvPr id="16" name="Shape 14"/>
          <p:cNvSpPr/>
          <p:nvPr/>
        </p:nvSpPr>
        <p:spPr>
          <a:xfrm>
            <a:off x="5776874" y="2624328"/>
            <a:ext cx="2923946" cy="658368"/>
          </a:xfrm>
          <a:prstGeom prst="rect">
            <a:avLst/>
          </a:prstGeom>
          <a:solidFill>
            <a:srgbClr val="FFFFFF"/>
          </a:solidFill>
          <a:ln w="12700">
            <a:solidFill>
              <a:srgbClr val="D6DED8"/>
            </a:solidFill>
            <a:prstDash val="solid"/>
          </a:ln>
        </p:spPr>
      </p:sp>
      <p:sp>
        <p:nvSpPr>
          <p:cNvPr id="17" name="Text 15"/>
          <p:cNvSpPr/>
          <p:nvPr/>
        </p:nvSpPr>
        <p:spPr>
          <a:xfrm>
            <a:off x="5914034" y="2624328"/>
            <a:ext cx="2649626" cy="658368"/>
          </a:xfrm>
          <a:prstGeom prst="rect">
            <a:avLst/>
          </a:prstGeom>
          <a:noFill/>
          <a:ln/>
        </p:spPr>
        <p:txBody>
          <a:bodyPr wrap="square" rtlCol="0" anchor="ctr"/>
          <a:lstStyle/>
          <a:p>
            <a:pPr marL="0" indent="0" algn="ctr">
              <a:buNone/>
            </a:pPr>
            <a:r>
              <a:rPr lang="en-US" sz="1250" dirty="0">
                <a:solidFill>
                  <a:srgbClr val="17251E"/>
                </a:solidFill>
                <a:latin typeface="Calibri" pitchFamily="34" charset="0"/>
                <a:ea typeface="Calibri" pitchFamily="34" charset="-122"/>
                <a:cs typeface="Calibri" pitchFamily="34" charset="-120"/>
              </a:rPr>
              <a:t>Cortex-M3 · 72 MHz</a:t>
            </a:r>
            <a:endParaRPr lang="en-US" sz="1250" dirty="0"/>
          </a:p>
        </p:txBody>
      </p:sp>
      <p:sp>
        <p:nvSpPr>
          <p:cNvPr id="18" name="Shape 16"/>
          <p:cNvSpPr/>
          <p:nvPr/>
        </p:nvSpPr>
        <p:spPr>
          <a:xfrm>
            <a:off x="8700821" y="2624328"/>
            <a:ext cx="2923946" cy="658368"/>
          </a:xfrm>
          <a:prstGeom prst="rect">
            <a:avLst/>
          </a:prstGeom>
          <a:solidFill>
            <a:srgbClr val="EFF6E9"/>
          </a:solidFill>
          <a:ln w="12700">
            <a:solidFill>
              <a:srgbClr val="D6DED8"/>
            </a:solidFill>
            <a:prstDash val="solid"/>
          </a:ln>
        </p:spPr>
      </p:sp>
      <p:sp>
        <p:nvSpPr>
          <p:cNvPr id="19" name="Text 17"/>
          <p:cNvSpPr/>
          <p:nvPr/>
        </p:nvSpPr>
        <p:spPr>
          <a:xfrm>
            <a:off x="8837981" y="2624328"/>
            <a:ext cx="2649626" cy="658368"/>
          </a:xfrm>
          <a:prstGeom prst="rect">
            <a:avLst/>
          </a:prstGeom>
          <a:noFill/>
          <a:ln/>
        </p:spPr>
        <p:txBody>
          <a:bodyPr wrap="square" rtlCol="0" anchor="ctr"/>
          <a:lstStyle/>
          <a:p>
            <a:pPr marL="0" indent="0" algn="ctr">
              <a:buNone/>
            </a:pPr>
            <a:r>
              <a:rPr lang="en-US" sz="1250" b="1" dirty="0">
                <a:solidFill>
                  <a:srgbClr val="2E6B4F"/>
                </a:solidFill>
                <a:latin typeface="Calibri" pitchFamily="34" charset="0"/>
                <a:ea typeface="Calibri" pitchFamily="34" charset="-122"/>
                <a:cs typeface="Calibri" pitchFamily="34" charset="-120"/>
              </a:rPr>
              <a:t>Cortex-M4 · 100 MHz</a:t>
            </a:r>
            <a:endParaRPr lang="en-US" sz="1250" dirty="0"/>
          </a:p>
        </p:txBody>
      </p:sp>
      <p:sp>
        <p:nvSpPr>
          <p:cNvPr id="20" name="Shape 18"/>
          <p:cNvSpPr/>
          <p:nvPr/>
        </p:nvSpPr>
        <p:spPr>
          <a:xfrm>
            <a:off x="566928" y="3282696"/>
            <a:ext cx="2286000" cy="658368"/>
          </a:xfrm>
          <a:prstGeom prst="rect">
            <a:avLst/>
          </a:prstGeom>
          <a:solidFill>
            <a:srgbClr val="FFFFFF"/>
          </a:solidFill>
          <a:ln w="12700">
            <a:solidFill>
              <a:srgbClr val="D6DED8"/>
            </a:solidFill>
            <a:prstDash val="solid"/>
          </a:ln>
        </p:spPr>
      </p:sp>
      <p:sp>
        <p:nvSpPr>
          <p:cNvPr id="21" name="Text 19"/>
          <p:cNvSpPr/>
          <p:nvPr/>
        </p:nvSpPr>
        <p:spPr>
          <a:xfrm>
            <a:off x="704088" y="3282696"/>
            <a:ext cx="2011680" cy="658368"/>
          </a:xfrm>
          <a:prstGeom prst="rect">
            <a:avLst/>
          </a:prstGeom>
          <a:noFill/>
          <a:ln/>
        </p:spPr>
        <p:txBody>
          <a:bodyPr wrap="square" rtlCol="0" anchor="ctr"/>
          <a:lstStyle/>
          <a:p>
            <a:pPr marL="0" indent="0" algn="l">
              <a:buNone/>
            </a:pPr>
            <a:r>
              <a:rPr lang="en-US" sz="1250" b="1" dirty="0">
                <a:solidFill>
                  <a:srgbClr val="17251E"/>
                </a:solidFill>
                <a:latin typeface="Calibri" pitchFamily="34" charset="0"/>
                <a:ea typeface="Calibri" pitchFamily="34" charset="-122"/>
                <a:cs typeface="Calibri" pitchFamily="34" charset="-120"/>
              </a:rPr>
              <a:t>Floating point</a:t>
            </a:r>
            <a:endParaRPr lang="en-US" sz="1250" dirty="0"/>
          </a:p>
        </p:txBody>
      </p:sp>
      <p:sp>
        <p:nvSpPr>
          <p:cNvPr id="22" name="Shape 20"/>
          <p:cNvSpPr/>
          <p:nvPr/>
        </p:nvSpPr>
        <p:spPr>
          <a:xfrm>
            <a:off x="2852928" y="3282696"/>
            <a:ext cx="2923946" cy="658368"/>
          </a:xfrm>
          <a:prstGeom prst="rect">
            <a:avLst/>
          </a:prstGeom>
          <a:solidFill>
            <a:srgbClr val="F0F3F0"/>
          </a:solidFill>
          <a:ln w="12700">
            <a:solidFill>
              <a:srgbClr val="D6DED8"/>
            </a:solidFill>
            <a:prstDash val="solid"/>
          </a:ln>
        </p:spPr>
      </p:sp>
      <p:sp>
        <p:nvSpPr>
          <p:cNvPr id="23" name="Text 21"/>
          <p:cNvSpPr/>
          <p:nvPr/>
        </p:nvSpPr>
        <p:spPr>
          <a:xfrm>
            <a:off x="2990088" y="3282696"/>
            <a:ext cx="2649626" cy="658368"/>
          </a:xfrm>
          <a:prstGeom prst="rect">
            <a:avLst/>
          </a:prstGeom>
          <a:noFill/>
          <a:ln/>
        </p:spPr>
        <p:txBody>
          <a:bodyPr wrap="square" rtlCol="0" anchor="ctr"/>
          <a:lstStyle/>
          <a:p>
            <a:pPr marL="0" indent="0" algn="ctr">
              <a:buNone/>
            </a:pPr>
            <a:r>
              <a:rPr lang="en-US" sz="1250" dirty="0">
                <a:solidFill>
                  <a:srgbClr val="17251E"/>
                </a:solidFill>
                <a:latin typeface="Calibri" pitchFamily="34" charset="0"/>
                <a:ea typeface="Calibri" pitchFamily="34" charset="-122"/>
                <a:cs typeface="Calibri" pitchFamily="34" charset="-120"/>
              </a:rPr>
              <a:t>software</a:t>
            </a:r>
            <a:endParaRPr lang="en-US" sz="1250" dirty="0"/>
          </a:p>
        </p:txBody>
      </p:sp>
      <p:sp>
        <p:nvSpPr>
          <p:cNvPr id="24" name="Shape 22"/>
          <p:cNvSpPr/>
          <p:nvPr/>
        </p:nvSpPr>
        <p:spPr>
          <a:xfrm>
            <a:off x="5776874" y="3282696"/>
            <a:ext cx="2923946" cy="658368"/>
          </a:xfrm>
          <a:prstGeom prst="rect">
            <a:avLst/>
          </a:prstGeom>
          <a:solidFill>
            <a:srgbClr val="F0F3F0"/>
          </a:solidFill>
          <a:ln w="12700">
            <a:solidFill>
              <a:srgbClr val="D6DED8"/>
            </a:solidFill>
            <a:prstDash val="solid"/>
          </a:ln>
        </p:spPr>
      </p:sp>
      <p:sp>
        <p:nvSpPr>
          <p:cNvPr id="25" name="Text 23"/>
          <p:cNvSpPr/>
          <p:nvPr/>
        </p:nvSpPr>
        <p:spPr>
          <a:xfrm>
            <a:off x="5914034" y="3282696"/>
            <a:ext cx="2649626" cy="658368"/>
          </a:xfrm>
          <a:prstGeom prst="rect">
            <a:avLst/>
          </a:prstGeom>
          <a:noFill/>
          <a:ln/>
        </p:spPr>
        <p:txBody>
          <a:bodyPr wrap="square" rtlCol="0" anchor="ctr"/>
          <a:lstStyle/>
          <a:p>
            <a:pPr marL="0" indent="0" algn="ctr">
              <a:buNone/>
            </a:pPr>
            <a:r>
              <a:rPr lang="en-US" sz="1250" dirty="0">
                <a:solidFill>
                  <a:srgbClr val="17251E"/>
                </a:solidFill>
                <a:latin typeface="Calibri" pitchFamily="34" charset="0"/>
                <a:ea typeface="Calibri" pitchFamily="34" charset="-122"/>
                <a:cs typeface="Calibri" pitchFamily="34" charset="-120"/>
              </a:rPr>
              <a:t>software</a:t>
            </a:r>
            <a:endParaRPr lang="en-US" sz="1250" dirty="0"/>
          </a:p>
        </p:txBody>
      </p:sp>
      <p:sp>
        <p:nvSpPr>
          <p:cNvPr id="26" name="Shape 24"/>
          <p:cNvSpPr/>
          <p:nvPr/>
        </p:nvSpPr>
        <p:spPr>
          <a:xfrm>
            <a:off x="8700821" y="3282696"/>
            <a:ext cx="2923946" cy="658368"/>
          </a:xfrm>
          <a:prstGeom prst="rect">
            <a:avLst/>
          </a:prstGeom>
          <a:solidFill>
            <a:srgbClr val="EFF6E9"/>
          </a:solidFill>
          <a:ln w="12700">
            <a:solidFill>
              <a:srgbClr val="D6DED8"/>
            </a:solidFill>
            <a:prstDash val="solid"/>
          </a:ln>
        </p:spPr>
      </p:sp>
      <p:sp>
        <p:nvSpPr>
          <p:cNvPr id="27" name="Text 25"/>
          <p:cNvSpPr/>
          <p:nvPr/>
        </p:nvSpPr>
        <p:spPr>
          <a:xfrm>
            <a:off x="8837981" y="3282696"/>
            <a:ext cx="2649626" cy="658368"/>
          </a:xfrm>
          <a:prstGeom prst="rect">
            <a:avLst/>
          </a:prstGeom>
          <a:noFill/>
          <a:ln/>
        </p:spPr>
        <p:txBody>
          <a:bodyPr wrap="square" rtlCol="0" anchor="ctr"/>
          <a:lstStyle/>
          <a:p>
            <a:pPr marL="0" indent="0" algn="ctr">
              <a:buNone/>
            </a:pPr>
            <a:r>
              <a:rPr lang="en-US" sz="1250" b="1" dirty="0">
                <a:solidFill>
                  <a:srgbClr val="2E6B4F"/>
                </a:solidFill>
                <a:latin typeface="Calibri" pitchFamily="34" charset="0"/>
                <a:ea typeface="Calibri" pitchFamily="34" charset="-122"/>
                <a:cs typeface="Calibri" pitchFamily="34" charset="-120"/>
              </a:rPr>
              <a:t>hardware FPU</a:t>
            </a:r>
            <a:endParaRPr lang="en-US" sz="1250" dirty="0"/>
          </a:p>
        </p:txBody>
      </p:sp>
      <p:sp>
        <p:nvSpPr>
          <p:cNvPr id="28" name="Shape 26"/>
          <p:cNvSpPr/>
          <p:nvPr/>
        </p:nvSpPr>
        <p:spPr>
          <a:xfrm>
            <a:off x="566928" y="3941064"/>
            <a:ext cx="2286000" cy="658368"/>
          </a:xfrm>
          <a:prstGeom prst="rect">
            <a:avLst/>
          </a:prstGeom>
          <a:solidFill>
            <a:srgbClr val="FFFFFF"/>
          </a:solidFill>
          <a:ln w="12700">
            <a:solidFill>
              <a:srgbClr val="D6DED8"/>
            </a:solidFill>
            <a:prstDash val="solid"/>
          </a:ln>
        </p:spPr>
      </p:sp>
      <p:sp>
        <p:nvSpPr>
          <p:cNvPr id="29" name="Text 27"/>
          <p:cNvSpPr/>
          <p:nvPr/>
        </p:nvSpPr>
        <p:spPr>
          <a:xfrm>
            <a:off x="704088" y="3941064"/>
            <a:ext cx="2011680" cy="658368"/>
          </a:xfrm>
          <a:prstGeom prst="rect">
            <a:avLst/>
          </a:prstGeom>
          <a:noFill/>
          <a:ln/>
        </p:spPr>
        <p:txBody>
          <a:bodyPr wrap="square" rtlCol="0" anchor="ctr"/>
          <a:lstStyle/>
          <a:p>
            <a:pPr marL="0" indent="0" algn="l">
              <a:buNone/>
            </a:pPr>
            <a:r>
              <a:rPr lang="en-US" sz="1250" b="1" dirty="0">
                <a:solidFill>
                  <a:srgbClr val="17251E"/>
                </a:solidFill>
                <a:latin typeface="Calibri" pitchFamily="34" charset="0"/>
                <a:ea typeface="Calibri" pitchFamily="34" charset="-122"/>
                <a:cs typeface="Calibri" pitchFamily="34" charset="-120"/>
              </a:rPr>
              <a:t>Peripherals</a:t>
            </a:r>
            <a:endParaRPr lang="en-US" sz="1250" dirty="0"/>
          </a:p>
        </p:txBody>
      </p:sp>
      <p:sp>
        <p:nvSpPr>
          <p:cNvPr id="30" name="Shape 28"/>
          <p:cNvSpPr/>
          <p:nvPr/>
        </p:nvSpPr>
        <p:spPr>
          <a:xfrm>
            <a:off x="2852928" y="3941064"/>
            <a:ext cx="2923946" cy="658368"/>
          </a:xfrm>
          <a:prstGeom prst="rect">
            <a:avLst/>
          </a:prstGeom>
          <a:solidFill>
            <a:srgbClr val="FFFFFF"/>
          </a:solidFill>
          <a:ln w="12700">
            <a:solidFill>
              <a:srgbClr val="D6DED8"/>
            </a:solidFill>
            <a:prstDash val="solid"/>
          </a:ln>
        </p:spPr>
      </p:sp>
      <p:sp>
        <p:nvSpPr>
          <p:cNvPr id="31" name="Text 29"/>
          <p:cNvSpPr/>
          <p:nvPr/>
        </p:nvSpPr>
        <p:spPr>
          <a:xfrm>
            <a:off x="2990088" y="3941064"/>
            <a:ext cx="2649626" cy="658368"/>
          </a:xfrm>
          <a:prstGeom prst="rect">
            <a:avLst/>
          </a:prstGeom>
          <a:noFill/>
          <a:ln/>
        </p:spPr>
        <p:txBody>
          <a:bodyPr wrap="square" rtlCol="0" anchor="ctr"/>
          <a:lstStyle/>
          <a:p>
            <a:pPr marL="0" indent="0" algn="ctr">
              <a:buNone/>
            </a:pPr>
            <a:r>
              <a:rPr lang="en-US" sz="1250" dirty="0">
                <a:solidFill>
                  <a:srgbClr val="17251E"/>
                </a:solidFill>
                <a:latin typeface="Calibri" pitchFamily="34" charset="0"/>
                <a:ea typeface="Calibri" pitchFamily="34" charset="-122"/>
                <a:cs typeface="Calibri" pitchFamily="34" charset="-120"/>
              </a:rPr>
              <a:t>limited</a:t>
            </a:r>
            <a:endParaRPr lang="en-US" sz="1250" dirty="0"/>
          </a:p>
        </p:txBody>
      </p:sp>
      <p:sp>
        <p:nvSpPr>
          <p:cNvPr id="32" name="Shape 30"/>
          <p:cNvSpPr/>
          <p:nvPr/>
        </p:nvSpPr>
        <p:spPr>
          <a:xfrm>
            <a:off x="5776874" y="3941064"/>
            <a:ext cx="2923946" cy="658368"/>
          </a:xfrm>
          <a:prstGeom prst="rect">
            <a:avLst/>
          </a:prstGeom>
          <a:solidFill>
            <a:srgbClr val="FFFFFF"/>
          </a:solidFill>
          <a:ln w="12700">
            <a:solidFill>
              <a:srgbClr val="D6DED8"/>
            </a:solidFill>
            <a:prstDash val="solid"/>
          </a:ln>
        </p:spPr>
      </p:sp>
      <p:sp>
        <p:nvSpPr>
          <p:cNvPr id="33" name="Text 31"/>
          <p:cNvSpPr/>
          <p:nvPr/>
        </p:nvSpPr>
        <p:spPr>
          <a:xfrm>
            <a:off x="5914034" y="3941064"/>
            <a:ext cx="2649626" cy="658368"/>
          </a:xfrm>
          <a:prstGeom prst="rect">
            <a:avLst/>
          </a:prstGeom>
          <a:noFill/>
          <a:ln/>
        </p:spPr>
        <p:txBody>
          <a:bodyPr wrap="square" rtlCol="0" anchor="ctr"/>
          <a:lstStyle/>
          <a:p>
            <a:pPr marL="0" indent="0" algn="ctr">
              <a:buNone/>
            </a:pPr>
            <a:r>
              <a:rPr lang="en-US" sz="1250" dirty="0">
                <a:solidFill>
                  <a:srgbClr val="17251E"/>
                </a:solidFill>
                <a:latin typeface="Calibri" pitchFamily="34" charset="0"/>
                <a:ea typeface="Calibri" pitchFamily="34" charset="-122"/>
                <a:cs typeface="Calibri" pitchFamily="34" charset="-120"/>
              </a:rPr>
              <a:t>good</a:t>
            </a:r>
            <a:endParaRPr lang="en-US" sz="1250" dirty="0"/>
          </a:p>
        </p:txBody>
      </p:sp>
      <p:sp>
        <p:nvSpPr>
          <p:cNvPr id="34" name="Shape 32"/>
          <p:cNvSpPr/>
          <p:nvPr/>
        </p:nvSpPr>
        <p:spPr>
          <a:xfrm>
            <a:off x="8700821" y="3941064"/>
            <a:ext cx="2923946" cy="658368"/>
          </a:xfrm>
          <a:prstGeom prst="rect">
            <a:avLst/>
          </a:prstGeom>
          <a:solidFill>
            <a:srgbClr val="EFF6E9"/>
          </a:solidFill>
          <a:ln w="12700">
            <a:solidFill>
              <a:srgbClr val="D6DED8"/>
            </a:solidFill>
            <a:prstDash val="solid"/>
          </a:ln>
        </p:spPr>
      </p:sp>
      <p:sp>
        <p:nvSpPr>
          <p:cNvPr id="35" name="Text 33"/>
          <p:cNvSpPr/>
          <p:nvPr/>
        </p:nvSpPr>
        <p:spPr>
          <a:xfrm>
            <a:off x="8837981" y="3941064"/>
            <a:ext cx="2649626" cy="658368"/>
          </a:xfrm>
          <a:prstGeom prst="rect">
            <a:avLst/>
          </a:prstGeom>
          <a:noFill/>
          <a:ln/>
        </p:spPr>
        <p:txBody>
          <a:bodyPr wrap="square" rtlCol="0" anchor="ctr"/>
          <a:lstStyle/>
          <a:p>
            <a:pPr marL="0" indent="0" algn="ctr">
              <a:buNone/>
            </a:pPr>
            <a:r>
              <a:rPr lang="en-US" sz="1250" b="1" dirty="0">
                <a:solidFill>
                  <a:srgbClr val="2E6B4F"/>
                </a:solidFill>
                <a:latin typeface="Calibri" pitchFamily="34" charset="0"/>
                <a:ea typeface="Calibri" pitchFamily="34" charset="-122"/>
                <a:cs typeface="Calibri" pitchFamily="34" charset="-120"/>
              </a:rPr>
              <a:t>rich (SPI/UART/timers)</a:t>
            </a:r>
            <a:endParaRPr lang="en-US" sz="1250" dirty="0"/>
          </a:p>
        </p:txBody>
      </p:sp>
      <p:sp>
        <p:nvSpPr>
          <p:cNvPr id="36" name="Shape 34"/>
          <p:cNvSpPr/>
          <p:nvPr/>
        </p:nvSpPr>
        <p:spPr>
          <a:xfrm>
            <a:off x="566928" y="4599432"/>
            <a:ext cx="2286000" cy="658368"/>
          </a:xfrm>
          <a:prstGeom prst="rect">
            <a:avLst/>
          </a:prstGeom>
          <a:solidFill>
            <a:srgbClr val="FFFFFF"/>
          </a:solidFill>
          <a:ln w="12700">
            <a:solidFill>
              <a:srgbClr val="D6DED8"/>
            </a:solidFill>
            <a:prstDash val="solid"/>
          </a:ln>
        </p:spPr>
      </p:sp>
      <p:sp>
        <p:nvSpPr>
          <p:cNvPr id="37" name="Text 35"/>
          <p:cNvSpPr/>
          <p:nvPr/>
        </p:nvSpPr>
        <p:spPr>
          <a:xfrm>
            <a:off x="704088" y="4599432"/>
            <a:ext cx="2011680" cy="658368"/>
          </a:xfrm>
          <a:prstGeom prst="rect">
            <a:avLst/>
          </a:prstGeom>
          <a:noFill/>
          <a:ln/>
        </p:spPr>
        <p:txBody>
          <a:bodyPr wrap="square" rtlCol="0" anchor="ctr"/>
          <a:lstStyle/>
          <a:p>
            <a:pPr marL="0" indent="0" algn="l">
              <a:buNone/>
            </a:pPr>
            <a:r>
              <a:rPr lang="en-US" sz="1250" b="1" dirty="0">
                <a:solidFill>
                  <a:srgbClr val="17251E"/>
                </a:solidFill>
                <a:latin typeface="Calibri" pitchFamily="34" charset="0"/>
                <a:ea typeface="Calibri" pitchFamily="34" charset="-122"/>
                <a:cs typeface="Calibri" pitchFamily="34" charset="-120"/>
              </a:rPr>
              <a:t>Real-time control</a:t>
            </a:r>
            <a:endParaRPr lang="en-US" sz="1250" dirty="0"/>
          </a:p>
        </p:txBody>
      </p:sp>
      <p:sp>
        <p:nvSpPr>
          <p:cNvPr id="38" name="Shape 36"/>
          <p:cNvSpPr/>
          <p:nvPr/>
        </p:nvSpPr>
        <p:spPr>
          <a:xfrm>
            <a:off x="2852928" y="4599432"/>
            <a:ext cx="2923946" cy="658368"/>
          </a:xfrm>
          <a:prstGeom prst="rect">
            <a:avLst/>
          </a:prstGeom>
          <a:solidFill>
            <a:srgbClr val="F0F3F0"/>
          </a:solidFill>
          <a:ln w="12700">
            <a:solidFill>
              <a:srgbClr val="D6DED8"/>
            </a:solidFill>
            <a:prstDash val="solid"/>
          </a:ln>
        </p:spPr>
      </p:sp>
      <p:sp>
        <p:nvSpPr>
          <p:cNvPr id="39" name="Text 37"/>
          <p:cNvSpPr/>
          <p:nvPr/>
        </p:nvSpPr>
        <p:spPr>
          <a:xfrm>
            <a:off x="2990088" y="4599432"/>
            <a:ext cx="2649626" cy="658368"/>
          </a:xfrm>
          <a:prstGeom prst="rect">
            <a:avLst/>
          </a:prstGeom>
          <a:noFill/>
          <a:ln/>
        </p:spPr>
        <p:txBody>
          <a:bodyPr wrap="square" rtlCol="0" anchor="ctr"/>
          <a:lstStyle/>
          <a:p>
            <a:pPr marL="0" indent="0" algn="ctr">
              <a:buNone/>
            </a:pPr>
            <a:r>
              <a:rPr lang="en-US" sz="1250" dirty="0">
                <a:solidFill>
                  <a:srgbClr val="17251E"/>
                </a:solidFill>
                <a:latin typeface="Calibri" pitchFamily="34" charset="0"/>
                <a:ea typeface="Calibri" pitchFamily="34" charset="-122"/>
                <a:cs typeface="Calibri" pitchFamily="34" charset="-120"/>
              </a:rPr>
              <a:t>weak</a:t>
            </a:r>
            <a:endParaRPr lang="en-US" sz="1250" dirty="0"/>
          </a:p>
        </p:txBody>
      </p:sp>
      <p:sp>
        <p:nvSpPr>
          <p:cNvPr id="40" name="Shape 38"/>
          <p:cNvSpPr/>
          <p:nvPr/>
        </p:nvSpPr>
        <p:spPr>
          <a:xfrm>
            <a:off x="5776874" y="4599432"/>
            <a:ext cx="2923946" cy="658368"/>
          </a:xfrm>
          <a:prstGeom prst="rect">
            <a:avLst/>
          </a:prstGeom>
          <a:solidFill>
            <a:srgbClr val="F0F3F0"/>
          </a:solidFill>
          <a:ln w="12700">
            <a:solidFill>
              <a:srgbClr val="D6DED8"/>
            </a:solidFill>
            <a:prstDash val="solid"/>
          </a:ln>
        </p:spPr>
      </p:sp>
      <p:sp>
        <p:nvSpPr>
          <p:cNvPr id="41" name="Text 39"/>
          <p:cNvSpPr/>
          <p:nvPr/>
        </p:nvSpPr>
        <p:spPr>
          <a:xfrm>
            <a:off x="5914034" y="4599432"/>
            <a:ext cx="2649626" cy="658368"/>
          </a:xfrm>
          <a:prstGeom prst="rect">
            <a:avLst/>
          </a:prstGeom>
          <a:noFill/>
          <a:ln/>
        </p:spPr>
        <p:txBody>
          <a:bodyPr wrap="square" rtlCol="0" anchor="ctr"/>
          <a:lstStyle/>
          <a:p>
            <a:pPr marL="0" indent="0" algn="ctr">
              <a:buNone/>
            </a:pPr>
            <a:r>
              <a:rPr lang="en-US" sz="1250" dirty="0">
                <a:solidFill>
                  <a:srgbClr val="17251E"/>
                </a:solidFill>
                <a:latin typeface="Calibri" pitchFamily="34" charset="0"/>
                <a:ea typeface="Calibri" pitchFamily="34" charset="-122"/>
                <a:cs typeface="Calibri" pitchFamily="34" charset="-120"/>
              </a:rPr>
              <a:t>adequate</a:t>
            </a:r>
            <a:endParaRPr lang="en-US" sz="1250" dirty="0"/>
          </a:p>
        </p:txBody>
      </p:sp>
      <p:sp>
        <p:nvSpPr>
          <p:cNvPr id="42" name="Shape 40"/>
          <p:cNvSpPr/>
          <p:nvPr/>
        </p:nvSpPr>
        <p:spPr>
          <a:xfrm>
            <a:off x="8700821" y="4599432"/>
            <a:ext cx="2923946" cy="658368"/>
          </a:xfrm>
          <a:prstGeom prst="rect">
            <a:avLst/>
          </a:prstGeom>
          <a:solidFill>
            <a:srgbClr val="EFF6E9"/>
          </a:solidFill>
          <a:ln w="12700">
            <a:solidFill>
              <a:srgbClr val="D6DED8"/>
            </a:solidFill>
            <a:prstDash val="solid"/>
          </a:ln>
        </p:spPr>
      </p:sp>
      <p:sp>
        <p:nvSpPr>
          <p:cNvPr id="43" name="Text 41"/>
          <p:cNvSpPr/>
          <p:nvPr/>
        </p:nvSpPr>
        <p:spPr>
          <a:xfrm>
            <a:off x="8837981" y="4599432"/>
            <a:ext cx="2649626" cy="658368"/>
          </a:xfrm>
          <a:prstGeom prst="rect">
            <a:avLst/>
          </a:prstGeom>
          <a:noFill/>
          <a:ln/>
        </p:spPr>
        <p:txBody>
          <a:bodyPr wrap="square" rtlCol="0" anchor="ctr"/>
          <a:lstStyle/>
          <a:p>
            <a:pPr marL="0" indent="0" algn="ctr">
              <a:buNone/>
            </a:pPr>
            <a:r>
              <a:rPr lang="en-US" sz="1250" b="1" dirty="0">
                <a:solidFill>
                  <a:srgbClr val="2E6B4F"/>
                </a:solidFill>
                <a:latin typeface="Calibri" pitchFamily="34" charset="0"/>
                <a:ea typeface="Calibri" pitchFamily="34" charset="-122"/>
                <a:cs typeface="Calibri" pitchFamily="34" charset="-120"/>
              </a:rPr>
              <a:t>strong</a:t>
            </a:r>
            <a:endParaRPr lang="en-US" sz="1250" dirty="0"/>
          </a:p>
        </p:txBody>
      </p:sp>
      <p:sp>
        <p:nvSpPr>
          <p:cNvPr id="44" name="Text 42"/>
          <p:cNvSpPr/>
          <p:nvPr/>
        </p:nvSpPr>
        <p:spPr>
          <a:xfrm>
            <a:off x="566928" y="5440680"/>
            <a:ext cx="11057839" cy="457200"/>
          </a:xfrm>
          <a:prstGeom prst="rect">
            <a:avLst/>
          </a:prstGeom>
          <a:noFill/>
          <a:ln/>
        </p:spPr>
        <p:txBody>
          <a:bodyPr wrap="square" rtlCol="0" anchor="ctr"/>
          <a:lstStyle/>
          <a:p>
            <a:pPr marL="0" indent="0">
              <a:buNone/>
            </a:pPr>
            <a:r>
              <a:rPr lang="en-US" sz="1300" i="1" dirty="0">
                <a:solidFill>
                  <a:srgbClr val="2E6B4F"/>
                </a:solidFill>
                <a:latin typeface="Calibri" pitchFamily="34" charset="0"/>
                <a:ea typeface="Calibri" pitchFamily="34" charset="-122"/>
                <a:cs typeface="Calibri" pitchFamily="34" charset="-120"/>
              </a:rPr>
              <a:t>Selected — the hardware FPU and timer peripherals make the control and sensor-fusion loops run comfortably in real time.</a:t>
            </a:r>
            <a:endParaRPr lang="en-US" sz="1300" dirty="0"/>
          </a:p>
        </p:txBody>
      </p:sp>
      <p:sp>
        <p:nvSpPr>
          <p:cNvPr id="45" name="Text 43"/>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libri" pitchFamily="34" charset="0"/>
                <a:ea typeface="Calibri" pitchFamily="34" charset="-122"/>
                <a:cs typeface="Calibri" pitchFamily="34" charset="-120"/>
              </a:rPr>
              <a:t>Sántha Zsolt  ·  Quadcopter flight-control system</a:t>
            </a:r>
            <a:endParaRPr lang="en-US" sz="900" dirty="0"/>
          </a:p>
        </p:txBody>
      </p:sp>
      <p:sp>
        <p:nvSpPr>
          <p:cNvPr id="46" name="Text 44"/>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Kép 1"/>
          <p:cNvPicPr>
            <a:picLocks noChangeAspect="1"/>
          </p:cNvPicPr>
          <p:nvPr/>
        </p:nvPicPr>
        <p:blipFill>
          <a:blip r:embed="rId2"/>
          <a:stretch>
            <a:fillRect/>
          </a:stretch>
        </p:blipFill>
        <p:spPr>
          <a:xfrm>
            <a:off x="3706733" y="1267701"/>
            <a:ext cx="6113128" cy="5461822"/>
          </a:xfrm>
          <a:prstGeom prst="rect">
            <a:avLst/>
          </a:prstGeom>
        </p:spPr>
      </p:pic>
      <p:sp>
        <p:nvSpPr>
          <p:cNvPr id="3" name="Text 1"/>
          <p:cNvSpPr/>
          <p:nvPr/>
        </p:nvSpPr>
        <p:spPr>
          <a:xfrm>
            <a:off x="248876" y="209119"/>
            <a:ext cx="11057839" cy="822960"/>
          </a:xfrm>
          <a:prstGeom prst="rect">
            <a:avLst/>
          </a:prstGeom>
          <a:noFill/>
          <a:ln/>
        </p:spPr>
        <p:txBody>
          <a:bodyPr wrap="square" rtlCol="0" anchor="ctr"/>
          <a:lstStyle/>
          <a:p>
            <a:pPr marL="0" indent="0">
              <a:lnSpc>
                <a:spcPts val="3600"/>
              </a:lnSpc>
              <a:buNone/>
            </a:pPr>
            <a:r>
              <a:rPr lang="en-US" sz="3400" b="1" dirty="0" smtClean="0">
                <a:solidFill>
                  <a:srgbClr val="17251E"/>
                </a:solidFill>
                <a:latin typeface="Cambria" pitchFamily="34" charset="0"/>
                <a:ea typeface="Cambria" pitchFamily="34" charset="-122"/>
              </a:rPr>
              <a:t>Block Diagram</a:t>
            </a:r>
            <a:endParaRPr lang="en-US" sz="3400" dirty="0"/>
          </a:p>
        </p:txBody>
      </p:sp>
    </p:spTree>
    <p:extLst>
      <p:ext uri="{BB962C8B-B14F-4D97-AF65-F5344CB8AC3E}">
        <p14:creationId xmlns:p14="http://schemas.microsoft.com/office/powerpoint/2010/main" val="1071726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BACKUP</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itchFamily="34" charset="0"/>
                <a:ea typeface="Cambria" pitchFamily="34" charset="-122"/>
                <a:cs typeface="Cambria" pitchFamily="34" charset="-120"/>
              </a:rPr>
              <a:t>Euler angles vs. quaternions</a:t>
            </a:r>
            <a:endParaRPr lang="en-US" sz="3400" dirty="0"/>
          </a:p>
        </p:txBody>
      </p:sp>
      <p:sp>
        <p:nvSpPr>
          <p:cNvPr id="4" name="Shape 2"/>
          <p:cNvSpPr/>
          <p:nvPr/>
        </p:nvSpPr>
        <p:spPr>
          <a:xfrm>
            <a:off x="566928" y="1920240"/>
            <a:ext cx="5346040" cy="3200400"/>
          </a:xfrm>
          <a:prstGeom prst="roundRect">
            <a:avLst>
              <a:gd name="adj" fmla="val 2286"/>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5" name="Text 3"/>
          <p:cNvSpPr/>
          <p:nvPr/>
        </p:nvSpPr>
        <p:spPr>
          <a:xfrm>
            <a:off x="886968" y="2084832"/>
            <a:ext cx="4572000" cy="365760"/>
          </a:xfrm>
          <a:prstGeom prst="rect">
            <a:avLst/>
          </a:prstGeom>
          <a:noFill/>
          <a:ln/>
        </p:spPr>
        <p:txBody>
          <a:bodyPr wrap="square" rtlCol="0" anchor="ctr"/>
          <a:lstStyle/>
          <a:p>
            <a:pPr marL="0" indent="0">
              <a:buNone/>
            </a:pPr>
            <a:r>
              <a:rPr lang="en-US" sz="1800" b="1" dirty="0">
                <a:solidFill>
                  <a:srgbClr val="2E6B4F"/>
                </a:solidFill>
                <a:latin typeface="Cambria" pitchFamily="34" charset="0"/>
                <a:ea typeface="Cambria" pitchFamily="34" charset="-122"/>
                <a:cs typeface="Cambria" pitchFamily="34" charset="-120"/>
              </a:rPr>
              <a:t>Gimbal lock</a:t>
            </a:r>
            <a:endParaRPr lang="en-US" sz="1800" dirty="0"/>
          </a:p>
        </p:txBody>
      </p:sp>
      <p:sp>
        <p:nvSpPr>
          <p:cNvPr id="6" name="Text 4"/>
          <p:cNvSpPr/>
          <p:nvPr/>
        </p:nvSpPr>
        <p:spPr>
          <a:xfrm>
            <a:off x="886968" y="2514600"/>
            <a:ext cx="4705960" cy="2011680"/>
          </a:xfrm>
          <a:prstGeom prst="rect">
            <a:avLst/>
          </a:prstGeom>
          <a:noFill/>
          <a:ln/>
        </p:spPr>
        <p:txBody>
          <a:bodyPr wrap="square" rtlCol="0" anchor="ctr"/>
          <a:lstStyle/>
          <a:p>
            <a:pPr marL="0" indent="0">
              <a:lnSpc>
                <a:spcPts val="2100"/>
              </a:lnSpc>
              <a:buNone/>
            </a:pPr>
            <a:r>
              <a:rPr lang="en-US" sz="1400" dirty="0">
                <a:solidFill>
                  <a:srgbClr val="17251E"/>
                </a:solidFill>
                <a:latin typeface="Calibri" pitchFamily="34" charset="0"/>
                <a:ea typeface="Calibri" pitchFamily="34" charset="-122"/>
                <a:cs typeface="Calibri" pitchFamily="34" charset="-120"/>
              </a:rPr>
              <a:t>At ±90° pitch two rotation axes align and a degree of freedom is lost. Near this point Euler-angle rates blow up, making the estimate unstable exactly where a drone may operate.</a:t>
            </a:r>
            <a:endParaRPr lang="en-US" sz="1400" dirty="0"/>
          </a:p>
        </p:txBody>
      </p:sp>
      <p:sp>
        <p:nvSpPr>
          <p:cNvPr id="7" name="Shape 5"/>
          <p:cNvSpPr/>
          <p:nvPr/>
        </p:nvSpPr>
        <p:spPr>
          <a:xfrm>
            <a:off x="6278728" y="1920240"/>
            <a:ext cx="5346040" cy="3200400"/>
          </a:xfrm>
          <a:prstGeom prst="roundRect">
            <a:avLst>
              <a:gd name="adj" fmla="val 2286"/>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8" name="Text 6"/>
          <p:cNvSpPr/>
          <p:nvPr/>
        </p:nvSpPr>
        <p:spPr>
          <a:xfrm>
            <a:off x="6598768" y="2084832"/>
            <a:ext cx="4572000" cy="365760"/>
          </a:xfrm>
          <a:prstGeom prst="rect">
            <a:avLst/>
          </a:prstGeom>
          <a:noFill/>
          <a:ln/>
        </p:spPr>
        <p:txBody>
          <a:bodyPr wrap="square" rtlCol="0" anchor="ctr"/>
          <a:lstStyle/>
          <a:p>
            <a:pPr marL="0" indent="0">
              <a:buNone/>
            </a:pPr>
            <a:r>
              <a:rPr lang="en-US" sz="1800" b="1" dirty="0">
                <a:solidFill>
                  <a:srgbClr val="E8B23A"/>
                </a:solidFill>
                <a:latin typeface="Cambria" pitchFamily="34" charset="0"/>
                <a:ea typeface="Cambria" pitchFamily="34" charset="-122"/>
                <a:cs typeface="Cambria" pitchFamily="34" charset="-120"/>
              </a:rPr>
              <a:t>Quaternion form</a:t>
            </a:r>
            <a:endParaRPr lang="en-US" sz="1800" dirty="0"/>
          </a:p>
        </p:txBody>
      </p:sp>
      <p:sp>
        <p:nvSpPr>
          <p:cNvPr id="9" name="Text 7"/>
          <p:cNvSpPr/>
          <p:nvPr/>
        </p:nvSpPr>
        <p:spPr>
          <a:xfrm>
            <a:off x="6598768" y="2560320"/>
            <a:ext cx="4572000" cy="457200"/>
          </a:xfrm>
          <a:prstGeom prst="rect">
            <a:avLst/>
          </a:prstGeom>
          <a:noFill/>
          <a:ln/>
        </p:spPr>
        <p:txBody>
          <a:bodyPr wrap="square" rtlCol="0" anchor="ctr"/>
          <a:lstStyle/>
          <a:p>
            <a:pPr marL="0" indent="0">
              <a:buNone/>
            </a:pPr>
            <a:r>
              <a:rPr lang="en-US" sz="1500" dirty="0">
                <a:solidFill>
                  <a:srgbClr val="FFFFFF"/>
                </a:solidFill>
                <a:latin typeface="Consolas" pitchFamily="34" charset="0"/>
                <a:ea typeface="Consolas" pitchFamily="34" charset="-122"/>
                <a:cs typeface="Consolas" pitchFamily="34" charset="-120"/>
              </a:rPr>
              <a:t>q = w + xi + yj + zk ,   |q| = 1</a:t>
            </a:r>
            <a:endParaRPr lang="en-US" sz="1500" dirty="0"/>
          </a:p>
        </p:txBody>
      </p:sp>
      <p:sp>
        <p:nvSpPr>
          <p:cNvPr id="10" name="Text 8"/>
          <p:cNvSpPr/>
          <p:nvPr/>
        </p:nvSpPr>
        <p:spPr>
          <a:xfrm>
            <a:off x="6598768" y="3108960"/>
            <a:ext cx="4705960" cy="1828800"/>
          </a:xfrm>
          <a:prstGeom prst="rect">
            <a:avLst/>
          </a:prstGeom>
          <a:noFill/>
          <a:ln/>
        </p:spPr>
        <p:txBody>
          <a:bodyPr wrap="square" rtlCol="0" anchor="ctr"/>
          <a:lstStyle/>
          <a:p>
            <a:pPr marL="0" indent="0">
              <a:lnSpc>
                <a:spcPts val="2000"/>
              </a:lnSpc>
              <a:buNone/>
            </a:pPr>
            <a:r>
              <a:rPr lang="en-US" sz="1350" dirty="0">
                <a:solidFill>
                  <a:srgbClr val="FFFFFF"/>
                </a:solidFill>
                <a:latin typeface="Calibri" pitchFamily="34" charset="0"/>
                <a:ea typeface="Calibri" pitchFamily="34" charset="-122"/>
                <a:cs typeface="Calibri" pitchFamily="34" charset="-120"/>
              </a:rPr>
              <a:t>A unit quaternion encodes any 3-D rotation with four numbers — no singularities, smooth interpolation, and cheap normalisation each step to stay valid.</a:t>
            </a:r>
            <a:endParaRPr lang="en-US" sz="1350" dirty="0"/>
          </a:p>
        </p:txBody>
      </p:sp>
      <p:sp>
        <p:nvSpPr>
          <p:cNvPr id="11" name="Text 9"/>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libri" pitchFamily="34" charset="0"/>
                <a:ea typeface="Calibri" pitchFamily="34" charset="-122"/>
                <a:cs typeface="Calibri" pitchFamily="34" charset="-120"/>
              </a:rPr>
              <a:t>Sántha Zsolt  ·  Quadcopter flight-control system</a:t>
            </a:r>
            <a:endParaRPr lang="en-US" sz="900" dirty="0"/>
          </a:p>
        </p:txBody>
      </p:sp>
      <p:sp>
        <p:nvSpPr>
          <p:cNvPr id="12" name="Text 10"/>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libri" pitchFamily="34" charset="0"/>
                <a:ea typeface="Calibri" pitchFamily="34" charset="-122"/>
                <a:cs typeface="Calibri" pitchFamily="34" charset="-120"/>
              </a:rPr>
              <a:t>B1</a:t>
            </a:r>
            <a:endParaRPr lang="en-US" sz="9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BACKUP</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itchFamily="34" charset="0"/>
                <a:ea typeface="Cambria" pitchFamily="34" charset="-122"/>
                <a:cs typeface="Cambria" pitchFamily="34" charset="-120"/>
              </a:rPr>
              <a:t>Magnetometer: hard-iron calibration</a:t>
            </a:r>
            <a:endParaRPr lang="en-US" sz="3400" dirty="0"/>
          </a:p>
        </p:txBody>
      </p:sp>
      <p:sp>
        <p:nvSpPr>
          <p:cNvPr id="4" name="Shape 2"/>
          <p:cNvSpPr/>
          <p:nvPr/>
        </p:nvSpPr>
        <p:spPr>
          <a:xfrm>
            <a:off x="822960" y="2468880"/>
            <a:ext cx="2651760" cy="914400"/>
          </a:xfrm>
          <a:prstGeom prst="roundRect">
            <a:avLst>
              <a:gd name="adj" fmla="val 6000"/>
            </a:avLst>
          </a:prstGeom>
          <a:solidFill>
            <a:srgbClr val="FFFFFF"/>
          </a:solidFill>
          <a:ln w="12700">
            <a:solidFill>
              <a:srgbClr val="D6DED8"/>
            </a:solidFill>
            <a:prstDash val="solid"/>
          </a:ln>
        </p:spPr>
      </p:sp>
      <p:sp>
        <p:nvSpPr>
          <p:cNvPr id="5" name="Text 3"/>
          <p:cNvSpPr/>
          <p:nvPr/>
        </p:nvSpPr>
        <p:spPr>
          <a:xfrm>
            <a:off x="822960" y="2523744"/>
            <a:ext cx="2651760" cy="548640"/>
          </a:xfrm>
          <a:prstGeom prst="rect">
            <a:avLst/>
          </a:prstGeom>
          <a:noFill/>
          <a:ln/>
        </p:spPr>
        <p:txBody>
          <a:bodyPr wrap="square" rtlCol="0" anchor="ctr"/>
          <a:lstStyle/>
          <a:p>
            <a:pPr marL="0" indent="0" algn="ctr">
              <a:buNone/>
            </a:pPr>
            <a:r>
              <a:rPr lang="en-US" sz="1350" b="1" dirty="0">
                <a:solidFill>
                  <a:srgbClr val="17251E"/>
                </a:solidFill>
                <a:latin typeface="Calibri" pitchFamily="34" charset="0"/>
                <a:ea typeface="Calibri" pitchFamily="34" charset="-122"/>
                <a:cs typeface="Calibri" pitchFamily="34" charset="-120"/>
              </a:rPr>
              <a:t>Raw readings</a:t>
            </a:r>
            <a:endParaRPr lang="en-US" sz="1350" dirty="0"/>
          </a:p>
        </p:txBody>
      </p:sp>
      <p:sp>
        <p:nvSpPr>
          <p:cNvPr id="6" name="Text 4"/>
          <p:cNvSpPr/>
          <p:nvPr/>
        </p:nvSpPr>
        <p:spPr>
          <a:xfrm>
            <a:off x="822960" y="2944368"/>
            <a:ext cx="2651760" cy="384048"/>
          </a:xfrm>
          <a:prstGeom prst="rect">
            <a:avLst/>
          </a:prstGeom>
          <a:noFill/>
          <a:ln/>
        </p:spPr>
        <p:txBody>
          <a:bodyPr wrap="square" rtlCol="0" anchor="ctr"/>
          <a:lstStyle/>
          <a:p>
            <a:pPr marL="0" indent="0" algn="ctr">
              <a:buNone/>
            </a:pPr>
            <a:r>
              <a:rPr lang="en-US" sz="1050" dirty="0">
                <a:solidFill>
                  <a:srgbClr val="17251E"/>
                </a:solidFill>
                <a:latin typeface="Calibri" pitchFamily="34" charset="0"/>
                <a:ea typeface="Calibri" pitchFamily="34" charset="-122"/>
                <a:cs typeface="Calibri" pitchFamily="34" charset="-120"/>
              </a:rPr>
              <a:t>offset sphere</a:t>
            </a:r>
            <a:endParaRPr lang="en-US" sz="1050" dirty="0"/>
          </a:p>
        </p:txBody>
      </p:sp>
      <p:sp>
        <p:nvSpPr>
          <p:cNvPr id="7" name="Shape 5"/>
          <p:cNvSpPr/>
          <p:nvPr/>
        </p:nvSpPr>
        <p:spPr>
          <a:xfrm>
            <a:off x="4114800" y="2468880"/>
            <a:ext cx="2651760" cy="914400"/>
          </a:xfrm>
          <a:prstGeom prst="roundRect">
            <a:avLst>
              <a:gd name="adj" fmla="val 6000"/>
            </a:avLst>
          </a:prstGeom>
          <a:solidFill>
            <a:srgbClr val="E8B23A"/>
          </a:solidFill>
          <a:ln w="12700">
            <a:solidFill>
              <a:srgbClr val="D6DED8"/>
            </a:solidFill>
            <a:prstDash val="solid"/>
          </a:ln>
        </p:spPr>
      </p:sp>
      <p:sp>
        <p:nvSpPr>
          <p:cNvPr id="8" name="Text 6"/>
          <p:cNvSpPr/>
          <p:nvPr/>
        </p:nvSpPr>
        <p:spPr>
          <a:xfrm>
            <a:off x="4114800" y="2523744"/>
            <a:ext cx="2651760" cy="548640"/>
          </a:xfrm>
          <a:prstGeom prst="rect">
            <a:avLst/>
          </a:prstGeom>
          <a:noFill/>
          <a:ln/>
        </p:spPr>
        <p:txBody>
          <a:bodyPr wrap="square" rtlCol="0" anchor="ctr"/>
          <a:lstStyle/>
          <a:p>
            <a:pPr marL="0" indent="0" algn="ctr">
              <a:buNone/>
            </a:pPr>
            <a:r>
              <a:rPr lang="en-US" sz="1350" b="1" dirty="0">
                <a:solidFill>
                  <a:srgbClr val="1B2B24"/>
                </a:solidFill>
                <a:latin typeface="Calibri" pitchFamily="34" charset="0"/>
                <a:ea typeface="Calibri" pitchFamily="34" charset="-122"/>
                <a:cs typeface="Calibri" pitchFamily="34" charset="-120"/>
              </a:rPr>
              <a:t>Estimate bias</a:t>
            </a:r>
            <a:endParaRPr lang="en-US" sz="1350" dirty="0"/>
          </a:p>
        </p:txBody>
      </p:sp>
      <p:sp>
        <p:nvSpPr>
          <p:cNvPr id="9" name="Text 7"/>
          <p:cNvSpPr/>
          <p:nvPr/>
        </p:nvSpPr>
        <p:spPr>
          <a:xfrm>
            <a:off x="4114800" y="2944368"/>
            <a:ext cx="2651760" cy="384048"/>
          </a:xfrm>
          <a:prstGeom prst="rect">
            <a:avLst/>
          </a:prstGeom>
          <a:noFill/>
          <a:ln/>
        </p:spPr>
        <p:txBody>
          <a:bodyPr wrap="square" rtlCol="0" anchor="ctr"/>
          <a:lstStyle/>
          <a:p>
            <a:pPr marL="0" indent="0" algn="ctr">
              <a:buNone/>
            </a:pPr>
            <a:r>
              <a:rPr lang="en-US" sz="1050" dirty="0">
                <a:solidFill>
                  <a:srgbClr val="1B2B24"/>
                </a:solidFill>
                <a:latin typeface="Calibri" pitchFamily="34" charset="0"/>
                <a:ea typeface="Calibri" pitchFamily="34" charset="-122"/>
                <a:cs typeface="Calibri" pitchFamily="34" charset="-120"/>
              </a:rPr>
              <a:t>centre offset</a:t>
            </a:r>
            <a:endParaRPr lang="en-US" sz="1050" dirty="0"/>
          </a:p>
        </p:txBody>
      </p:sp>
      <p:sp>
        <p:nvSpPr>
          <p:cNvPr id="10" name="Shape 8"/>
          <p:cNvSpPr/>
          <p:nvPr/>
        </p:nvSpPr>
        <p:spPr>
          <a:xfrm>
            <a:off x="7406640" y="2468880"/>
            <a:ext cx="2651760" cy="914400"/>
          </a:xfrm>
          <a:prstGeom prst="roundRect">
            <a:avLst>
              <a:gd name="adj" fmla="val 6000"/>
            </a:avLst>
          </a:prstGeom>
          <a:solidFill>
            <a:srgbClr val="2E6B4F"/>
          </a:solidFill>
          <a:ln w="12700">
            <a:solidFill>
              <a:srgbClr val="D6DED8"/>
            </a:solidFill>
            <a:prstDash val="solid"/>
          </a:ln>
        </p:spPr>
      </p:sp>
      <p:sp>
        <p:nvSpPr>
          <p:cNvPr id="11" name="Text 9"/>
          <p:cNvSpPr/>
          <p:nvPr/>
        </p:nvSpPr>
        <p:spPr>
          <a:xfrm>
            <a:off x="7406640" y="2523744"/>
            <a:ext cx="2651760" cy="5486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Subtract &amp; scale</a:t>
            </a:r>
            <a:endParaRPr lang="en-US" sz="1350" dirty="0"/>
          </a:p>
        </p:txBody>
      </p:sp>
      <p:sp>
        <p:nvSpPr>
          <p:cNvPr id="12" name="Text 10"/>
          <p:cNvSpPr/>
          <p:nvPr/>
        </p:nvSpPr>
        <p:spPr>
          <a:xfrm>
            <a:off x="7406640" y="2944368"/>
            <a:ext cx="2651760" cy="384048"/>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centred data</a:t>
            </a:r>
            <a:endParaRPr lang="en-US" sz="1050" dirty="0"/>
          </a:p>
        </p:txBody>
      </p:sp>
      <p:sp>
        <p:nvSpPr>
          <p:cNvPr id="13" name="Shape 11"/>
          <p:cNvSpPr/>
          <p:nvPr/>
        </p:nvSpPr>
        <p:spPr>
          <a:xfrm>
            <a:off x="3474720" y="2926080"/>
            <a:ext cx="640080" cy="0"/>
          </a:xfrm>
          <a:prstGeom prst="line">
            <a:avLst/>
          </a:prstGeom>
          <a:noFill/>
          <a:ln w="28575">
            <a:solidFill>
              <a:srgbClr val="2E6B4F"/>
            </a:solidFill>
            <a:prstDash val="solid"/>
            <a:tailEnd type="triangle"/>
          </a:ln>
        </p:spPr>
      </p:sp>
      <p:sp>
        <p:nvSpPr>
          <p:cNvPr id="14" name="Shape 12"/>
          <p:cNvSpPr/>
          <p:nvPr/>
        </p:nvSpPr>
        <p:spPr>
          <a:xfrm>
            <a:off x="6766560" y="2926080"/>
            <a:ext cx="640080" cy="0"/>
          </a:xfrm>
          <a:prstGeom prst="line">
            <a:avLst/>
          </a:prstGeom>
          <a:noFill/>
          <a:ln w="28575">
            <a:solidFill>
              <a:srgbClr val="2E6B4F"/>
            </a:solidFill>
            <a:prstDash val="solid"/>
            <a:tailEnd type="triangle"/>
          </a:ln>
        </p:spPr>
      </p:sp>
      <p:sp>
        <p:nvSpPr>
          <p:cNvPr id="15" name="Shape 13"/>
          <p:cNvSpPr/>
          <p:nvPr/>
        </p:nvSpPr>
        <p:spPr>
          <a:xfrm>
            <a:off x="566928" y="3840480"/>
            <a:ext cx="11057839" cy="1737360"/>
          </a:xfrm>
          <a:prstGeom prst="roundRect">
            <a:avLst>
              <a:gd name="adj" fmla="val 4211"/>
            </a:avLst>
          </a:prstGeom>
          <a:solidFill>
            <a:srgbClr val="0E3128"/>
          </a:solidFill>
          <a:ln w="12700">
            <a:solidFill>
              <a:srgbClr val="D6DED8"/>
            </a:solidFill>
            <a:prstDash val="solid"/>
          </a:ln>
          <a:effectLst>
            <a:outerShdw blurRad="76200" dist="25400" dir="5400000" algn="bl" rotWithShape="0">
              <a:srgbClr val="9AA79E">
                <a:alpha val="28000"/>
              </a:srgbClr>
            </a:outerShdw>
          </a:effectLst>
        </p:spPr>
      </p:sp>
      <p:sp>
        <p:nvSpPr>
          <p:cNvPr id="16" name="Text 14"/>
          <p:cNvSpPr/>
          <p:nvPr/>
        </p:nvSpPr>
        <p:spPr>
          <a:xfrm>
            <a:off x="932688" y="3977640"/>
            <a:ext cx="3657600" cy="365760"/>
          </a:xfrm>
          <a:prstGeom prst="rect">
            <a:avLst/>
          </a:prstGeom>
          <a:noFill/>
          <a:ln/>
        </p:spPr>
        <p:txBody>
          <a:bodyPr wrap="square" rtlCol="0" anchor="ctr"/>
          <a:lstStyle/>
          <a:p>
            <a:pPr marL="0" indent="0">
              <a:buNone/>
            </a:pPr>
            <a:r>
              <a:rPr lang="en-US" sz="1700" b="1" dirty="0">
                <a:solidFill>
                  <a:srgbClr val="E8B23A"/>
                </a:solidFill>
                <a:latin typeface="Cambria" pitchFamily="34" charset="0"/>
                <a:ea typeface="Cambria" pitchFamily="34" charset="-122"/>
                <a:cs typeface="Cambria" pitchFamily="34" charset="-120"/>
              </a:rPr>
              <a:t>Idea</a:t>
            </a:r>
            <a:endParaRPr lang="en-US" sz="1700" dirty="0"/>
          </a:p>
        </p:txBody>
      </p:sp>
      <p:sp>
        <p:nvSpPr>
          <p:cNvPr id="17" name="Text 15"/>
          <p:cNvSpPr/>
          <p:nvPr/>
        </p:nvSpPr>
        <p:spPr>
          <a:xfrm>
            <a:off x="932688" y="4343400"/>
            <a:ext cx="10326319" cy="1097280"/>
          </a:xfrm>
          <a:prstGeom prst="rect">
            <a:avLst/>
          </a:prstGeom>
          <a:noFill/>
          <a:ln/>
        </p:spPr>
        <p:txBody>
          <a:bodyPr wrap="square" rtlCol="0" anchor="ctr"/>
          <a:lstStyle/>
          <a:p>
            <a:pPr marL="0" indent="0">
              <a:lnSpc>
                <a:spcPts val="2100"/>
              </a:lnSpc>
              <a:buNone/>
            </a:pPr>
            <a:r>
              <a:rPr lang="en-US" sz="1400" dirty="0">
                <a:solidFill>
                  <a:srgbClr val="FFFFFF"/>
                </a:solidFill>
                <a:latin typeface="Calibri" pitchFamily="34" charset="0"/>
                <a:ea typeface="Calibri" pitchFamily="34" charset="-122"/>
                <a:cs typeface="Calibri" pitchFamily="34" charset="-120"/>
              </a:rPr>
              <a:t>Ferromagnetic material near the sensor shifts the field measurements off-centre. Rotating the sensor through all orientations traces a sphere; its displacement from the origin is the hard-iron bias, which is subtracted so heading (yaw) reads true.</a:t>
            </a:r>
            <a:endParaRPr lang="en-US" sz="1400" dirty="0"/>
          </a:p>
        </p:txBody>
      </p:sp>
      <p:sp>
        <p:nvSpPr>
          <p:cNvPr id="18" name="Text 16"/>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libri" pitchFamily="34" charset="0"/>
                <a:ea typeface="Calibri" pitchFamily="34" charset="-122"/>
                <a:cs typeface="Calibri" pitchFamily="34" charset="-120"/>
              </a:rPr>
              <a:t>Sántha Zsolt  ·  Quadcopter flight-control system</a:t>
            </a:r>
            <a:endParaRPr lang="en-US" sz="900" dirty="0"/>
          </a:p>
        </p:txBody>
      </p:sp>
      <p:sp>
        <p:nvSpPr>
          <p:cNvPr id="19" name="Text 17"/>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libri" pitchFamily="34" charset="0"/>
                <a:ea typeface="Calibri" pitchFamily="34" charset="-122"/>
                <a:cs typeface="Calibri" pitchFamily="34" charset="-120"/>
              </a:rPr>
              <a:t>B3</a:t>
            </a:r>
            <a:endParaRPr lang="en-US" sz="9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5F7F3"/>
        </a:solidFill>
        <a:effectLst/>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rtlCol="0" anchor="ctr"/>
          <a:lstStyle/>
          <a:p>
            <a:pPr marL="0" indent="0">
              <a:buNone/>
            </a:pPr>
            <a:r>
              <a:rPr lang="en-US" sz="1300" b="1" kern="0" spc="300" dirty="0">
                <a:solidFill>
                  <a:srgbClr val="E8B23A"/>
                </a:solidFill>
                <a:latin typeface="Calibri" pitchFamily="34" charset="0"/>
                <a:ea typeface="Calibri" pitchFamily="34" charset="-122"/>
                <a:cs typeface="Calibri" pitchFamily="34" charset="-120"/>
              </a:rPr>
              <a:t>BACKUP</a:t>
            </a:r>
            <a:endParaRPr lang="en-US" sz="1300" dirty="0"/>
          </a:p>
        </p:txBody>
      </p:sp>
      <p:sp>
        <p:nvSpPr>
          <p:cNvPr id="3" name="Text 1"/>
          <p:cNvSpPr/>
          <p:nvPr/>
        </p:nvSpPr>
        <p:spPr>
          <a:xfrm>
            <a:off x="566928" y="749808"/>
            <a:ext cx="11057839" cy="822960"/>
          </a:xfrm>
          <a:prstGeom prst="rect">
            <a:avLst/>
          </a:prstGeom>
          <a:noFill/>
          <a:ln/>
        </p:spPr>
        <p:txBody>
          <a:bodyPr wrap="square" rtlCol="0" anchor="ctr"/>
          <a:lstStyle/>
          <a:p>
            <a:pPr marL="0" indent="0">
              <a:lnSpc>
                <a:spcPts val="3600"/>
              </a:lnSpc>
              <a:buNone/>
            </a:pPr>
            <a:r>
              <a:rPr lang="en-US" sz="3400" b="1" dirty="0">
                <a:solidFill>
                  <a:srgbClr val="17251E"/>
                </a:solidFill>
                <a:latin typeface="Cambria" pitchFamily="34" charset="0"/>
                <a:ea typeface="Cambria" pitchFamily="34" charset="-122"/>
                <a:cs typeface="Cambria" pitchFamily="34" charset="-120"/>
              </a:rPr>
              <a:t>Thrust-to-weight budget</a:t>
            </a:r>
            <a:endParaRPr lang="en-US" sz="3400" dirty="0"/>
          </a:p>
        </p:txBody>
      </p:sp>
      <p:sp>
        <p:nvSpPr>
          <p:cNvPr id="4" name="Shape 2"/>
          <p:cNvSpPr/>
          <p:nvPr/>
        </p:nvSpPr>
        <p:spPr>
          <a:xfrm>
            <a:off x="566928" y="2011680"/>
            <a:ext cx="11057839" cy="777240"/>
          </a:xfrm>
          <a:prstGeom prst="roundRect">
            <a:avLst>
              <a:gd name="adj" fmla="val 9412"/>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5" name="Text 3"/>
          <p:cNvSpPr/>
          <p:nvPr/>
        </p:nvSpPr>
        <p:spPr>
          <a:xfrm>
            <a:off x="886968" y="2011680"/>
            <a:ext cx="4114800" cy="777240"/>
          </a:xfrm>
          <a:prstGeom prst="rect">
            <a:avLst/>
          </a:prstGeom>
          <a:noFill/>
          <a:ln/>
        </p:spPr>
        <p:txBody>
          <a:bodyPr wrap="square" rtlCol="0" anchor="ctr"/>
          <a:lstStyle/>
          <a:p>
            <a:pPr marL="0" indent="0">
              <a:buNone/>
            </a:pPr>
            <a:r>
              <a:rPr lang="en-US" sz="1500" b="1" dirty="0">
                <a:solidFill>
                  <a:srgbClr val="17251E"/>
                </a:solidFill>
                <a:latin typeface="Calibri" pitchFamily="34" charset="0"/>
                <a:ea typeface="Calibri" pitchFamily="34" charset="-122"/>
                <a:cs typeface="Calibri" pitchFamily="34" charset="-120"/>
              </a:rPr>
              <a:t>Per-motor thrust</a:t>
            </a:r>
            <a:endParaRPr lang="en-US" sz="1500" dirty="0"/>
          </a:p>
        </p:txBody>
      </p:sp>
      <p:sp>
        <p:nvSpPr>
          <p:cNvPr id="6" name="Text 4"/>
          <p:cNvSpPr/>
          <p:nvPr/>
        </p:nvSpPr>
        <p:spPr>
          <a:xfrm>
            <a:off x="5138928" y="2011680"/>
            <a:ext cx="2743200" cy="777240"/>
          </a:xfrm>
          <a:prstGeom prst="rect">
            <a:avLst/>
          </a:prstGeom>
          <a:noFill/>
          <a:ln/>
        </p:spPr>
        <p:txBody>
          <a:bodyPr wrap="square" rtlCol="0" anchor="ctr"/>
          <a:lstStyle/>
          <a:p>
            <a:pPr marL="0" indent="0" algn="ctr">
              <a:buNone/>
            </a:pPr>
            <a:r>
              <a:rPr lang="en-US" sz="2000" b="1" dirty="0">
                <a:solidFill>
                  <a:srgbClr val="2E6B4F"/>
                </a:solidFill>
                <a:latin typeface="Cambria" pitchFamily="34" charset="0"/>
                <a:ea typeface="Cambria" pitchFamily="34" charset="-122"/>
                <a:cs typeface="Cambria" pitchFamily="34" charset="-120"/>
              </a:rPr>
              <a:t>800–900 g</a:t>
            </a:r>
            <a:endParaRPr lang="en-US" sz="2000" dirty="0"/>
          </a:p>
        </p:txBody>
      </p:sp>
      <p:sp>
        <p:nvSpPr>
          <p:cNvPr id="7" name="Text 5"/>
          <p:cNvSpPr/>
          <p:nvPr/>
        </p:nvSpPr>
        <p:spPr>
          <a:xfrm>
            <a:off x="8065008" y="2011680"/>
            <a:ext cx="3376879" cy="777240"/>
          </a:xfrm>
          <a:prstGeom prst="rect">
            <a:avLst/>
          </a:prstGeom>
          <a:noFill/>
          <a:ln/>
        </p:spPr>
        <p:txBody>
          <a:bodyPr wrap="square" rtlCol="0" anchor="ctr"/>
          <a:lstStyle/>
          <a:p>
            <a:pPr marL="0" indent="0">
              <a:buNone/>
            </a:pPr>
            <a:r>
              <a:rPr lang="en-US" sz="1250" i="1" dirty="0">
                <a:solidFill>
                  <a:srgbClr val="6E8079"/>
                </a:solidFill>
                <a:latin typeface="Calibri" pitchFamily="34" charset="0"/>
                <a:ea typeface="Calibri" pitchFamily="34" charset="-122"/>
                <a:cs typeface="Calibri" pitchFamily="34" charset="-120"/>
              </a:rPr>
              <a:t>10×4.5 prop, 3S</a:t>
            </a:r>
            <a:endParaRPr lang="en-US" sz="1250" dirty="0"/>
          </a:p>
        </p:txBody>
      </p:sp>
      <p:sp>
        <p:nvSpPr>
          <p:cNvPr id="8" name="Shape 6"/>
          <p:cNvSpPr/>
          <p:nvPr/>
        </p:nvSpPr>
        <p:spPr>
          <a:xfrm>
            <a:off x="566928" y="2926080"/>
            <a:ext cx="11057839" cy="777240"/>
          </a:xfrm>
          <a:prstGeom prst="roundRect">
            <a:avLst>
              <a:gd name="adj" fmla="val 9412"/>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9" name="Text 7"/>
          <p:cNvSpPr/>
          <p:nvPr/>
        </p:nvSpPr>
        <p:spPr>
          <a:xfrm>
            <a:off x="886968" y="2926080"/>
            <a:ext cx="4114800" cy="777240"/>
          </a:xfrm>
          <a:prstGeom prst="rect">
            <a:avLst/>
          </a:prstGeom>
          <a:noFill/>
          <a:ln/>
        </p:spPr>
        <p:txBody>
          <a:bodyPr wrap="square" rtlCol="0" anchor="ctr"/>
          <a:lstStyle/>
          <a:p>
            <a:pPr marL="0" indent="0">
              <a:buNone/>
            </a:pPr>
            <a:r>
              <a:rPr lang="en-US" sz="1500" b="1" dirty="0">
                <a:solidFill>
                  <a:srgbClr val="17251E"/>
                </a:solidFill>
                <a:latin typeface="Calibri" pitchFamily="34" charset="0"/>
                <a:ea typeface="Calibri" pitchFamily="34" charset="-122"/>
                <a:cs typeface="Calibri" pitchFamily="34" charset="-120"/>
              </a:rPr>
              <a:t>Total thrust (×4)</a:t>
            </a:r>
            <a:endParaRPr lang="en-US" sz="1500" dirty="0"/>
          </a:p>
        </p:txBody>
      </p:sp>
      <p:sp>
        <p:nvSpPr>
          <p:cNvPr id="10" name="Text 8"/>
          <p:cNvSpPr/>
          <p:nvPr/>
        </p:nvSpPr>
        <p:spPr>
          <a:xfrm>
            <a:off x="5138928" y="2926080"/>
            <a:ext cx="2743200" cy="777240"/>
          </a:xfrm>
          <a:prstGeom prst="rect">
            <a:avLst/>
          </a:prstGeom>
          <a:noFill/>
          <a:ln/>
        </p:spPr>
        <p:txBody>
          <a:bodyPr wrap="square" rtlCol="0" anchor="ctr"/>
          <a:lstStyle/>
          <a:p>
            <a:pPr marL="0" indent="0" algn="ctr">
              <a:buNone/>
            </a:pPr>
            <a:r>
              <a:rPr lang="en-US" sz="2000" b="1" dirty="0">
                <a:solidFill>
                  <a:srgbClr val="2E6B4F"/>
                </a:solidFill>
                <a:latin typeface="Cambria" pitchFamily="34" charset="0"/>
                <a:ea typeface="Cambria" pitchFamily="34" charset="-122"/>
                <a:cs typeface="Cambria" pitchFamily="34" charset="-120"/>
              </a:rPr>
              <a:t>≈ 3.2 kg</a:t>
            </a:r>
            <a:endParaRPr lang="en-US" sz="2000" dirty="0"/>
          </a:p>
        </p:txBody>
      </p:sp>
      <p:sp>
        <p:nvSpPr>
          <p:cNvPr id="11" name="Text 9"/>
          <p:cNvSpPr/>
          <p:nvPr/>
        </p:nvSpPr>
        <p:spPr>
          <a:xfrm>
            <a:off x="8065008" y="2926080"/>
            <a:ext cx="3376879" cy="777240"/>
          </a:xfrm>
          <a:prstGeom prst="rect">
            <a:avLst/>
          </a:prstGeom>
          <a:noFill/>
          <a:ln/>
        </p:spPr>
        <p:txBody>
          <a:bodyPr wrap="square" rtlCol="0" anchor="ctr"/>
          <a:lstStyle/>
          <a:p>
            <a:pPr marL="0" indent="0">
              <a:buNone/>
            </a:pPr>
            <a:endParaRPr lang="en-US" sz="1250" dirty="0"/>
          </a:p>
        </p:txBody>
      </p:sp>
      <p:sp>
        <p:nvSpPr>
          <p:cNvPr id="12" name="Shape 10"/>
          <p:cNvSpPr/>
          <p:nvPr/>
        </p:nvSpPr>
        <p:spPr>
          <a:xfrm>
            <a:off x="566928" y="3840480"/>
            <a:ext cx="11057839" cy="777240"/>
          </a:xfrm>
          <a:prstGeom prst="roundRect">
            <a:avLst>
              <a:gd name="adj" fmla="val 9412"/>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13" name="Text 11"/>
          <p:cNvSpPr/>
          <p:nvPr/>
        </p:nvSpPr>
        <p:spPr>
          <a:xfrm>
            <a:off x="886968" y="3840480"/>
            <a:ext cx="4114800" cy="777240"/>
          </a:xfrm>
          <a:prstGeom prst="rect">
            <a:avLst/>
          </a:prstGeom>
          <a:noFill/>
          <a:ln/>
        </p:spPr>
        <p:txBody>
          <a:bodyPr wrap="square" rtlCol="0" anchor="ctr"/>
          <a:lstStyle/>
          <a:p>
            <a:pPr marL="0" indent="0">
              <a:buNone/>
            </a:pPr>
            <a:r>
              <a:rPr lang="en-US" sz="1500" b="1" dirty="0">
                <a:solidFill>
                  <a:srgbClr val="17251E"/>
                </a:solidFill>
                <a:latin typeface="Calibri" pitchFamily="34" charset="0"/>
                <a:ea typeface="Calibri" pitchFamily="34" charset="-122"/>
                <a:cs typeface="Calibri" pitchFamily="34" charset="-120"/>
              </a:rPr>
              <a:t>Aircraft mass</a:t>
            </a:r>
            <a:endParaRPr lang="en-US" sz="1500" dirty="0"/>
          </a:p>
        </p:txBody>
      </p:sp>
      <p:sp>
        <p:nvSpPr>
          <p:cNvPr id="14" name="Text 12"/>
          <p:cNvSpPr/>
          <p:nvPr/>
        </p:nvSpPr>
        <p:spPr>
          <a:xfrm>
            <a:off x="5138928" y="3840480"/>
            <a:ext cx="2743200" cy="777240"/>
          </a:xfrm>
          <a:prstGeom prst="rect">
            <a:avLst/>
          </a:prstGeom>
          <a:noFill/>
          <a:ln/>
        </p:spPr>
        <p:txBody>
          <a:bodyPr wrap="square" rtlCol="0" anchor="ctr"/>
          <a:lstStyle/>
          <a:p>
            <a:pPr marL="0" indent="0" algn="ctr">
              <a:buNone/>
            </a:pPr>
            <a:r>
              <a:rPr lang="en-US" sz="2000" b="1" dirty="0">
                <a:solidFill>
                  <a:srgbClr val="2E6B4F"/>
                </a:solidFill>
                <a:latin typeface="Cambria" pitchFamily="34" charset="0"/>
                <a:ea typeface="Cambria" pitchFamily="34" charset="-122"/>
                <a:cs typeface="Cambria" pitchFamily="34" charset="-120"/>
              </a:rPr>
              <a:t>1.0–1.3 kg</a:t>
            </a:r>
            <a:endParaRPr lang="en-US" sz="2000" dirty="0"/>
          </a:p>
        </p:txBody>
      </p:sp>
      <p:sp>
        <p:nvSpPr>
          <p:cNvPr id="15" name="Text 13"/>
          <p:cNvSpPr/>
          <p:nvPr/>
        </p:nvSpPr>
        <p:spPr>
          <a:xfrm>
            <a:off x="8065008" y="3840480"/>
            <a:ext cx="3376879" cy="777240"/>
          </a:xfrm>
          <a:prstGeom prst="rect">
            <a:avLst/>
          </a:prstGeom>
          <a:noFill/>
          <a:ln/>
        </p:spPr>
        <p:txBody>
          <a:bodyPr wrap="square" rtlCol="0" anchor="ctr"/>
          <a:lstStyle/>
          <a:p>
            <a:pPr marL="0" indent="0">
              <a:buNone/>
            </a:pPr>
            <a:endParaRPr lang="en-US" sz="1250" dirty="0"/>
          </a:p>
        </p:txBody>
      </p:sp>
      <p:sp>
        <p:nvSpPr>
          <p:cNvPr id="16" name="Shape 14"/>
          <p:cNvSpPr/>
          <p:nvPr/>
        </p:nvSpPr>
        <p:spPr>
          <a:xfrm>
            <a:off x="566928" y="4754880"/>
            <a:ext cx="11057839" cy="777240"/>
          </a:xfrm>
          <a:prstGeom prst="roundRect">
            <a:avLst>
              <a:gd name="adj" fmla="val 9412"/>
            </a:avLst>
          </a:prstGeom>
          <a:solidFill>
            <a:srgbClr val="FFFFFF"/>
          </a:solidFill>
          <a:ln w="12700">
            <a:solidFill>
              <a:srgbClr val="D6DED8"/>
            </a:solidFill>
            <a:prstDash val="solid"/>
          </a:ln>
          <a:effectLst>
            <a:outerShdw blurRad="76200" dist="25400" dir="5400000" algn="bl" rotWithShape="0">
              <a:srgbClr val="9AA79E">
                <a:alpha val="28000"/>
              </a:srgbClr>
            </a:outerShdw>
          </a:effectLst>
        </p:spPr>
      </p:sp>
      <p:sp>
        <p:nvSpPr>
          <p:cNvPr id="17" name="Text 15"/>
          <p:cNvSpPr/>
          <p:nvPr/>
        </p:nvSpPr>
        <p:spPr>
          <a:xfrm>
            <a:off x="886968" y="4754880"/>
            <a:ext cx="4114800" cy="777240"/>
          </a:xfrm>
          <a:prstGeom prst="rect">
            <a:avLst/>
          </a:prstGeom>
          <a:noFill/>
          <a:ln/>
        </p:spPr>
        <p:txBody>
          <a:bodyPr wrap="square" rtlCol="0" anchor="ctr"/>
          <a:lstStyle/>
          <a:p>
            <a:pPr marL="0" indent="0">
              <a:buNone/>
            </a:pPr>
            <a:r>
              <a:rPr lang="en-US" sz="1500" b="1" dirty="0">
                <a:solidFill>
                  <a:srgbClr val="17251E"/>
                </a:solidFill>
                <a:latin typeface="Calibri" pitchFamily="34" charset="0"/>
                <a:ea typeface="Calibri" pitchFamily="34" charset="-122"/>
                <a:cs typeface="Calibri" pitchFamily="34" charset="-120"/>
              </a:rPr>
              <a:t>Thrust-to-weight</a:t>
            </a:r>
            <a:endParaRPr lang="en-US" sz="1500" dirty="0"/>
          </a:p>
        </p:txBody>
      </p:sp>
      <p:sp>
        <p:nvSpPr>
          <p:cNvPr id="18" name="Text 16"/>
          <p:cNvSpPr/>
          <p:nvPr/>
        </p:nvSpPr>
        <p:spPr>
          <a:xfrm>
            <a:off x="5138928" y="4754880"/>
            <a:ext cx="2743200" cy="777240"/>
          </a:xfrm>
          <a:prstGeom prst="rect">
            <a:avLst/>
          </a:prstGeom>
          <a:noFill/>
          <a:ln/>
        </p:spPr>
        <p:txBody>
          <a:bodyPr wrap="square" rtlCol="0" anchor="ctr"/>
          <a:lstStyle/>
          <a:p>
            <a:pPr marL="0" indent="0" algn="ctr">
              <a:buNone/>
            </a:pPr>
            <a:r>
              <a:rPr lang="en-US" sz="2000" b="1" dirty="0">
                <a:solidFill>
                  <a:srgbClr val="2E6B4F"/>
                </a:solidFill>
                <a:latin typeface="Cambria" pitchFamily="34" charset="0"/>
                <a:ea typeface="Cambria" pitchFamily="34" charset="-122"/>
                <a:cs typeface="Cambria" pitchFamily="34" charset="-120"/>
              </a:rPr>
              <a:t>≈ 2.5 : 1</a:t>
            </a:r>
            <a:endParaRPr lang="en-US" sz="2000" dirty="0"/>
          </a:p>
        </p:txBody>
      </p:sp>
      <p:sp>
        <p:nvSpPr>
          <p:cNvPr id="19" name="Text 17"/>
          <p:cNvSpPr/>
          <p:nvPr/>
        </p:nvSpPr>
        <p:spPr>
          <a:xfrm>
            <a:off x="8065008" y="4754880"/>
            <a:ext cx="3376879" cy="777240"/>
          </a:xfrm>
          <a:prstGeom prst="rect">
            <a:avLst/>
          </a:prstGeom>
          <a:noFill/>
          <a:ln/>
        </p:spPr>
        <p:txBody>
          <a:bodyPr wrap="square" rtlCol="0" anchor="ctr"/>
          <a:lstStyle/>
          <a:p>
            <a:pPr marL="0" indent="0">
              <a:buNone/>
            </a:pPr>
            <a:r>
              <a:rPr lang="en-US" sz="1250" i="1" dirty="0">
                <a:solidFill>
                  <a:srgbClr val="6E8079"/>
                </a:solidFill>
                <a:latin typeface="Calibri" pitchFamily="34" charset="0"/>
                <a:ea typeface="Calibri" pitchFamily="34" charset="-122"/>
                <a:cs typeface="Calibri" pitchFamily="34" charset="-120"/>
              </a:rPr>
              <a:t>comfortable for stable flight</a:t>
            </a:r>
            <a:endParaRPr lang="en-US" sz="1250" dirty="0"/>
          </a:p>
        </p:txBody>
      </p:sp>
      <p:sp>
        <p:nvSpPr>
          <p:cNvPr id="20" name="Text 18"/>
          <p:cNvSpPr/>
          <p:nvPr/>
        </p:nvSpPr>
        <p:spPr>
          <a:xfrm>
            <a:off x="566928" y="6473952"/>
            <a:ext cx="7315200" cy="274320"/>
          </a:xfrm>
          <a:prstGeom prst="rect">
            <a:avLst/>
          </a:prstGeom>
          <a:noFill/>
          <a:ln/>
        </p:spPr>
        <p:txBody>
          <a:bodyPr wrap="square" rtlCol="0" anchor="ctr"/>
          <a:lstStyle/>
          <a:p>
            <a:pPr marL="0" indent="0" algn="l">
              <a:buNone/>
            </a:pPr>
            <a:r>
              <a:rPr lang="en-US" sz="900" dirty="0">
                <a:solidFill>
                  <a:srgbClr val="6E8079"/>
                </a:solidFill>
                <a:latin typeface="Calibri" pitchFamily="34" charset="0"/>
                <a:ea typeface="Calibri" pitchFamily="34" charset="-122"/>
                <a:cs typeface="Calibri" pitchFamily="34" charset="-120"/>
              </a:rPr>
              <a:t>Sántha Zsolt  ·  Quadcopter flight-control system</a:t>
            </a:r>
            <a:endParaRPr lang="en-US" sz="900" dirty="0"/>
          </a:p>
        </p:txBody>
      </p:sp>
      <p:sp>
        <p:nvSpPr>
          <p:cNvPr id="21" name="Text 19"/>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8079"/>
                </a:solidFill>
                <a:latin typeface="Calibri" pitchFamily="34" charset="0"/>
                <a:ea typeface="Calibri" pitchFamily="34" charset="-122"/>
                <a:cs typeface="Calibri" pitchFamily="34" charset="-120"/>
              </a:rPr>
              <a:t>B4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1142</TotalTime>
  <Words>2298</Words>
  <Application>Microsoft Office PowerPoint</Application>
  <PresentationFormat>Szélesvásznú</PresentationFormat>
  <Paragraphs>349</Paragraphs>
  <Slides>24</Slides>
  <Notes>21</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24</vt:i4>
      </vt:variant>
    </vt:vector>
  </HeadingPairs>
  <TitlesOfParts>
    <vt:vector size="30" baseType="lpstr">
      <vt:lpstr>Arial</vt:lpstr>
      <vt:lpstr>Calibri</vt:lpstr>
      <vt:lpstr>Cambria</vt:lpstr>
      <vt:lpstr>Consolas</vt:lpstr>
      <vt:lpstr>Times New Roman</vt:lpstr>
      <vt:lpstr>Office Theme</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lpstr>PowerPoint bemutató</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Zsolt</cp:lastModifiedBy>
  <cp:revision>23</cp:revision>
  <dcterms:created xsi:type="dcterms:W3CDTF">2026-07-11T12:07:50Z</dcterms:created>
  <dcterms:modified xsi:type="dcterms:W3CDTF">2026-07-13T18:35:39Z</dcterms:modified>
</cp:coreProperties>
</file>